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2"/>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8288000" cy="10287000"/>
  <p:notesSz cx="6858000" cy="9144000"/>
  <p:embeddedFontLst>
    <p:embeddedFont>
      <p:font typeface="Lato Bold" charset="1" panose="020F0502020204030203"/>
      <p:regular r:id="rId25"/>
    </p:embeddedFont>
    <p:embeddedFont>
      <p:font typeface="Lato" charset="1" panose="020F0502020204030203"/>
      <p:regular r:id="rId26"/>
    </p:embeddedFont>
    <p:embeddedFont>
      <p:font typeface="Roboto Bold" charset="1" panose="02000000000000000000"/>
      <p:regular r:id="rId36"/>
    </p:embeddedFont>
    <p:embeddedFont>
      <p:font typeface="Roboto" charset="1" panose="02000000000000000000"/>
      <p:regular r:id="rId37"/>
    </p:embeddedFont>
    <p:embeddedFont>
      <p:font typeface="Calibri (MS) Bold" charset="1" panose="020F0702030404030204"/>
      <p:regular r:id="rId42"/>
    </p:embeddedFont>
    <p:embeddedFont>
      <p:font typeface="Calibri (MS)" charset="1" panose="020F0502020204030204"/>
      <p:regular r:id="rId4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notesMasters/notesMaster1.xml" Type="http://schemas.openxmlformats.org/officeDocument/2006/relationships/notesMaster"/><Relationship Id="rId23" Target="theme/theme2.xml" Type="http://schemas.openxmlformats.org/officeDocument/2006/relationships/theme"/><Relationship Id="rId24" Target="notesSlides/notesSlide1.xml" Type="http://schemas.openxmlformats.org/officeDocument/2006/relationships/notesSlide"/><Relationship Id="rId25" Target="fonts/font25.fntdata" Type="http://schemas.openxmlformats.org/officeDocument/2006/relationships/font"/><Relationship Id="rId26" Target="fonts/font26.fntdata" Type="http://schemas.openxmlformats.org/officeDocument/2006/relationships/font"/><Relationship Id="rId27" Target="notesSlides/notesSlide2.xml" Type="http://schemas.openxmlformats.org/officeDocument/2006/relationships/notesSlide"/><Relationship Id="rId28" Target="notesSlides/notesSlide3.xml" Type="http://schemas.openxmlformats.org/officeDocument/2006/relationships/notesSlide"/><Relationship Id="rId29" Target="notesSlides/notesSlide4.xml" Type="http://schemas.openxmlformats.org/officeDocument/2006/relationships/notesSlide"/><Relationship Id="rId3" Target="viewProps.xml" Type="http://schemas.openxmlformats.org/officeDocument/2006/relationships/viewProps"/><Relationship Id="rId30" Target="notesSlides/notesSlide5.xml" Type="http://schemas.openxmlformats.org/officeDocument/2006/relationships/notesSlide"/><Relationship Id="rId31" Target="notesSlides/notesSlide6.xml" Type="http://schemas.openxmlformats.org/officeDocument/2006/relationships/notesSlide"/><Relationship Id="rId32" Target="notesSlides/notesSlide7.xml" Type="http://schemas.openxmlformats.org/officeDocument/2006/relationships/notesSlide"/><Relationship Id="rId33" Target="notesSlides/notesSlide8.xml" Type="http://schemas.openxmlformats.org/officeDocument/2006/relationships/notesSlide"/><Relationship Id="rId34" Target="notesSlides/notesSlide9.xml" Type="http://schemas.openxmlformats.org/officeDocument/2006/relationships/notesSlide"/><Relationship Id="rId35" Target="notesSlides/notesSlide10.xml" Type="http://schemas.openxmlformats.org/officeDocument/2006/relationships/notesSlide"/><Relationship Id="rId36" Target="fonts/font36.fntdata" Type="http://schemas.openxmlformats.org/officeDocument/2006/relationships/font"/><Relationship Id="rId37" Target="fonts/font37.fntdata" Type="http://schemas.openxmlformats.org/officeDocument/2006/relationships/font"/><Relationship Id="rId38" Target="notesSlides/notesSlide11.xml" Type="http://schemas.openxmlformats.org/officeDocument/2006/relationships/notesSlide"/><Relationship Id="rId39" Target="notesSlides/notesSlide12.xml" Type="http://schemas.openxmlformats.org/officeDocument/2006/relationships/notesSlide"/><Relationship Id="rId4" Target="theme/theme1.xml" Type="http://schemas.openxmlformats.org/officeDocument/2006/relationships/theme"/><Relationship Id="rId40" Target="notesSlides/notesSlide13.xml" Type="http://schemas.openxmlformats.org/officeDocument/2006/relationships/notesSlide"/><Relationship Id="rId41" Target="notesSlides/notesSlide14.xml" Type="http://schemas.openxmlformats.org/officeDocument/2006/relationships/notesSlide"/><Relationship Id="rId42" Target="fonts/font42.fntdata" Type="http://schemas.openxmlformats.org/officeDocument/2006/relationships/font"/><Relationship Id="rId43" Target="fonts/font43.fntdata" Type="http://schemas.openxmlformats.org/officeDocument/2006/relationships/font"/><Relationship Id="rId44" Target="notesSlides/notesSlide15.xml" Type="http://schemas.openxmlformats.org/officeDocument/2006/relationships/notesSlid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Opening: People do not fail because content is unavailable. They stall at the moment they need to act. Bataa keeps the next action close. Visual source: public/hero.webp from the Bataa project.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Framing based on the user-provided problem statement. The quoted sentence is a synthesized articulation, not a verbatim interview quote.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Evidence label: OBSERVED. Source: user-provided description of early qualitative conversations at Horus University. The large sentence is a paraphrased student signal, not a verbatim quote. Do not add a participant count until the team verifies it. The three moments are synthesized themes: instructor availability, anxiety about asking basic questions, and price or crowding in existing course options.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Narrative bridge: Bataa is not another content library. It is the guidance layer between intention and action.</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Visual sources: Bataa mobile capture from the running app (lesson-1.png) and public/guided-project-ai.webp. The desktop agent interaction should be demonstrated live or with a short clip when available.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Visual sources: public/ai-assisted-coding.webp and public/guided-project-ai.webp. Evidence status: DEMONSTRATED for the guidance concept. State clearly that autonomous cursor control and broad software coverage remain pilot scope unless already shipped.</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Visual sources: running Bataa app captures from the project. The “no typing needed” design is demonstrated in the first lesson step, which offers three choices.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is an illustrative journey for explaining the product loop. Do not present the day-30 outcome as a measured result until a real course and pilot validate it.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editable diagram expresses the intended learning loop. Validate it with pilot metrics such as task completion, time-to-first-success, hint usage, and return rate.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is a qualitative positioning hypothesis based on the user-provided competitor list. Verify the exact local platform names and current features before presenting. Do not claim that competitors do not use AI without research.</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Business model is based on the user-provided brief. Course purchases are the launch priority; token packs and platform fees are expansion paths unless already implemented and tested commercially.</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diagram reflects planned expansion from the user-provided business model: institution and creator courses with commission, plus an API/base URL offering. Label as planned until commercially validated.</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Team names and roles are taken from the user-provided brief. Add concrete proof points, links, or advisor details if available before presenting.</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Close: ask for pilot partners, not a generic “thank you.” Replace the ask and roadmap with dates, owners, and contact details when confirmed.</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Website: bataa.app, supplied by the user. Social platforms requested by the user: TikTok, Instagram, Facebook, and LinkedIn. Account handles and profile URLs were not provided, so this slide labels each account as “Bataa” without inventing links. Verify and add the live handles before publishing. Logo sources: Simple Icons via jsDelivr (TikTok, Instagram, and Facebook from Simple Icons 14.15; LinkedIn from Simple Icons 13.0).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3.png" Type="http://schemas.openxmlformats.org/officeDocument/2006/relationships/image"/><Relationship Id="rId4" Target="../media/image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5.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6.png" Type="http://schemas.openxmlformats.org/officeDocument/2006/relationships/image"/><Relationship Id="rId4" Target="../media/image7.png" Type="http://schemas.openxmlformats.org/officeDocument/2006/relationships/image"/><Relationship Id="rId5" Target="../media/image8.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6.png" Type="http://schemas.openxmlformats.org/officeDocument/2006/relationships/image"/><Relationship Id="rId11" Target="../media/image17.png" Type="http://schemas.openxmlformats.org/officeDocument/2006/relationships/image"/><Relationship Id="rId2" Target="../notesSlides/notesSlide10.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 Id="rId5" Target="../media/image11.png" Type="http://schemas.openxmlformats.org/officeDocument/2006/relationships/image"/><Relationship Id="rId6" Target="../media/image12.png" Type="http://schemas.openxmlformats.org/officeDocument/2006/relationships/image"/><Relationship Id="rId7" Target="../media/image13.png" Type="http://schemas.openxmlformats.org/officeDocument/2006/relationships/image"/><Relationship Id="rId8" Target="../media/image14.png" Type="http://schemas.openxmlformats.org/officeDocument/2006/relationships/image"/><Relationship Id="rId9" Target="../media/image15.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https://youtu.be/4Lz5fNhs49g" TargetMode="External" Type="http://schemas.openxmlformats.org/officeDocument/2006/relationships/hyperlink"/><Relationship Id="rId3" Target="https://youtu.be/4Lz5fNhs49g" TargetMode="External" Type="http://schemas.openxmlformats.org/officeDocument/2006/relationships/hyperlink"/><Relationship Id="rId4" Target="https://youtu.be/4Lz5fNhs49g" TargetMode="External" Type="http://schemas.openxmlformats.org/officeDocument/2006/relationships/hyperlink"/><Relationship Id="rId5" Target="https://youtu.be/4Lz5fNhs49g" TargetMode="External" Type="http://schemas.openxmlformats.org/officeDocument/2006/relationships/hyperlink"/><Relationship Id="rId6" Target="../media/image18.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19.png" Type="http://schemas.openxmlformats.org/officeDocument/2006/relationships/image"/><Relationship Id="rId4" Target="../media/image20.png" Type="http://schemas.openxmlformats.org/officeDocument/2006/relationships/image"/><Relationship Id="rId5" Target="../media/image21.png" Type="http://schemas.openxmlformats.org/officeDocument/2006/relationships/image"/><Relationship Id="rId6" Target="../media/image22.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F6E9"/>
        </a:solidFill>
      </p:bgPr>
    </p:bg>
    <p:spTree>
      <p:nvGrpSpPr>
        <p:cNvPr id="1" name=""/>
        <p:cNvGrpSpPr/>
        <p:nvPr/>
      </p:nvGrpSpPr>
      <p:grpSpPr>
        <a:xfrm>
          <a:off x="0" y="0"/>
          <a:ext cx="0" cy="0"/>
          <a:chOff x="0" y="0"/>
          <a:chExt cx="0" cy="0"/>
        </a:xfrm>
      </p:grpSpPr>
      <p:sp>
        <p:nvSpPr>
          <p:cNvPr name="TextBox 2" id="2"/>
          <p:cNvSpPr txBox="true"/>
          <p:nvPr/>
        </p:nvSpPr>
        <p:spPr>
          <a:xfrm rot="0">
            <a:off x="914400" y="1466293"/>
            <a:ext cx="3242399" cy="1206351"/>
          </a:xfrm>
          <a:prstGeom prst="rect">
            <a:avLst/>
          </a:prstGeom>
        </p:spPr>
        <p:txBody>
          <a:bodyPr anchor="t" rtlCol="false" tIns="0" lIns="0" bIns="0" rIns="0">
            <a:spAutoFit/>
          </a:bodyPr>
          <a:lstStyle/>
          <a:p>
            <a:pPr algn="l">
              <a:lnSpc>
                <a:spcPts val="9560"/>
              </a:lnSpc>
            </a:pPr>
            <a:r>
              <a:rPr lang="en-US" sz="7967" b="true">
                <a:solidFill>
                  <a:srgbClr val="FF8500"/>
                </a:solidFill>
                <a:latin typeface="Lato Bold"/>
                <a:ea typeface="Lato Bold"/>
                <a:cs typeface="Lato Bold"/>
                <a:sym typeface="Lato Bold"/>
              </a:rPr>
              <a:t>bataa.</a:t>
            </a:r>
          </a:p>
        </p:txBody>
      </p:sp>
      <p:sp>
        <p:nvSpPr>
          <p:cNvPr name="TextBox 3" id="3"/>
          <p:cNvSpPr txBox="true"/>
          <p:nvPr/>
        </p:nvSpPr>
        <p:spPr>
          <a:xfrm rot="0">
            <a:off x="914400" y="2590800"/>
            <a:ext cx="9144000" cy="1295400"/>
          </a:xfrm>
          <a:prstGeom prst="rect">
            <a:avLst/>
          </a:prstGeom>
        </p:spPr>
        <p:txBody>
          <a:bodyPr anchor="t" rtlCol="false" tIns="0" lIns="0" bIns="0" rIns="0">
            <a:spAutoFit/>
          </a:bodyPr>
          <a:lstStyle/>
          <a:p>
            <a:pPr algn="l">
              <a:lnSpc>
                <a:spcPts val="8910"/>
              </a:lnSpc>
            </a:pPr>
            <a:r>
              <a:rPr lang="en-US" sz="7425" b="true">
                <a:solidFill>
                  <a:srgbClr val="2D180B"/>
                </a:solidFill>
                <a:latin typeface="Lato Bold"/>
                <a:ea typeface="Lato Bold"/>
                <a:cs typeface="Lato Bold"/>
                <a:sym typeface="Lato Bold"/>
              </a:rPr>
              <a:t>Learn by doing.</a:t>
            </a:r>
          </a:p>
        </p:txBody>
      </p:sp>
      <p:sp>
        <p:nvSpPr>
          <p:cNvPr name="TextBox 4" id="4"/>
          <p:cNvSpPr txBox="true"/>
          <p:nvPr/>
        </p:nvSpPr>
        <p:spPr>
          <a:xfrm rot="0">
            <a:off x="914400" y="4057650"/>
            <a:ext cx="7429500" cy="2533650"/>
          </a:xfrm>
          <a:prstGeom prst="rect">
            <a:avLst/>
          </a:prstGeom>
        </p:spPr>
        <p:txBody>
          <a:bodyPr anchor="t" rtlCol="false" tIns="0" lIns="0" bIns="0" rIns="0">
            <a:spAutoFit/>
          </a:bodyPr>
          <a:lstStyle/>
          <a:p>
            <a:pPr algn="l">
              <a:lnSpc>
                <a:spcPts val="2895"/>
              </a:lnSpc>
            </a:pPr>
            <a:r>
              <a:rPr lang="en-US" sz="2412">
                <a:solidFill>
                  <a:srgbClr val="895F3C"/>
                </a:solidFill>
                <a:latin typeface="Lato"/>
                <a:ea typeface="Lato"/>
                <a:cs typeface="Lato"/>
                <a:sym typeface="Lato"/>
              </a:rPr>
              <a:t>bataa.app is your AI mentor that learns from real tutorials and can control your computer with you.</a:t>
            </a:r>
          </a:p>
          <a:p>
            <a:pPr algn="l">
              <a:lnSpc>
                <a:spcPts val="2895"/>
              </a:lnSpc>
            </a:pPr>
          </a:p>
          <a:p>
            <a:pPr algn="l">
              <a:lnSpc>
                <a:spcPts val="2895"/>
              </a:lnSpc>
            </a:pPr>
            <a:r>
              <a:rPr lang="en-US" sz="2412">
                <a:solidFill>
                  <a:srgbClr val="895F3C"/>
                </a:solidFill>
                <a:latin typeface="Lato"/>
                <a:ea typeface="Lato"/>
                <a:cs typeface="Lato"/>
                <a:sym typeface="Lato"/>
              </a:rPr>
              <a:t>It sits on your screen as a friendly mascot, shows you exactly where to click, explains what everything does and why it matters, answers your questions, and guides you step by step while you actually practice the skill.</a:t>
            </a:r>
          </a:p>
        </p:txBody>
      </p:sp>
      <p:sp>
        <p:nvSpPr>
          <p:cNvPr name="TextBox 5" id="5"/>
          <p:cNvSpPr txBox="true"/>
          <p:nvPr/>
        </p:nvSpPr>
        <p:spPr>
          <a:xfrm rot="0">
            <a:off x="857250" y="6762750"/>
            <a:ext cx="8429625" cy="409575"/>
          </a:xfrm>
          <a:prstGeom prst="rect">
            <a:avLst/>
          </a:prstGeom>
        </p:spPr>
        <p:txBody>
          <a:bodyPr anchor="t" rtlCol="false" tIns="0" lIns="0" bIns="0" rIns="0">
            <a:spAutoFit/>
          </a:bodyPr>
          <a:lstStyle/>
          <a:p>
            <a:pPr algn="l">
              <a:lnSpc>
                <a:spcPts val="2025"/>
              </a:lnSpc>
            </a:pPr>
            <a:r>
              <a:rPr lang="en-US" sz="1687" b="true">
                <a:solidFill>
                  <a:srgbClr val="C45300"/>
                </a:solidFill>
                <a:latin typeface="Lato Bold"/>
                <a:ea typeface="Lato Bold"/>
                <a:cs typeface="Lato Bold"/>
                <a:sym typeface="Lato Bold"/>
              </a:rPr>
              <a:t>Mobile practice  ·  Desktop guidance  ·  AI when the question appears</a:t>
            </a:r>
          </a:p>
        </p:txBody>
      </p:sp>
      <p:grpSp>
        <p:nvGrpSpPr>
          <p:cNvPr name="Group 6" id="6"/>
          <p:cNvGrpSpPr/>
          <p:nvPr/>
        </p:nvGrpSpPr>
        <p:grpSpPr>
          <a:xfrm rot="0">
            <a:off x="9286875" y="2034540"/>
            <a:ext cx="8001000" cy="5760720"/>
            <a:chOff x="0" y="0"/>
            <a:chExt cx="10668000" cy="7680960"/>
          </a:xfrm>
        </p:grpSpPr>
        <p:sp>
          <p:nvSpPr>
            <p:cNvPr name="Freeform 7" id="7"/>
            <p:cNvSpPr/>
            <p:nvPr/>
          </p:nvSpPr>
          <p:spPr>
            <a:xfrm flipH="false" flipV="false" rot="0">
              <a:off x="0" y="0"/>
              <a:ext cx="10668000" cy="7680960"/>
            </a:xfrm>
            <a:custGeom>
              <a:avLst/>
              <a:gdLst/>
              <a:ahLst/>
              <a:cxnLst/>
              <a:rect r="r" b="b" t="t" l="l"/>
              <a:pathLst>
                <a:path h="7680960" w="10668000">
                  <a:moveTo>
                    <a:pt x="0" y="0"/>
                  </a:moveTo>
                  <a:lnTo>
                    <a:pt x="10668000" y="0"/>
                  </a:lnTo>
                  <a:lnTo>
                    <a:pt x="10668000" y="7680960"/>
                  </a:lnTo>
                  <a:lnTo>
                    <a:pt x="0" y="7680960"/>
                  </a:lnTo>
                  <a:lnTo>
                    <a:pt x="0" y="0"/>
                  </a:lnTo>
                  <a:close/>
                </a:path>
              </a:pathLst>
            </a:custGeom>
            <a:blipFill>
              <a:blip r:embed="rId3"/>
              <a:stretch>
                <a:fillRect l="0" t="0" r="0" b="0"/>
              </a:stretch>
            </a:blipFill>
          </p:spPr>
        </p:sp>
      </p:grpSp>
      <p:sp>
        <p:nvSpPr>
          <p:cNvPr name="TextBox 8" id="8"/>
          <p:cNvSpPr txBox="true"/>
          <p:nvPr/>
        </p:nvSpPr>
        <p:spPr>
          <a:xfrm rot="0">
            <a:off x="914400" y="9563100"/>
            <a:ext cx="4286250" cy="295275"/>
          </a:xfrm>
          <a:prstGeom prst="rect">
            <a:avLst/>
          </a:prstGeom>
        </p:spPr>
        <p:txBody>
          <a:bodyPr anchor="t" rtlCol="false" tIns="0" lIns="0" bIns="0" rIns="0">
            <a:spAutoFit/>
          </a:bodyPr>
          <a:lstStyle/>
          <a:p>
            <a:pPr algn="l">
              <a:lnSpc>
                <a:spcPts val="1620"/>
              </a:lnSpc>
            </a:pPr>
            <a:r>
              <a:rPr lang="en-US" sz="1350">
                <a:solidFill>
                  <a:srgbClr val="7D5C42"/>
                </a:solidFill>
                <a:latin typeface="Lato"/>
                <a:ea typeface="Lato"/>
                <a:cs typeface="Lato"/>
                <a:sym typeface="Lato"/>
              </a:rPr>
              <a:t>Pitch deck  |  September 2026</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1B100B"/>
        </a:solidFill>
      </p:bgPr>
    </p:bg>
    <p:spTree>
      <p:nvGrpSpPr>
        <p:cNvPr id="1" name=""/>
        <p:cNvGrpSpPr/>
        <p:nvPr/>
      </p:nvGrpSpPr>
      <p:grpSpPr>
        <a:xfrm>
          <a:off x="0" y="0"/>
          <a:ext cx="0" cy="0"/>
          <a:chOff x="0" y="0"/>
          <a:chExt cx="0" cy="0"/>
        </a:xfrm>
      </p:grpSpPr>
      <p:sp>
        <p:nvSpPr>
          <p:cNvPr name="AutoShape 2" id="2"/>
          <p:cNvSpPr/>
          <p:nvPr/>
        </p:nvSpPr>
        <p:spPr>
          <a:xfrm rot="3000">
            <a:off x="907256" y="981075"/>
            <a:ext cx="16473497" cy="0"/>
          </a:xfrm>
          <a:prstGeom prst="line">
            <a:avLst/>
          </a:prstGeom>
          <a:ln cap="rnd" w="9525">
            <a:solidFill>
              <a:srgbClr val="5D3B27"/>
            </a:solidFill>
            <a:prstDash val="solid"/>
            <a:headEnd type="none" len="sm" w="sm"/>
            <a:tailEnd type="none" len="sm" w="sm"/>
          </a:ln>
        </p:spPr>
      </p:sp>
      <p:sp>
        <p:nvSpPr>
          <p:cNvPr name="Freeform 3" id="3"/>
          <p:cNvSpPr/>
          <p:nvPr/>
        </p:nvSpPr>
        <p:spPr>
          <a:xfrm flipH="false" flipV="false" rot="0">
            <a:off x="11123136" y="920635"/>
            <a:ext cx="7359879" cy="7359879"/>
          </a:xfrm>
          <a:custGeom>
            <a:avLst/>
            <a:gdLst/>
            <a:ahLst/>
            <a:cxnLst/>
            <a:rect r="r" b="b" t="t" l="l"/>
            <a:pathLst>
              <a:path h="7359879" w="7359879">
                <a:moveTo>
                  <a:pt x="0" y="0"/>
                </a:moveTo>
                <a:lnTo>
                  <a:pt x="7359879" y="0"/>
                </a:lnTo>
                <a:lnTo>
                  <a:pt x="7359879" y="7359880"/>
                </a:lnTo>
                <a:lnTo>
                  <a:pt x="0" y="7359880"/>
                </a:lnTo>
                <a:lnTo>
                  <a:pt x="0" y="0"/>
                </a:lnTo>
                <a:close/>
              </a:path>
            </a:pathLst>
          </a:custGeom>
          <a:blipFill>
            <a:blip r:embed="rId3"/>
            <a:stretch>
              <a:fillRect l="0" t="0" r="0" b="0"/>
            </a:stretch>
          </a:blipFill>
        </p:spPr>
      </p:sp>
      <p:sp>
        <p:nvSpPr>
          <p:cNvPr name="TextBox 4" id="4"/>
          <p:cNvSpPr txBox="true"/>
          <p:nvPr/>
        </p:nvSpPr>
        <p:spPr>
          <a:xfrm rot="0">
            <a:off x="914400" y="390525"/>
            <a:ext cx="1857375" cy="466725"/>
          </a:xfrm>
          <a:prstGeom prst="rect">
            <a:avLst/>
          </a:prstGeom>
        </p:spPr>
        <p:txBody>
          <a:bodyPr anchor="t" rtlCol="false" tIns="0" lIns="0" bIns="0" rIns="0">
            <a:spAutoFit/>
          </a:bodyPr>
          <a:lstStyle/>
          <a:p>
            <a:pPr algn="l">
              <a:lnSpc>
                <a:spcPts val="3104"/>
              </a:lnSpc>
            </a:pPr>
            <a:r>
              <a:rPr lang="en-US" sz="2587" b="true">
                <a:solidFill>
                  <a:srgbClr val="FF8500"/>
                </a:solidFill>
                <a:latin typeface="Lato Bold"/>
                <a:ea typeface="Lato Bold"/>
                <a:cs typeface="Lato Bold"/>
                <a:sym typeface="Lato Bold"/>
              </a:rPr>
              <a:t>bataa</a:t>
            </a:r>
          </a:p>
        </p:txBody>
      </p:sp>
      <p:sp>
        <p:nvSpPr>
          <p:cNvPr name="TextBox 5" id="5"/>
          <p:cNvSpPr txBox="true"/>
          <p:nvPr/>
        </p:nvSpPr>
        <p:spPr>
          <a:xfrm rot="0">
            <a:off x="3171825" y="461963"/>
            <a:ext cx="6000750" cy="323850"/>
          </a:xfrm>
          <a:prstGeom prst="rect">
            <a:avLst/>
          </a:prstGeom>
        </p:spPr>
        <p:txBody>
          <a:bodyPr anchor="t" rtlCol="false" tIns="0" lIns="0" bIns="0" rIns="0">
            <a:spAutoFit/>
          </a:bodyPr>
          <a:lstStyle/>
          <a:p>
            <a:pPr algn="l">
              <a:lnSpc>
                <a:spcPts val="1620"/>
              </a:lnSpc>
            </a:pPr>
            <a:r>
              <a:rPr lang="en-US" sz="1350" b="true">
                <a:solidFill>
                  <a:srgbClr val="D7BDA9"/>
                </a:solidFill>
                <a:latin typeface="Lato Bold"/>
                <a:ea typeface="Lato Bold"/>
                <a:cs typeface="Lato Bold"/>
                <a:sym typeface="Lato Bold"/>
              </a:rPr>
              <a:t>THE GAP</a:t>
            </a:r>
          </a:p>
        </p:txBody>
      </p:sp>
      <p:sp>
        <p:nvSpPr>
          <p:cNvPr name="TextBox 6" id="6"/>
          <p:cNvSpPr txBox="true"/>
          <p:nvPr/>
        </p:nvSpPr>
        <p:spPr>
          <a:xfrm rot="0">
            <a:off x="16859250" y="442912"/>
            <a:ext cx="514350" cy="342900"/>
          </a:xfrm>
          <a:prstGeom prst="rect">
            <a:avLst/>
          </a:prstGeom>
        </p:spPr>
        <p:txBody>
          <a:bodyPr anchor="t" rtlCol="false" tIns="0" lIns="0" bIns="0" rIns="0">
            <a:spAutoFit/>
          </a:bodyPr>
          <a:lstStyle/>
          <a:p>
            <a:pPr algn="r">
              <a:lnSpc>
                <a:spcPts val="1889"/>
              </a:lnSpc>
            </a:pPr>
            <a:r>
              <a:rPr lang="en-US" sz="1575" b="true">
                <a:solidFill>
                  <a:srgbClr val="FFF6E9"/>
                </a:solidFill>
                <a:latin typeface="Lato Bold"/>
                <a:ea typeface="Lato Bold"/>
                <a:cs typeface="Lato Bold"/>
                <a:sym typeface="Lato Bold"/>
              </a:rPr>
              <a:t>02</a:t>
            </a:r>
          </a:p>
        </p:txBody>
      </p:sp>
      <p:sp>
        <p:nvSpPr>
          <p:cNvPr name="TextBox 7" id="7"/>
          <p:cNvSpPr txBox="true"/>
          <p:nvPr/>
        </p:nvSpPr>
        <p:spPr>
          <a:xfrm rot="0">
            <a:off x="914400" y="1476375"/>
            <a:ext cx="7885864" cy="1171575"/>
          </a:xfrm>
          <a:prstGeom prst="rect">
            <a:avLst/>
          </a:prstGeom>
        </p:spPr>
        <p:txBody>
          <a:bodyPr anchor="t" rtlCol="false" tIns="0" lIns="0" bIns="0" rIns="0">
            <a:spAutoFit/>
          </a:bodyPr>
          <a:lstStyle/>
          <a:p>
            <a:pPr algn="l">
              <a:lnSpc>
                <a:spcPts val="4612"/>
              </a:lnSpc>
            </a:pPr>
            <a:r>
              <a:rPr lang="en-US" sz="3843" b="true">
                <a:solidFill>
                  <a:srgbClr val="FFF6E9"/>
                </a:solidFill>
                <a:latin typeface="Lato Bold"/>
                <a:ea typeface="Lato Bold"/>
                <a:cs typeface="Lato Bold"/>
                <a:sym typeface="Lato Bold"/>
              </a:rPr>
              <a:t>Learning support disappears when the learner is ready to act</a:t>
            </a:r>
          </a:p>
        </p:txBody>
      </p:sp>
      <p:sp>
        <p:nvSpPr>
          <p:cNvPr name="TextBox 8" id="8"/>
          <p:cNvSpPr txBox="true"/>
          <p:nvPr/>
        </p:nvSpPr>
        <p:spPr>
          <a:xfrm rot="0">
            <a:off x="971550" y="2800350"/>
            <a:ext cx="10429875" cy="742950"/>
          </a:xfrm>
          <a:prstGeom prst="rect">
            <a:avLst/>
          </a:prstGeom>
        </p:spPr>
        <p:txBody>
          <a:bodyPr anchor="t" rtlCol="false" tIns="0" lIns="0" bIns="0" rIns="0">
            <a:spAutoFit/>
          </a:bodyPr>
          <a:lstStyle/>
          <a:p>
            <a:pPr algn="l">
              <a:lnSpc>
                <a:spcPts val="2970"/>
              </a:lnSpc>
            </a:pPr>
            <a:r>
              <a:rPr lang="en-US" sz="2475">
                <a:solidFill>
                  <a:srgbClr val="E3CDBB"/>
                </a:solidFill>
                <a:latin typeface="Lato"/>
                <a:ea typeface="Lato"/>
                <a:cs typeface="Lato"/>
                <a:sym typeface="Lato"/>
              </a:rPr>
              <a:t>The hardest moment often comes after the video ends.</a:t>
            </a:r>
          </a:p>
        </p:txBody>
      </p:sp>
      <p:sp>
        <p:nvSpPr>
          <p:cNvPr name="TextBox 9" id="9"/>
          <p:cNvSpPr txBox="true"/>
          <p:nvPr/>
        </p:nvSpPr>
        <p:spPr>
          <a:xfrm rot="0">
            <a:off x="907259" y="4248150"/>
            <a:ext cx="12283990" cy="1576320"/>
          </a:xfrm>
          <a:prstGeom prst="rect">
            <a:avLst/>
          </a:prstGeom>
        </p:spPr>
        <p:txBody>
          <a:bodyPr anchor="t" rtlCol="false" tIns="0" lIns="0" bIns="0" rIns="0">
            <a:spAutoFit/>
          </a:bodyPr>
          <a:lstStyle/>
          <a:p>
            <a:pPr algn="l">
              <a:lnSpc>
                <a:spcPts val="6205"/>
              </a:lnSpc>
            </a:pPr>
            <a:r>
              <a:rPr lang="en-US" sz="5171" b="true">
                <a:solidFill>
                  <a:srgbClr val="FFD5A3"/>
                </a:solidFill>
                <a:latin typeface="Lato Bold"/>
                <a:ea typeface="Lato Bold"/>
                <a:cs typeface="Lato Bold"/>
                <a:sym typeface="Lato Bold"/>
              </a:rPr>
              <a:t>“I know what I want to learn.</a:t>
            </a:r>
          </a:p>
          <a:p>
            <a:pPr algn="l">
              <a:lnSpc>
                <a:spcPts val="6205"/>
              </a:lnSpc>
            </a:pPr>
            <a:r>
              <a:rPr lang="en-US" sz="5171" b="true">
                <a:solidFill>
                  <a:srgbClr val="FFD5A3"/>
                </a:solidFill>
                <a:latin typeface="Lato Bold"/>
                <a:ea typeface="Lato Bold"/>
                <a:cs typeface="Lato Bold"/>
                <a:sym typeface="Lato Bold"/>
              </a:rPr>
              <a:t> I just do not know what to click next.”</a:t>
            </a:r>
          </a:p>
        </p:txBody>
      </p:sp>
      <p:sp>
        <p:nvSpPr>
          <p:cNvPr name="TextBox 10" id="10"/>
          <p:cNvSpPr txBox="true"/>
          <p:nvPr/>
        </p:nvSpPr>
        <p:spPr>
          <a:xfrm rot="0">
            <a:off x="1028700" y="6843785"/>
            <a:ext cx="8172450" cy="704850"/>
          </a:xfrm>
          <a:prstGeom prst="rect">
            <a:avLst/>
          </a:prstGeom>
        </p:spPr>
        <p:txBody>
          <a:bodyPr anchor="t" rtlCol="false" tIns="0" lIns="0" bIns="0" rIns="0">
            <a:spAutoFit/>
          </a:bodyPr>
          <a:lstStyle/>
          <a:p>
            <a:pPr algn="l">
              <a:lnSpc>
                <a:spcPts val="2835"/>
              </a:lnSpc>
            </a:pPr>
            <a:r>
              <a:rPr lang="en-US" sz="2362">
                <a:solidFill>
                  <a:srgbClr val="E5CFBD"/>
                </a:solidFill>
                <a:latin typeface="Lato"/>
                <a:ea typeface="Lato"/>
                <a:cs typeface="Lato"/>
                <a:sym typeface="Lato"/>
              </a:rPr>
              <a:t>The learner is alone when the question appears: late at night, between classes, or inside unfamiliar software.</a:t>
            </a:r>
          </a:p>
        </p:txBody>
      </p:sp>
      <p:sp>
        <p:nvSpPr>
          <p:cNvPr name="TextBox 11" id="11"/>
          <p:cNvSpPr txBox="true"/>
          <p:nvPr/>
        </p:nvSpPr>
        <p:spPr>
          <a:xfrm rot="0">
            <a:off x="914400" y="9744075"/>
            <a:ext cx="13144500" cy="257175"/>
          </a:xfrm>
          <a:prstGeom prst="rect">
            <a:avLst/>
          </a:prstGeom>
        </p:spPr>
        <p:txBody>
          <a:bodyPr anchor="t" rtlCol="false" tIns="0" lIns="0" bIns="0" rIns="0">
            <a:spAutoFit/>
          </a:bodyPr>
          <a:lstStyle/>
          <a:p>
            <a:pPr algn="l">
              <a:lnSpc>
                <a:spcPts val="1485"/>
              </a:lnSpc>
            </a:pPr>
            <a:r>
              <a:rPr lang="en-US" sz="1237">
                <a:solidFill>
                  <a:srgbClr val="C9A98C"/>
                </a:solidFill>
                <a:latin typeface="Lato"/>
                <a:ea typeface="Lato"/>
                <a:cs typeface="Lato"/>
                <a:sym typeface="Lato"/>
              </a:rPr>
              <a:t>Problem framing · user-provided brief</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FFF6E9"/>
        </a:solidFill>
      </p:bgPr>
    </p:bg>
    <p:spTree>
      <p:nvGrpSpPr>
        <p:cNvPr id="1" name=""/>
        <p:cNvGrpSpPr/>
        <p:nvPr/>
      </p:nvGrpSpPr>
      <p:grpSpPr>
        <a:xfrm>
          <a:off x="0" y="0"/>
          <a:ext cx="0" cy="0"/>
          <a:chOff x="0" y="0"/>
          <a:chExt cx="0" cy="0"/>
        </a:xfrm>
      </p:grpSpPr>
      <p:sp>
        <p:nvSpPr>
          <p:cNvPr name="TextBox 2" id="2"/>
          <p:cNvSpPr txBox="true"/>
          <p:nvPr/>
        </p:nvSpPr>
        <p:spPr>
          <a:xfrm rot="0">
            <a:off x="914400" y="390525"/>
            <a:ext cx="1857375" cy="466725"/>
          </a:xfrm>
          <a:prstGeom prst="rect">
            <a:avLst/>
          </a:prstGeom>
        </p:spPr>
        <p:txBody>
          <a:bodyPr anchor="t" rtlCol="false" tIns="0" lIns="0" bIns="0" rIns="0">
            <a:spAutoFit/>
          </a:bodyPr>
          <a:lstStyle/>
          <a:p>
            <a:pPr algn="l">
              <a:lnSpc>
                <a:spcPts val="3104"/>
              </a:lnSpc>
            </a:pPr>
            <a:r>
              <a:rPr lang="en-US" sz="2587" b="true">
                <a:solidFill>
                  <a:srgbClr val="FF8500"/>
                </a:solidFill>
                <a:latin typeface="Lato Bold"/>
                <a:ea typeface="Lato Bold"/>
                <a:cs typeface="Lato Bold"/>
                <a:sym typeface="Lato Bold"/>
              </a:rPr>
              <a:t>bataa</a:t>
            </a:r>
          </a:p>
        </p:txBody>
      </p:sp>
      <p:sp>
        <p:nvSpPr>
          <p:cNvPr name="TextBox 3" id="3"/>
          <p:cNvSpPr txBox="true"/>
          <p:nvPr/>
        </p:nvSpPr>
        <p:spPr>
          <a:xfrm rot="0">
            <a:off x="3171825" y="461963"/>
            <a:ext cx="6000750" cy="323850"/>
          </a:xfrm>
          <a:prstGeom prst="rect">
            <a:avLst/>
          </a:prstGeom>
        </p:spPr>
        <p:txBody>
          <a:bodyPr anchor="t" rtlCol="false" tIns="0" lIns="0" bIns="0" rIns="0">
            <a:spAutoFit/>
          </a:bodyPr>
          <a:lstStyle/>
          <a:p>
            <a:pPr algn="l">
              <a:lnSpc>
                <a:spcPts val="1620"/>
              </a:lnSpc>
            </a:pPr>
            <a:r>
              <a:rPr lang="en-US" sz="1350" b="true">
                <a:solidFill>
                  <a:srgbClr val="895F3C"/>
                </a:solidFill>
                <a:latin typeface="Lato Bold"/>
                <a:ea typeface="Lato Bold"/>
                <a:cs typeface="Lato Bold"/>
                <a:sym typeface="Lato Bold"/>
              </a:rPr>
              <a:t>DISCOVERY</a:t>
            </a:r>
          </a:p>
        </p:txBody>
      </p:sp>
      <p:sp>
        <p:nvSpPr>
          <p:cNvPr name="TextBox 4" id="4"/>
          <p:cNvSpPr txBox="true"/>
          <p:nvPr/>
        </p:nvSpPr>
        <p:spPr>
          <a:xfrm rot="0">
            <a:off x="16859250" y="442912"/>
            <a:ext cx="514350" cy="342900"/>
          </a:xfrm>
          <a:prstGeom prst="rect">
            <a:avLst/>
          </a:prstGeom>
        </p:spPr>
        <p:txBody>
          <a:bodyPr anchor="t" rtlCol="false" tIns="0" lIns="0" bIns="0" rIns="0">
            <a:spAutoFit/>
          </a:bodyPr>
          <a:lstStyle/>
          <a:p>
            <a:pPr algn="r">
              <a:lnSpc>
                <a:spcPts val="1889"/>
              </a:lnSpc>
            </a:pPr>
            <a:r>
              <a:rPr lang="en-US" sz="1575" b="true">
                <a:solidFill>
                  <a:srgbClr val="2D180B"/>
                </a:solidFill>
                <a:latin typeface="Lato Bold"/>
                <a:ea typeface="Lato Bold"/>
                <a:cs typeface="Lato Bold"/>
                <a:sym typeface="Lato Bold"/>
              </a:rPr>
              <a:t>03</a:t>
            </a:r>
          </a:p>
        </p:txBody>
      </p:sp>
      <p:sp>
        <p:nvSpPr>
          <p:cNvPr name="AutoShape 5" id="5"/>
          <p:cNvSpPr/>
          <p:nvPr/>
        </p:nvSpPr>
        <p:spPr>
          <a:xfrm rot="3000">
            <a:off x="907256" y="981075"/>
            <a:ext cx="16473497" cy="0"/>
          </a:xfrm>
          <a:prstGeom prst="line">
            <a:avLst/>
          </a:prstGeom>
          <a:ln cap="rnd" w="9525">
            <a:solidFill>
              <a:srgbClr val="EDCFAD"/>
            </a:solidFill>
            <a:prstDash val="solid"/>
            <a:headEnd type="none" len="sm" w="sm"/>
            <a:tailEnd type="none" len="sm" w="sm"/>
          </a:ln>
        </p:spPr>
      </p:sp>
      <p:sp>
        <p:nvSpPr>
          <p:cNvPr name="TextBox 6" id="6"/>
          <p:cNvSpPr txBox="true"/>
          <p:nvPr/>
        </p:nvSpPr>
        <p:spPr>
          <a:xfrm rot="0">
            <a:off x="914400" y="1504950"/>
            <a:ext cx="15859125" cy="866775"/>
          </a:xfrm>
          <a:prstGeom prst="rect">
            <a:avLst/>
          </a:prstGeom>
        </p:spPr>
        <p:txBody>
          <a:bodyPr anchor="t" rtlCol="false" tIns="0" lIns="0" bIns="0" rIns="0">
            <a:spAutoFit/>
          </a:bodyPr>
          <a:lstStyle/>
          <a:p>
            <a:pPr algn="l">
              <a:lnSpc>
                <a:spcPts val="6075"/>
              </a:lnSpc>
            </a:pPr>
            <a:r>
              <a:rPr lang="en-US" sz="5062" b="true">
                <a:solidFill>
                  <a:srgbClr val="2D180B"/>
                </a:solidFill>
                <a:latin typeface="Lato Bold"/>
                <a:ea typeface="Lato Bold"/>
                <a:cs typeface="Lato Bold"/>
                <a:sym typeface="Lato Bold"/>
              </a:rPr>
              <a:t>We heard the same friction in three moments</a:t>
            </a:r>
          </a:p>
        </p:txBody>
      </p:sp>
      <p:sp>
        <p:nvSpPr>
          <p:cNvPr name="TextBox 7" id="7"/>
          <p:cNvSpPr txBox="true"/>
          <p:nvPr/>
        </p:nvSpPr>
        <p:spPr>
          <a:xfrm rot="0">
            <a:off x="971550" y="2533650"/>
            <a:ext cx="13573125" cy="438150"/>
          </a:xfrm>
          <a:prstGeom prst="rect">
            <a:avLst/>
          </a:prstGeom>
        </p:spPr>
        <p:txBody>
          <a:bodyPr anchor="t" rtlCol="false" tIns="0" lIns="0" bIns="0" rIns="0">
            <a:spAutoFit/>
          </a:bodyPr>
          <a:lstStyle/>
          <a:p>
            <a:pPr algn="l">
              <a:lnSpc>
                <a:spcPts val="2430"/>
              </a:lnSpc>
            </a:pPr>
            <a:r>
              <a:rPr lang="en-US" sz="2025">
                <a:solidFill>
                  <a:srgbClr val="895F3C"/>
                </a:solidFill>
                <a:latin typeface="Lato"/>
                <a:ea typeface="Lato"/>
                <a:cs typeface="Lato"/>
                <a:sym typeface="Lato"/>
              </a:rPr>
              <a:t>Qualitative discovery at Horus University. Synthesized from conversations, not verbatim quotes.</a:t>
            </a:r>
          </a:p>
        </p:txBody>
      </p:sp>
      <p:grpSp>
        <p:nvGrpSpPr>
          <p:cNvPr name="Group 8" id="8"/>
          <p:cNvGrpSpPr/>
          <p:nvPr/>
        </p:nvGrpSpPr>
        <p:grpSpPr>
          <a:xfrm rot="0">
            <a:off x="964406" y="3636169"/>
            <a:ext cx="6086475" cy="4300538"/>
            <a:chOff x="0" y="0"/>
            <a:chExt cx="8115300" cy="5734050"/>
          </a:xfrm>
        </p:grpSpPr>
        <p:sp>
          <p:nvSpPr>
            <p:cNvPr name="Freeform 9" id="9"/>
            <p:cNvSpPr/>
            <p:nvPr/>
          </p:nvSpPr>
          <p:spPr>
            <a:xfrm flipH="false" flipV="false" rot="0">
              <a:off x="0" y="0"/>
              <a:ext cx="8115300" cy="5734050"/>
            </a:xfrm>
            <a:custGeom>
              <a:avLst/>
              <a:gdLst/>
              <a:ahLst/>
              <a:cxnLst/>
              <a:rect r="r" b="b" t="t" l="l"/>
              <a:pathLst>
                <a:path h="5734050" w="8115300">
                  <a:moveTo>
                    <a:pt x="0" y="458724"/>
                  </a:moveTo>
                  <a:cubicBezTo>
                    <a:pt x="0" y="205359"/>
                    <a:pt x="205359" y="0"/>
                    <a:pt x="458724" y="0"/>
                  </a:cubicBezTo>
                  <a:lnTo>
                    <a:pt x="7656576" y="0"/>
                  </a:lnTo>
                  <a:cubicBezTo>
                    <a:pt x="7909941" y="0"/>
                    <a:pt x="8115300" y="205359"/>
                    <a:pt x="8115300" y="458724"/>
                  </a:cubicBezTo>
                  <a:lnTo>
                    <a:pt x="8115300" y="5275326"/>
                  </a:lnTo>
                  <a:cubicBezTo>
                    <a:pt x="8115300" y="5528691"/>
                    <a:pt x="7909941" y="5734050"/>
                    <a:pt x="7656576" y="5734050"/>
                  </a:cubicBezTo>
                  <a:lnTo>
                    <a:pt x="458724" y="5734050"/>
                  </a:lnTo>
                  <a:cubicBezTo>
                    <a:pt x="205359" y="5734050"/>
                    <a:pt x="0" y="5528691"/>
                    <a:pt x="0" y="5275326"/>
                  </a:cubicBezTo>
                  <a:close/>
                </a:path>
              </a:pathLst>
            </a:custGeom>
            <a:solidFill>
              <a:srgbClr val="2B1910"/>
            </a:solidFill>
            <a:ln w="14288" cap="sq">
              <a:solidFill>
                <a:srgbClr val="5D3B27"/>
              </a:solidFill>
              <a:prstDash val="solid"/>
              <a:miter/>
            </a:ln>
          </p:spPr>
        </p:sp>
      </p:grpSp>
      <p:grpSp>
        <p:nvGrpSpPr>
          <p:cNvPr name="Group 10" id="10"/>
          <p:cNvGrpSpPr/>
          <p:nvPr/>
        </p:nvGrpSpPr>
        <p:grpSpPr>
          <a:xfrm rot="0">
            <a:off x="1428750" y="4086225"/>
            <a:ext cx="1457325" cy="400050"/>
            <a:chOff x="0" y="0"/>
            <a:chExt cx="1943100" cy="533400"/>
          </a:xfrm>
        </p:grpSpPr>
        <p:sp>
          <p:nvSpPr>
            <p:cNvPr name="Freeform 11" id="11"/>
            <p:cNvSpPr/>
            <p:nvPr/>
          </p:nvSpPr>
          <p:spPr>
            <a:xfrm flipH="false" flipV="false" rot="0">
              <a:off x="0" y="0"/>
              <a:ext cx="1943100" cy="533400"/>
            </a:xfrm>
            <a:custGeom>
              <a:avLst/>
              <a:gdLst/>
              <a:ahLst/>
              <a:cxnLst/>
              <a:rect r="r" b="b" t="t" l="l"/>
              <a:pathLst>
                <a:path h="533400" w="1943100">
                  <a:moveTo>
                    <a:pt x="0" y="266700"/>
                  </a:moveTo>
                  <a:cubicBezTo>
                    <a:pt x="0" y="119380"/>
                    <a:pt x="119380" y="0"/>
                    <a:pt x="266700" y="0"/>
                  </a:cubicBezTo>
                  <a:lnTo>
                    <a:pt x="1676400" y="0"/>
                  </a:lnTo>
                  <a:cubicBezTo>
                    <a:pt x="1823720" y="0"/>
                    <a:pt x="1943100" y="119380"/>
                    <a:pt x="1943100" y="266700"/>
                  </a:cubicBezTo>
                  <a:cubicBezTo>
                    <a:pt x="1943100" y="414020"/>
                    <a:pt x="1823720" y="533400"/>
                    <a:pt x="1676400" y="533400"/>
                  </a:cubicBezTo>
                  <a:lnTo>
                    <a:pt x="266700" y="533400"/>
                  </a:lnTo>
                  <a:cubicBezTo>
                    <a:pt x="119380" y="533400"/>
                    <a:pt x="0" y="414020"/>
                    <a:pt x="0" y="266700"/>
                  </a:cubicBezTo>
                  <a:close/>
                </a:path>
              </a:pathLst>
            </a:custGeom>
            <a:solidFill>
              <a:srgbClr val="FF8500"/>
            </a:solidFill>
            <a:ln cap="sq">
              <a:noFill/>
              <a:prstDash val="solid"/>
              <a:miter/>
            </a:ln>
          </p:spPr>
        </p:sp>
        <p:sp>
          <p:nvSpPr>
            <p:cNvPr name="TextBox 12" id="12"/>
            <p:cNvSpPr txBox="true"/>
            <p:nvPr/>
          </p:nvSpPr>
          <p:spPr>
            <a:xfrm>
              <a:off x="0" y="0"/>
              <a:ext cx="1943100" cy="533400"/>
            </a:xfrm>
            <a:prstGeom prst="rect">
              <a:avLst/>
            </a:prstGeom>
          </p:spPr>
          <p:txBody>
            <a:bodyPr anchor="ctr" rtlCol="false" tIns="50800" lIns="50800" bIns="50800" rIns="50800"/>
            <a:lstStyle/>
            <a:p>
              <a:pPr algn="ctr">
                <a:lnSpc>
                  <a:spcPts val="1755"/>
                </a:lnSpc>
              </a:pPr>
              <a:r>
                <a:rPr lang="en-US" sz="1462" b="true">
                  <a:solidFill>
                    <a:srgbClr val="FFFFFF"/>
                  </a:solidFill>
                  <a:latin typeface="Lato Bold"/>
                  <a:ea typeface="Lato Bold"/>
                  <a:cs typeface="Lato Bold"/>
                  <a:sym typeface="Lato Bold"/>
                </a:rPr>
                <a:t>OBSERVED</a:t>
              </a:r>
            </a:p>
          </p:txBody>
        </p:sp>
      </p:grpSp>
      <p:sp>
        <p:nvSpPr>
          <p:cNvPr name="TextBox 13" id="13"/>
          <p:cNvSpPr txBox="true"/>
          <p:nvPr/>
        </p:nvSpPr>
        <p:spPr>
          <a:xfrm rot="0">
            <a:off x="3143250" y="4157662"/>
            <a:ext cx="3143250" cy="257175"/>
          </a:xfrm>
          <a:prstGeom prst="rect">
            <a:avLst/>
          </a:prstGeom>
        </p:spPr>
        <p:txBody>
          <a:bodyPr anchor="t" rtlCol="false" tIns="0" lIns="0" bIns="0" rIns="0">
            <a:spAutoFit/>
          </a:bodyPr>
          <a:lstStyle/>
          <a:p>
            <a:pPr algn="l">
              <a:lnSpc>
                <a:spcPts val="1485"/>
              </a:lnSpc>
            </a:pPr>
            <a:r>
              <a:rPr lang="en-US" sz="1237" b="true">
                <a:solidFill>
                  <a:srgbClr val="FFD5A3"/>
                </a:solidFill>
                <a:latin typeface="Lato Bold"/>
                <a:ea typeface="Lato Bold"/>
                <a:cs typeface="Lato Bold"/>
                <a:sym typeface="Lato Bold"/>
              </a:rPr>
              <a:t>HORUS UNIVERSITY</a:t>
            </a:r>
          </a:p>
        </p:txBody>
      </p:sp>
      <p:sp>
        <p:nvSpPr>
          <p:cNvPr name="TextBox 14" id="14"/>
          <p:cNvSpPr txBox="true"/>
          <p:nvPr/>
        </p:nvSpPr>
        <p:spPr>
          <a:xfrm rot="0">
            <a:off x="1428750" y="4919663"/>
            <a:ext cx="4929188" cy="1438275"/>
          </a:xfrm>
          <a:prstGeom prst="rect">
            <a:avLst/>
          </a:prstGeom>
        </p:spPr>
        <p:txBody>
          <a:bodyPr anchor="t" rtlCol="false" tIns="0" lIns="0" bIns="0" rIns="0">
            <a:spAutoFit/>
          </a:bodyPr>
          <a:lstStyle/>
          <a:p>
            <a:pPr algn="l">
              <a:lnSpc>
                <a:spcPts val="4320"/>
              </a:lnSpc>
            </a:pPr>
            <a:r>
              <a:rPr lang="en-US" sz="3600" b="true">
                <a:solidFill>
                  <a:srgbClr val="FFF6E9"/>
                </a:solidFill>
                <a:latin typeface="Lato Bold"/>
                <a:ea typeface="Lato Bold"/>
                <a:cs typeface="Lato Bold"/>
                <a:sym typeface="Lato Bold"/>
              </a:rPr>
              <a:t>“I can’t ask an instructor at 2 a.m.”</a:t>
            </a:r>
          </a:p>
        </p:txBody>
      </p:sp>
      <p:sp>
        <p:nvSpPr>
          <p:cNvPr name="TextBox 15" id="15"/>
          <p:cNvSpPr txBox="true"/>
          <p:nvPr/>
        </p:nvSpPr>
        <p:spPr>
          <a:xfrm rot="0">
            <a:off x="1428750" y="6858000"/>
            <a:ext cx="3714750" cy="257175"/>
          </a:xfrm>
          <a:prstGeom prst="rect">
            <a:avLst/>
          </a:prstGeom>
        </p:spPr>
        <p:txBody>
          <a:bodyPr anchor="t" rtlCol="false" tIns="0" lIns="0" bIns="0" rIns="0">
            <a:spAutoFit/>
          </a:bodyPr>
          <a:lstStyle/>
          <a:p>
            <a:pPr algn="l">
              <a:lnSpc>
                <a:spcPts val="1485"/>
              </a:lnSpc>
            </a:pPr>
            <a:r>
              <a:rPr lang="en-US" sz="1237" b="true">
                <a:solidFill>
                  <a:srgbClr val="FFD5A3"/>
                </a:solidFill>
                <a:latin typeface="Lato Bold"/>
                <a:ea typeface="Lato Bold"/>
                <a:cs typeface="Lato Bold"/>
                <a:sym typeface="Lato Bold"/>
              </a:rPr>
              <a:t>PARAPHRASED STUDENT SIGNAL</a:t>
            </a:r>
          </a:p>
        </p:txBody>
      </p:sp>
      <p:sp>
        <p:nvSpPr>
          <p:cNvPr name="TextBox 16" id="16"/>
          <p:cNvSpPr txBox="true"/>
          <p:nvPr/>
        </p:nvSpPr>
        <p:spPr>
          <a:xfrm rot="0">
            <a:off x="1428750" y="7277100"/>
            <a:ext cx="4286250" cy="352425"/>
          </a:xfrm>
          <a:prstGeom prst="rect">
            <a:avLst/>
          </a:prstGeom>
        </p:spPr>
        <p:txBody>
          <a:bodyPr anchor="t" rtlCol="false" tIns="0" lIns="0" bIns="0" rIns="0">
            <a:spAutoFit/>
          </a:bodyPr>
          <a:lstStyle/>
          <a:p>
            <a:pPr algn="l">
              <a:lnSpc>
                <a:spcPts val="2160"/>
              </a:lnSpc>
            </a:pPr>
            <a:r>
              <a:rPr lang="en-US" sz="1800">
                <a:solidFill>
                  <a:srgbClr val="E3CDBB"/>
                </a:solidFill>
                <a:latin typeface="Lato"/>
                <a:ea typeface="Lato"/>
                <a:cs typeface="Lato"/>
                <a:sym typeface="Lato"/>
              </a:rPr>
              <a:t>The question arrives after the lesson.</a:t>
            </a:r>
          </a:p>
        </p:txBody>
      </p:sp>
      <p:sp>
        <p:nvSpPr>
          <p:cNvPr name="TextBox 17" id="17"/>
          <p:cNvSpPr txBox="true"/>
          <p:nvPr/>
        </p:nvSpPr>
        <p:spPr>
          <a:xfrm rot="0">
            <a:off x="8001000" y="3748087"/>
            <a:ext cx="8001000" cy="466725"/>
          </a:xfrm>
          <a:prstGeom prst="rect">
            <a:avLst/>
          </a:prstGeom>
        </p:spPr>
        <p:txBody>
          <a:bodyPr anchor="t" rtlCol="false" tIns="0" lIns="0" bIns="0" rIns="0">
            <a:spAutoFit/>
          </a:bodyPr>
          <a:lstStyle/>
          <a:p>
            <a:pPr algn="l">
              <a:lnSpc>
                <a:spcPts val="3375"/>
              </a:lnSpc>
            </a:pPr>
            <a:r>
              <a:rPr lang="en-US" sz="2812" b="true">
                <a:solidFill>
                  <a:srgbClr val="2D180B"/>
                </a:solidFill>
                <a:latin typeface="Lato Bold"/>
                <a:ea typeface="Lato Bold"/>
                <a:cs typeface="Lato Bold"/>
                <a:sym typeface="Lato Bold"/>
              </a:rPr>
              <a:t>Three moments, one pattern</a:t>
            </a:r>
          </a:p>
        </p:txBody>
      </p:sp>
      <p:grpSp>
        <p:nvGrpSpPr>
          <p:cNvPr name="Group 18" id="18"/>
          <p:cNvGrpSpPr/>
          <p:nvPr/>
        </p:nvGrpSpPr>
        <p:grpSpPr>
          <a:xfrm rot="0">
            <a:off x="8001000" y="4572000"/>
            <a:ext cx="600075" cy="600075"/>
            <a:chOff x="0" y="0"/>
            <a:chExt cx="800100" cy="800100"/>
          </a:xfrm>
        </p:grpSpPr>
        <p:sp>
          <p:nvSpPr>
            <p:cNvPr name="Freeform 19" id="19"/>
            <p:cNvSpPr/>
            <p:nvPr/>
          </p:nvSpPr>
          <p:spPr>
            <a:xfrm flipH="false" flipV="false" rot="0">
              <a:off x="0" y="0"/>
              <a:ext cx="800100" cy="800100"/>
            </a:xfrm>
            <a:custGeom>
              <a:avLst/>
              <a:gdLst/>
              <a:ahLst/>
              <a:cxnLst/>
              <a:rect r="r" b="b" t="t" l="l"/>
              <a:pathLst>
                <a:path h="800100" w="800100">
                  <a:moveTo>
                    <a:pt x="0" y="400050"/>
                  </a:moveTo>
                  <a:cubicBezTo>
                    <a:pt x="0" y="179070"/>
                    <a:pt x="179070" y="0"/>
                    <a:pt x="400050" y="0"/>
                  </a:cubicBezTo>
                  <a:cubicBezTo>
                    <a:pt x="621030" y="0"/>
                    <a:pt x="800100" y="179070"/>
                    <a:pt x="800100" y="400050"/>
                  </a:cubicBezTo>
                  <a:cubicBezTo>
                    <a:pt x="800100" y="621030"/>
                    <a:pt x="621030" y="800100"/>
                    <a:pt x="400050" y="800100"/>
                  </a:cubicBezTo>
                  <a:cubicBezTo>
                    <a:pt x="179070" y="800100"/>
                    <a:pt x="0" y="621030"/>
                    <a:pt x="0" y="400050"/>
                  </a:cubicBezTo>
                  <a:close/>
                </a:path>
              </a:pathLst>
            </a:custGeom>
            <a:solidFill>
              <a:srgbClr val="FF8500"/>
            </a:solidFill>
            <a:ln cap="sq">
              <a:noFill/>
              <a:prstDash val="solid"/>
              <a:miter/>
            </a:ln>
          </p:spPr>
        </p:sp>
        <p:sp>
          <p:nvSpPr>
            <p:cNvPr name="TextBox 20" id="20"/>
            <p:cNvSpPr txBox="true"/>
            <p:nvPr/>
          </p:nvSpPr>
          <p:spPr>
            <a:xfrm>
              <a:off x="0" y="-9525"/>
              <a:ext cx="800100" cy="809625"/>
            </a:xfrm>
            <a:prstGeom prst="rect">
              <a:avLst/>
            </a:prstGeom>
          </p:spPr>
          <p:txBody>
            <a:bodyPr anchor="ctr" rtlCol="false" tIns="50800" lIns="50800" bIns="50800" rIns="50800"/>
            <a:lstStyle/>
            <a:p>
              <a:pPr algn="ctr">
                <a:lnSpc>
                  <a:spcPts val="2160"/>
                </a:lnSpc>
              </a:pPr>
              <a:r>
                <a:rPr lang="en-US" sz="1800" b="true">
                  <a:solidFill>
                    <a:srgbClr val="FFFFFF"/>
                  </a:solidFill>
                  <a:latin typeface="Lato Bold"/>
                  <a:ea typeface="Lato Bold"/>
                  <a:cs typeface="Lato Bold"/>
                  <a:sym typeface="Lato Bold"/>
                </a:rPr>
                <a:t>1</a:t>
              </a:r>
            </a:p>
          </p:txBody>
        </p:sp>
      </p:grpSp>
      <p:sp>
        <p:nvSpPr>
          <p:cNvPr name="TextBox 21" id="21"/>
          <p:cNvSpPr txBox="true"/>
          <p:nvPr/>
        </p:nvSpPr>
        <p:spPr>
          <a:xfrm rot="0">
            <a:off x="8929688" y="4576763"/>
            <a:ext cx="7143750" cy="266700"/>
          </a:xfrm>
          <a:prstGeom prst="rect">
            <a:avLst/>
          </a:prstGeom>
        </p:spPr>
        <p:txBody>
          <a:bodyPr anchor="t" rtlCol="false" tIns="0" lIns="0" bIns="0" rIns="0">
            <a:spAutoFit/>
          </a:bodyPr>
          <a:lstStyle/>
          <a:p>
            <a:pPr algn="l">
              <a:lnSpc>
                <a:spcPts val="1620"/>
              </a:lnSpc>
            </a:pPr>
            <a:r>
              <a:rPr lang="en-US" sz="1350" b="true">
                <a:solidFill>
                  <a:srgbClr val="FF8500"/>
                </a:solidFill>
                <a:latin typeface="Lato Bold"/>
                <a:ea typeface="Lato Bold"/>
                <a:cs typeface="Lato Bold"/>
                <a:sym typeface="Lato Bold"/>
              </a:rPr>
              <a:t>02:00 AM</a:t>
            </a:r>
          </a:p>
        </p:txBody>
      </p:sp>
      <p:sp>
        <p:nvSpPr>
          <p:cNvPr name="TextBox 22" id="22"/>
          <p:cNvSpPr txBox="true"/>
          <p:nvPr/>
        </p:nvSpPr>
        <p:spPr>
          <a:xfrm rot="0">
            <a:off x="8929688" y="4943475"/>
            <a:ext cx="7715250" cy="428625"/>
          </a:xfrm>
          <a:prstGeom prst="rect">
            <a:avLst/>
          </a:prstGeom>
        </p:spPr>
        <p:txBody>
          <a:bodyPr anchor="t" rtlCol="false" tIns="0" lIns="0" bIns="0" rIns="0">
            <a:spAutoFit/>
          </a:bodyPr>
          <a:lstStyle/>
          <a:p>
            <a:pPr algn="l">
              <a:lnSpc>
                <a:spcPts val="2565"/>
              </a:lnSpc>
            </a:pPr>
            <a:r>
              <a:rPr lang="en-US" sz="2137">
                <a:solidFill>
                  <a:srgbClr val="2D180B"/>
                </a:solidFill>
                <a:latin typeface="Lato"/>
                <a:ea typeface="Lato"/>
                <a:cs typeface="Lato"/>
                <a:sym typeface="Lato"/>
              </a:rPr>
              <a:t>Support stops when the question starts.</a:t>
            </a:r>
          </a:p>
        </p:txBody>
      </p:sp>
      <p:sp>
        <p:nvSpPr>
          <p:cNvPr name="AutoShape 23" id="23"/>
          <p:cNvSpPr/>
          <p:nvPr/>
        </p:nvSpPr>
        <p:spPr>
          <a:xfrm rot="12480">
            <a:off x="8915371" y="5562600"/>
            <a:ext cx="7886748" cy="0"/>
          </a:xfrm>
          <a:prstGeom prst="line">
            <a:avLst/>
          </a:prstGeom>
          <a:ln cap="rnd" w="19050">
            <a:solidFill>
              <a:srgbClr val="EDCFAD"/>
            </a:solidFill>
            <a:prstDash val="solid"/>
            <a:headEnd type="none" len="sm" w="sm"/>
            <a:tailEnd type="none" len="sm" w="sm"/>
          </a:ln>
        </p:spPr>
      </p:sp>
      <p:grpSp>
        <p:nvGrpSpPr>
          <p:cNvPr name="Group 24" id="24"/>
          <p:cNvGrpSpPr/>
          <p:nvPr/>
        </p:nvGrpSpPr>
        <p:grpSpPr>
          <a:xfrm rot="0">
            <a:off x="8001000" y="5772150"/>
            <a:ext cx="600075" cy="600075"/>
            <a:chOff x="0" y="0"/>
            <a:chExt cx="800100" cy="800100"/>
          </a:xfrm>
        </p:grpSpPr>
        <p:sp>
          <p:nvSpPr>
            <p:cNvPr name="Freeform 25" id="25"/>
            <p:cNvSpPr/>
            <p:nvPr/>
          </p:nvSpPr>
          <p:spPr>
            <a:xfrm flipH="false" flipV="false" rot="0">
              <a:off x="0" y="0"/>
              <a:ext cx="800100" cy="800100"/>
            </a:xfrm>
            <a:custGeom>
              <a:avLst/>
              <a:gdLst/>
              <a:ahLst/>
              <a:cxnLst/>
              <a:rect r="r" b="b" t="t" l="l"/>
              <a:pathLst>
                <a:path h="800100" w="800100">
                  <a:moveTo>
                    <a:pt x="0" y="400050"/>
                  </a:moveTo>
                  <a:cubicBezTo>
                    <a:pt x="0" y="179070"/>
                    <a:pt x="179070" y="0"/>
                    <a:pt x="400050" y="0"/>
                  </a:cubicBezTo>
                  <a:cubicBezTo>
                    <a:pt x="621030" y="0"/>
                    <a:pt x="800100" y="179070"/>
                    <a:pt x="800100" y="400050"/>
                  </a:cubicBezTo>
                  <a:cubicBezTo>
                    <a:pt x="800100" y="621030"/>
                    <a:pt x="621030" y="800100"/>
                    <a:pt x="400050" y="800100"/>
                  </a:cubicBezTo>
                  <a:cubicBezTo>
                    <a:pt x="179070" y="800100"/>
                    <a:pt x="0" y="621030"/>
                    <a:pt x="0" y="400050"/>
                  </a:cubicBezTo>
                  <a:close/>
                </a:path>
              </a:pathLst>
            </a:custGeom>
            <a:solidFill>
              <a:srgbClr val="6E5BAA"/>
            </a:solidFill>
            <a:ln cap="sq">
              <a:noFill/>
              <a:prstDash val="solid"/>
              <a:miter/>
            </a:ln>
          </p:spPr>
        </p:sp>
        <p:sp>
          <p:nvSpPr>
            <p:cNvPr name="TextBox 26" id="26"/>
            <p:cNvSpPr txBox="true"/>
            <p:nvPr/>
          </p:nvSpPr>
          <p:spPr>
            <a:xfrm>
              <a:off x="0" y="-9525"/>
              <a:ext cx="800100" cy="809625"/>
            </a:xfrm>
            <a:prstGeom prst="rect">
              <a:avLst/>
            </a:prstGeom>
          </p:spPr>
          <p:txBody>
            <a:bodyPr anchor="ctr" rtlCol="false" tIns="50800" lIns="50800" bIns="50800" rIns="50800"/>
            <a:lstStyle/>
            <a:p>
              <a:pPr algn="ctr">
                <a:lnSpc>
                  <a:spcPts val="2160"/>
                </a:lnSpc>
              </a:pPr>
              <a:r>
                <a:rPr lang="en-US" sz="1800" b="true">
                  <a:solidFill>
                    <a:srgbClr val="FFFFFF"/>
                  </a:solidFill>
                  <a:latin typeface="Lato Bold"/>
                  <a:ea typeface="Lato Bold"/>
                  <a:cs typeface="Lato Bold"/>
                  <a:sym typeface="Lato Bold"/>
                </a:rPr>
                <a:t>2</a:t>
              </a:r>
            </a:p>
          </p:txBody>
        </p:sp>
      </p:grpSp>
      <p:sp>
        <p:nvSpPr>
          <p:cNvPr name="TextBox 27" id="27"/>
          <p:cNvSpPr txBox="true"/>
          <p:nvPr/>
        </p:nvSpPr>
        <p:spPr>
          <a:xfrm rot="0">
            <a:off x="8929688" y="5776913"/>
            <a:ext cx="7143750" cy="266700"/>
          </a:xfrm>
          <a:prstGeom prst="rect">
            <a:avLst/>
          </a:prstGeom>
        </p:spPr>
        <p:txBody>
          <a:bodyPr anchor="t" rtlCol="false" tIns="0" lIns="0" bIns="0" rIns="0">
            <a:spAutoFit/>
          </a:bodyPr>
          <a:lstStyle/>
          <a:p>
            <a:pPr algn="l">
              <a:lnSpc>
                <a:spcPts val="1620"/>
              </a:lnSpc>
            </a:pPr>
            <a:r>
              <a:rPr lang="en-US" sz="1350" b="true">
                <a:solidFill>
                  <a:srgbClr val="6E5BAA"/>
                </a:solidFill>
                <a:latin typeface="Lato Bold"/>
                <a:ea typeface="Lato Bold"/>
                <a:cs typeface="Lato Bold"/>
                <a:sym typeface="Lato Bold"/>
              </a:rPr>
              <a:t>TOO BASIC TO ASK</a:t>
            </a:r>
          </a:p>
        </p:txBody>
      </p:sp>
      <p:sp>
        <p:nvSpPr>
          <p:cNvPr name="TextBox 28" id="28"/>
          <p:cNvSpPr txBox="true"/>
          <p:nvPr/>
        </p:nvSpPr>
        <p:spPr>
          <a:xfrm rot="0">
            <a:off x="8929688" y="6143625"/>
            <a:ext cx="7715250" cy="428625"/>
          </a:xfrm>
          <a:prstGeom prst="rect">
            <a:avLst/>
          </a:prstGeom>
        </p:spPr>
        <p:txBody>
          <a:bodyPr anchor="t" rtlCol="false" tIns="0" lIns="0" bIns="0" rIns="0">
            <a:spAutoFit/>
          </a:bodyPr>
          <a:lstStyle/>
          <a:p>
            <a:pPr algn="l">
              <a:lnSpc>
                <a:spcPts val="2565"/>
              </a:lnSpc>
            </a:pPr>
            <a:r>
              <a:rPr lang="en-US" sz="2137">
                <a:solidFill>
                  <a:srgbClr val="2D180B"/>
                </a:solidFill>
                <a:latin typeface="Lato"/>
                <a:ea typeface="Lato"/>
                <a:cs typeface="Lato"/>
                <a:sym typeface="Lato"/>
              </a:rPr>
              <a:t>Anxiety turns a small blocker into a stall.</a:t>
            </a:r>
          </a:p>
        </p:txBody>
      </p:sp>
      <p:sp>
        <p:nvSpPr>
          <p:cNvPr name="AutoShape 29" id="29"/>
          <p:cNvSpPr/>
          <p:nvPr/>
        </p:nvSpPr>
        <p:spPr>
          <a:xfrm rot="12480">
            <a:off x="8915371" y="6762750"/>
            <a:ext cx="7886748" cy="0"/>
          </a:xfrm>
          <a:prstGeom prst="line">
            <a:avLst/>
          </a:prstGeom>
          <a:ln cap="rnd" w="19050">
            <a:solidFill>
              <a:srgbClr val="EDCFAD"/>
            </a:solidFill>
            <a:prstDash val="solid"/>
            <a:headEnd type="none" len="sm" w="sm"/>
            <a:tailEnd type="none" len="sm" w="sm"/>
          </a:ln>
        </p:spPr>
      </p:sp>
      <p:grpSp>
        <p:nvGrpSpPr>
          <p:cNvPr name="Group 30" id="30"/>
          <p:cNvGrpSpPr/>
          <p:nvPr/>
        </p:nvGrpSpPr>
        <p:grpSpPr>
          <a:xfrm rot="0">
            <a:off x="8001000" y="6972300"/>
            <a:ext cx="600075" cy="600075"/>
            <a:chOff x="0" y="0"/>
            <a:chExt cx="800100" cy="800100"/>
          </a:xfrm>
        </p:grpSpPr>
        <p:sp>
          <p:nvSpPr>
            <p:cNvPr name="Freeform 31" id="31"/>
            <p:cNvSpPr/>
            <p:nvPr/>
          </p:nvSpPr>
          <p:spPr>
            <a:xfrm flipH="false" flipV="false" rot="0">
              <a:off x="0" y="0"/>
              <a:ext cx="800100" cy="800100"/>
            </a:xfrm>
            <a:custGeom>
              <a:avLst/>
              <a:gdLst/>
              <a:ahLst/>
              <a:cxnLst/>
              <a:rect r="r" b="b" t="t" l="l"/>
              <a:pathLst>
                <a:path h="800100" w="800100">
                  <a:moveTo>
                    <a:pt x="0" y="400050"/>
                  </a:moveTo>
                  <a:cubicBezTo>
                    <a:pt x="0" y="179070"/>
                    <a:pt x="179070" y="0"/>
                    <a:pt x="400050" y="0"/>
                  </a:cubicBezTo>
                  <a:cubicBezTo>
                    <a:pt x="621030" y="0"/>
                    <a:pt x="800100" y="179070"/>
                    <a:pt x="800100" y="400050"/>
                  </a:cubicBezTo>
                  <a:cubicBezTo>
                    <a:pt x="800100" y="621030"/>
                    <a:pt x="621030" y="800100"/>
                    <a:pt x="400050" y="800100"/>
                  </a:cubicBezTo>
                  <a:cubicBezTo>
                    <a:pt x="179070" y="800100"/>
                    <a:pt x="0" y="621030"/>
                    <a:pt x="0" y="400050"/>
                  </a:cubicBezTo>
                  <a:close/>
                </a:path>
              </a:pathLst>
            </a:custGeom>
            <a:solidFill>
              <a:srgbClr val="2E9B62"/>
            </a:solidFill>
            <a:ln cap="sq">
              <a:noFill/>
              <a:prstDash val="solid"/>
              <a:miter/>
            </a:ln>
          </p:spPr>
        </p:sp>
        <p:sp>
          <p:nvSpPr>
            <p:cNvPr name="TextBox 32" id="32"/>
            <p:cNvSpPr txBox="true"/>
            <p:nvPr/>
          </p:nvSpPr>
          <p:spPr>
            <a:xfrm>
              <a:off x="0" y="-9525"/>
              <a:ext cx="800100" cy="809625"/>
            </a:xfrm>
            <a:prstGeom prst="rect">
              <a:avLst/>
            </a:prstGeom>
          </p:spPr>
          <p:txBody>
            <a:bodyPr anchor="ctr" rtlCol="false" tIns="50800" lIns="50800" bIns="50800" rIns="50800"/>
            <a:lstStyle/>
            <a:p>
              <a:pPr algn="ctr">
                <a:lnSpc>
                  <a:spcPts val="2160"/>
                </a:lnSpc>
              </a:pPr>
              <a:r>
                <a:rPr lang="en-US" sz="1800" b="true">
                  <a:solidFill>
                    <a:srgbClr val="FFFFFF"/>
                  </a:solidFill>
                  <a:latin typeface="Lato Bold"/>
                  <a:ea typeface="Lato Bold"/>
                  <a:cs typeface="Lato Bold"/>
                  <a:sym typeface="Lato Bold"/>
                </a:rPr>
                <a:t>3</a:t>
              </a:r>
            </a:p>
          </p:txBody>
        </p:sp>
      </p:grpSp>
      <p:sp>
        <p:nvSpPr>
          <p:cNvPr name="TextBox 33" id="33"/>
          <p:cNvSpPr txBox="true"/>
          <p:nvPr/>
        </p:nvSpPr>
        <p:spPr>
          <a:xfrm rot="0">
            <a:off x="8929688" y="6977063"/>
            <a:ext cx="7143750" cy="266700"/>
          </a:xfrm>
          <a:prstGeom prst="rect">
            <a:avLst/>
          </a:prstGeom>
        </p:spPr>
        <p:txBody>
          <a:bodyPr anchor="t" rtlCol="false" tIns="0" lIns="0" bIns="0" rIns="0">
            <a:spAutoFit/>
          </a:bodyPr>
          <a:lstStyle/>
          <a:p>
            <a:pPr algn="l">
              <a:lnSpc>
                <a:spcPts val="1620"/>
              </a:lnSpc>
            </a:pPr>
            <a:r>
              <a:rPr lang="en-US" sz="1350" b="true">
                <a:solidFill>
                  <a:srgbClr val="2E9B62"/>
                </a:solidFill>
                <a:latin typeface="Lato Bold"/>
                <a:ea typeface="Lato Bold"/>
                <a:cs typeface="Lato Bold"/>
                <a:sym typeface="Lato Bold"/>
              </a:rPr>
              <a:t>TOO EXPENSIVE / TOO CROWDED</a:t>
            </a:r>
          </a:p>
        </p:txBody>
      </p:sp>
      <p:sp>
        <p:nvSpPr>
          <p:cNvPr name="TextBox 34" id="34"/>
          <p:cNvSpPr txBox="true"/>
          <p:nvPr/>
        </p:nvSpPr>
        <p:spPr>
          <a:xfrm rot="0">
            <a:off x="8929688" y="7343775"/>
            <a:ext cx="7715250" cy="428625"/>
          </a:xfrm>
          <a:prstGeom prst="rect">
            <a:avLst/>
          </a:prstGeom>
        </p:spPr>
        <p:txBody>
          <a:bodyPr anchor="t" rtlCol="false" tIns="0" lIns="0" bIns="0" rIns="0">
            <a:spAutoFit/>
          </a:bodyPr>
          <a:lstStyle/>
          <a:p>
            <a:pPr algn="l">
              <a:lnSpc>
                <a:spcPts val="2565"/>
              </a:lnSpc>
            </a:pPr>
            <a:r>
              <a:rPr lang="en-US" sz="2137">
                <a:solidFill>
                  <a:srgbClr val="2D180B"/>
                </a:solidFill>
                <a:latin typeface="Lato"/>
                <a:ea typeface="Lato"/>
                <a:cs typeface="Lato"/>
                <a:sym typeface="Lato"/>
              </a:rPr>
              <a:t>Existing options miss the moment of practice.</a:t>
            </a:r>
          </a:p>
        </p:txBody>
      </p:sp>
      <p:grpSp>
        <p:nvGrpSpPr>
          <p:cNvPr name="Group 35" id="35"/>
          <p:cNvGrpSpPr/>
          <p:nvPr/>
        </p:nvGrpSpPr>
        <p:grpSpPr>
          <a:xfrm rot="0">
            <a:off x="964406" y="8565356"/>
            <a:ext cx="15901988" cy="728662"/>
            <a:chOff x="0" y="0"/>
            <a:chExt cx="21202650" cy="971550"/>
          </a:xfrm>
        </p:grpSpPr>
        <p:sp>
          <p:nvSpPr>
            <p:cNvPr name="Freeform 36" id="36"/>
            <p:cNvSpPr/>
            <p:nvPr/>
          </p:nvSpPr>
          <p:spPr>
            <a:xfrm flipH="false" flipV="false" rot="0">
              <a:off x="0" y="0"/>
              <a:ext cx="21202650" cy="971550"/>
            </a:xfrm>
            <a:custGeom>
              <a:avLst/>
              <a:gdLst/>
              <a:ahLst/>
              <a:cxnLst/>
              <a:rect r="r" b="b" t="t" l="l"/>
              <a:pathLst>
                <a:path h="971550" w="21202650">
                  <a:moveTo>
                    <a:pt x="0" y="310896"/>
                  </a:moveTo>
                  <a:cubicBezTo>
                    <a:pt x="0" y="139192"/>
                    <a:pt x="139192" y="0"/>
                    <a:pt x="310896" y="0"/>
                  </a:cubicBezTo>
                  <a:lnTo>
                    <a:pt x="20891754" y="0"/>
                  </a:lnTo>
                  <a:cubicBezTo>
                    <a:pt x="21063458" y="0"/>
                    <a:pt x="21202650" y="139192"/>
                    <a:pt x="21202650" y="310896"/>
                  </a:cubicBezTo>
                  <a:lnTo>
                    <a:pt x="21202650" y="660654"/>
                  </a:lnTo>
                  <a:cubicBezTo>
                    <a:pt x="21202650" y="832358"/>
                    <a:pt x="21063458" y="971550"/>
                    <a:pt x="20891754" y="971550"/>
                  </a:cubicBezTo>
                  <a:lnTo>
                    <a:pt x="310896" y="971550"/>
                  </a:lnTo>
                  <a:cubicBezTo>
                    <a:pt x="139192" y="971550"/>
                    <a:pt x="0" y="832358"/>
                    <a:pt x="0" y="660654"/>
                  </a:cubicBezTo>
                  <a:close/>
                </a:path>
              </a:pathLst>
            </a:custGeom>
            <a:solidFill>
              <a:srgbClr val="FF8500"/>
            </a:solidFill>
            <a:ln w="14288" cap="sq">
              <a:solidFill>
                <a:srgbClr val="FF8500"/>
              </a:solidFill>
              <a:prstDash val="solid"/>
              <a:miter/>
            </a:ln>
          </p:spPr>
        </p:sp>
      </p:grpSp>
      <p:sp>
        <p:nvSpPr>
          <p:cNvPr name="TextBox 37" id="37"/>
          <p:cNvSpPr txBox="true"/>
          <p:nvPr/>
        </p:nvSpPr>
        <p:spPr>
          <a:xfrm rot="0">
            <a:off x="1371600" y="8801100"/>
            <a:ext cx="2428875" cy="257175"/>
          </a:xfrm>
          <a:prstGeom prst="rect">
            <a:avLst/>
          </a:prstGeom>
        </p:spPr>
        <p:txBody>
          <a:bodyPr anchor="t" rtlCol="false" tIns="0" lIns="0" bIns="0" rIns="0">
            <a:spAutoFit/>
          </a:bodyPr>
          <a:lstStyle/>
          <a:p>
            <a:pPr algn="l">
              <a:lnSpc>
                <a:spcPts val="1485"/>
              </a:lnSpc>
            </a:pPr>
            <a:r>
              <a:rPr lang="en-US" sz="1237" b="true">
                <a:solidFill>
                  <a:srgbClr val="2D180B"/>
                </a:solidFill>
                <a:latin typeface="Lato Bold"/>
                <a:ea typeface="Lato Bold"/>
                <a:cs typeface="Lato Bold"/>
                <a:sym typeface="Lato Bold"/>
              </a:rPr>
              <a:t>PRODUCT IMPLICATION</a:t>
            </a:r>
          </a:p>
        </p:txBody>
      </p:sp>
      <p:sp>
        <p:nvSpPr>
          <p:cNvPr name="TextBox 38" id="38"/>
          <p:cNvSpPr txBox="true"/>
          <p:nvPr/>
        </p:nvSpPr>
        <p:spPr>
          <a:xfrm rot="0">
            <a:off x="4214812" y="8734425"/>
            <a:ext cx="11858625" cy="409575"/>
          </a:xfrm>
          <a:prstGeom prst="rect">
            <a:avLst/>
          </a:prstGeom>
        </p:spPr>
        <p:txBody>
          <a:bodyPr anchor="t" rtlCol="false" tIns="0" lIns="0" bIns="0" rIns="0">
            <a:spAutoFit/>
          </a:bodyPr>
          <a:lstStyle/>
          <a:p>
            <a:pPr algn="l">
              <a:lnSpc>
                <a:spcPts val="2700"/>
              </a:lnSpc>
            </a:pPr>
            <a:r>
              <a:rPr lang="en-US" sz="2250" b="true">
                <a:solidFill>
                  <a:srgbClr val="2D180B"/>
                </a:solidFill>
                <a:latin typeface="Lato Bold"/>
                <a:ea typeface="Lato Bold"/>
                <a:cs typeface="Lato Bold"/>
                <a:sym typeface="Lato Bold"/>
              </a:rPr>
              <a:t>Make the next step available, private, and easy to try.</a:t>
            </a:r>
          </a:p>
        </p:txBody>
      </p:sp>
      <p:sp>
        <p:nvSpPr>
          <p:cNvPr name="TextBox 39" id="39"/>
          <p:cNvSpPr txBox="true"/>
          <p:nvPr/>
        </p:nvSpPr>
        <p:spPr>
          <a:xfrm rot="0">
            <a:off x="914400" y="9744075"/>
            <a:ext cx="13144500" cy="257175"/>
          </a:xfrm>
          <a:prstGeom prst="rect">
            <a:avLst/>
          </a:prstGeom>
        </p:spPr>
        <p:txBody>
          <a:bodyPr anchor="t" rtlCol="false" tIns="0" lIns="0" bIns="0" rIns="0">
            <a:spAutoFit/>
          </a:bodyPr>
          <a:lstStyle/>
          <a:p>
            <a:pPr algn="l">
              <a:lnSpc>
                <a:spcPts val="1485"/>
              </a:lnSpc>
            </a:pPr>
            <a:r>
              <a:rPr lang="en-US" sz="1237">
                <a:solidFill>
                  <a:srgbClr val="7D5C42"/>
                </a:solidFill>
                <a:latin typeface="Lato"/>
                <a:ea typeface="Lato"/>
                <a:cs typeface="Lato"/>
                <a:sym typeface="Lato"/>
              </a:rPr>
              <a:t>Evidence status: observed. Horus University conversations.</a:t>
            </a: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FFD5A3"/>
        </a:solidFill>
      </p:bgPr>
    </p:bg>
    <p:spTree>
      <p:nvGrpSpPr>
        <p:cNvPr id="1" name=""/>
        <p:cNvGrpSpPr/>
        <p:nvPr/>
      </p:nvGrpSpPr>
      <p:grpSpPr>
        <a:xfrm>
          <a:off x="0" y="0"/>
          <a:ext cx="0" cy="0"/>
          <a:chOff x="0" y="0"/>
          <a:chExt cx="0" cy="0"/>
        </a:xfrm>
      </p:grpSpPr>
      <p:sp>
        <p:nvSpPr>
          <p:cNvPr name="TextBox 2" id="2"/>
          <p:cNvSpPr txBox="true"/>
          <p:nvPr/>
        </p:nvSpPr>
        <p:spPr>
          <a:xfrm rot="0">
            <a:off x="914400" y="390525"/>
            <a:ext cx="1857375" cy="466725"/>
          </a:xfrm>
          <a:prstGeom prst="rect">
            <a:avLst/>
          </a:prstGeom>
        </p:spPr>
        <p:txBody>
          <a:bodyPr anchor="t" rtlCol="false" tIns="0" lIns="0" bIns="0" rIns="0">
            <a:spAutoFit/>
          </a:bodyPr>
          <a:lstStyle/>
          <a:p>
            <a:pPr algn="l">
              <a:lnSpc>
                <a:spcPts val="3104"/>
              </a:lnSpc>
            </a:pPr>
            <a:r>
              <a:rPr lang="en-US" sz="2587" b="true">
                <a:solidFill>
                  <a:srgbClr val="FF8500"/>
                </a:solidFill>
                <a:latin typeface="Lato Bold"/>
                <a:ea typeface="Lato Bold"/>
                <a:cs typeface="Lato Bold"/>
                <a:sym typeface="Lato Bold"/>
              </a:rPr>
              <a:t>bataa</a:t>
            </a:r>
          </a:p>
        </p:txBody>
      </p:sp>
      <p:sp>
        <p:nvSpPr>
          <p:cNvPr name="TextBox 3" id="3"/>
          <p:cNvSpPr txBox="true"/>
          <p:nvPr/>
        </p:nvSpPr>
        <p:spPr>
          <a:xfrm rot="0">
            <a:off x="3171825" y="461963"/>
            <a:ext cx="6000750" cy="323850"/>
          </a:xfrm>
          <a:prstGeom prst="rect">
            <a:avLst/>
          </a:prstGeom>
        </p:spPr>
        <p:txBody>
          <a:bodyPr anchor="t" rtlCol="false" tIns="0" lIns="0" bIns="0" rIns="0">
            <a:spAutoFit/>
          </a:bodyPr>
          <a:lstStyle/>
          <a:p>
            <a:pPr algn="l">
              <a:lnSpc>
                <a:spcPts val="1620"/>
              </a:lnSpc>
            </a:pPr>
            <a:r>
              <a:rPr lang="en-US" b="true" sz="1350">
                <a:solidFill>
                  <a:srgbClr val="2D180B"/>
                </a:solidFill>
                <a:latin typeface="Lato Bold"/>
                <a:ea typeface="Lato Bold"/>
                <a:cs typeface="Lato Bold"/>
                <a:sym typeface="Lato Bold"/>
              </a:rPr>
              <a:t>INSIGHT</a:t>
            </a:r>
          </a:p>
        </p:txBody>
      </p:sp>
      <p:sp>
        <p:nvSpPr>
          <p:cNvPr name="TextBox 4" id="4"/>
          <p:cNvSpPr txBox="true"/>
          <p:nvPr/>
        </p:nvSpPr>
        <p:spPr>
          <a:xfrm rot="0">
            <a:off x="16859250" y="442912"/>
            <a:ext cx="514350" cy="342900"/>
          </a:xfrm>
          <a:prstGeom prst="rect">
            <a:avLst/>
          </a:prstGeom>
        </p:spPr>
        <p:txBody>
          <a:bodyPr anchor="t" rtlCol="false" tIns="0" lIns="0" bIns="0" rIns="0">
            <a:spAutoFit/>
          </a:bodyPr>
          <a:lstStyle/>
          <a:p>
            <a:pPr algn="r">
              <a:lnSpc>
                <a:spcPts val="1889"/>
              </a:lnSpc>
            </a:pPr>
            <a:r>
              <a:rPr lang="en-US" sz="1575" b="true">
                <a:solidFill>
                  <a:srgbClr val="FFF6E9"/>
                </a:solidFill>
                <a:latin typeface="Lato Bold"/>
                <a:ea typeface="Lato Bold"/>
                <a:cs typeface="Lato Bold"/>
                <a:sym typeface="Lato Bold"/>
              </a:rPr>
              <a:t>04</a:t>
            </a:r>
          </a:p>
        </p:txBody>
      </p:sp>
      <p:sp>
        <p:nvSpPr>
          <p:cNvPr name="AutoShape 5" id="5"/>
          <p:cNvSpPr/>
          <p:nvPr/>
        </p:nvSpPr>
        <p:spPr>
          <a:xfrm rot="3000">
            <a:off x="907256" y="981075"/>
            <a:ext cx="16473497" cy="0"/>
          </a:xfrm>
          <a:prstGeom prst="line">
            <a:avLst/>
          </a:prstGeom>
          <a:ln cap="rnd" w="9525">
            <a:solidFill>
              <a:srgbClr val="5D3B27"/>
            </a:solidFill>
            <a:prstDash val="solid"/>
            <a:headEnd type="none" len="sm" w="sm"/>
            <a:tailEnd type="none" len="sm" w="sm"/>
          </a:ln>
        </p:spPr>
      </p:sp>
      <p:sp>
        <p:nvSpPr>
          <p:cNvPr name="TextBox 6" id="6"/>
          <p:cNvSpPr txBox="true"/>
          <p:nvPr/>
        </p:nvSpPr>
        <p:spPr>
          <a:xfrm rot="0">
            <a:off x="907259" y="1850231"/>
            <a:ext cx="12858750" cy="1181100"/>
          </a:xfrm>
          <a:prstGeom prst="rect">
            <a:avLst/>
          </a:prstGeom>
        </p:spPr>
        <p:txBody>
          <a:bodyPr anchor="t" rtlCol="false" tIns="0" lIns="0" bIns="0" rIns="0">
            <a:spAutoFit/>
          </a:bodyPr>
          <a:lstStyle/>
          <a:p>
            <a:pPr algn="l">
              <a:lnSpc>
                <a:spcPts val="6750"/>
              </a:lnSpc>
            </a:pPr>
            <a:r>
              <a:rPr lang="en-US" b="true" sz="5625">
                <a:solidFill>
                  <a:srgbClr val="2D180B"/>
                </a:solidFill>
                <a:latin typeface="Lato Bold"/>
                <a:ea typeface="Lato Bold"/>
                <a:cs typeface="Lato Bold"/>
                <a:sym typeface="Lato Bold"/>
              </a:rPr>
              <a:t>The missing layer is contextual guidance</a:t>
            </a:r>
          </a:p>
        </p:txBody>
      </p:sp>
      <p:sp>
        <p:nvSpPr>
          <p:cNvPr name="TextBox 7" id="7"/>
          <p:cNvSpPr txBox="true"/>
          <p:nvPr/>
        </p:nvSpPr>
        <p:spPr>
          <a:xfrm rot="0">
            <a:off x="957262" y="3031331"/>
            <a:ext cx="10429875" cy="742950"/>
          </a:xfrm>
          <a:prstGeom prst="rect">
            <a:avLst/>
          </a:prstGeom>
        </p:spPr>
        <p:txBody>
          <a:bodyPr anchor="t" rtlCol="false" tIns="0" lIns="0" bIns="0" rIns="0">
            <a:spAutoFit/>
          </a:bodyPr>
          <a:lstStyle/>
          <a:p>
            <a:pPr algn="l">
              <a:lnSpc>
                <a:spcPts val="2970"/>
              </a:lnSpc>
            </a:pPr>
            <a:r>
              <a:rPr lang="en-US" sz="2475">
                <a:solidFill>
                  <a:srgbClr val="2D180B"/>
                </a:solidFill>
                <a:latin typeface="Lato"/>
                <a:ea typeface="Lato"/>
                <a:cs typeface="Lato"/>
                <a:sym typeface="Lato"/>
              </a:rPr>
              <a:t>Bataa helps at the exact moment the learner has to make a move.</a:t>
            </a:r>
          </a:p>
        </p:txBody>
      </p:sp>
      <p:grpSp>
        <p:nvGrpSpPr>
          <p:cNvPr name="Group 8" id="8"/>
          <p:cNvGrpSpPr/>
          <p:nvPr/>
        </p:nvGrpSpPr>
        <p:grpSpPr>
          <a:xfrm rot="0">
            <a:off x="1021556" y="4279106"/>
            <a:ext cx="5872162" cy="3157538"/>
            <a:chOff x="0" y="0"/>
            <a:chExt cx="7829550" cy="4210050"/>
          </a:xfrm>
        </p:grpSpPr>
        <p:sp>
          <p:nvSpPr>
            <p:cNvPr name="Freeform 9" id="9"/>
            <p:cNvSpPr/>
            <p:nvPr/>
          </p:nvSpPr>
          <p:spPr>
            <a:xfrm flipH="false" flipV="false" rot="0">
              <a:off x="0" y="0"/>
              <a:ext cx="7829550" cy="4210050"/>
            </a:xfrm>
            <a:custGeom>
              <a:avLst/>
              <a:gdLst/>
              <a:ahLst/>
              <a:cxnLst/>
              <a:rect r="r" b="b" t="t" l="l"/>
              <a:pathLst>
                <a:path h="4210050" w="7829550">
                  <a:moveTo>
                    <a:pt x="0" y="306197"/>
                  </a:moveTo>
                  <a:cubicBezTo>
                    <a:pt x="0" y="137033"/>
                    <a:pt x="137033" y="0"/>
                    <a:pt x="306197" y="0"/>
                  </a:cubicBezTo>
                  <a:lnTo>
                    <a:pt x="7523353" y="0"/>
                  </a:lnTo>
                  <a:cubicBezTo>
                    <a:pt x="7692517" y="0"/>
                    <a:pt x="7829550" y="137033"/>
                    <a:pt x="7829550" y="306197"/>
                  </a:cubicBezTo>
                  <a:lnTo>
                    <a:pt x="7829550" y="3903853"/>
                  </a:lnTo>
                  <a:cubicBezTo>
                    <a:pt x="7829550" y="4073017"/>
                    <a:pt x="7692517" y="4210050"/>
                    <a:pt x="7523353" y="4210050"/>
                  </a:cubicBezTo>
                  <a:lnTo>
                    <a:pt x="306197" y="4210050"/>
                  </a:lnTo>
                  <a:cubicBezTo>
                    <a:pt x="137033" y="4210050"/>
                    <a:pt x="0" y="4073017"/>
                    <a:pt x="0" y="3903853"/>
                  </a:cubicBezTo>
                  <a:close/>
                </a:path>
              </a:pathLst>
            </a:custGeom>
            <a:solidFill>
              <a:srgbClr val="F78A17"/>
            </a:solidFill>
            <a:ln w="14288" cap="sq">
              <a:solidFill>
                <a:srgbClr val="FFB557"/>
              </a:solidFill>
              <a:prstDash val="solid"/>
              <a:miter/>
            </a:ln>
          </p:spPr>
        </p:sp>
      </p:grpSp>
      <p:grpSp>
        <p:nvGrpSpPr>
          <p:cNvPr name="Group 10" id="10"/>
          <p:cNvGrpSpPr/>
          <p:nvPr/>
        </p:nvGrpSpPr>
        <p:grpSpPr>
          <a:xfrm rot="0">
            <a:off x="1500188" y="4786312"/>
            <a:ext cx="1857375" cy="428625"/>
            <a:chOff x="0" y="0"/>
            <a:chExt cx="2476500" cy="571500"/>
          </a:xfrm>
        </p:grpSpPr>
        <p:sp>
          <p:nvSpPr>
            <p:cNvPr name="Freeform 11" id="11"/>
            <p:cNvSpPr/>
            <p:nvPr/>
          </p:nvSpPr>
          <p:spPr>
            <a:xfrm flipH="false" flipV="false" rot="0">
              <a:off x="0" y="0"/>
              <a:ext cx="2476500" cy="571500"/>
            </a:xfrm>
            <a:custGeom>
              <a:avLst/>
              <a:gdLst/>
              <a:ahLst/>
              <a:cxnLst/>
              <a:rect r="r" b="b" t="t" l="l"/>
              <a:pathLst>
                <a:path h="571500" w="2476500">
                  <a:moveTo>
                    <a:pt x="0" y="285750"/>
                  </a:moveTo>
                  <a:cubicBezTo>
                    <a:pt x="0" y="127889"/>
                    <a:pt x="127889" y="0"/>
                    <a:pt x="285750" y="0"/>
                  </a:cubicBezTo>
                  <a:lnTo>
                    <a:pt x="2190750" y="0"/>
                  </a:lnTo>
                  <a:cubicBezTo>
                    <a:pt x="2348611" y="0"/>
                    <a:pt x="2476500" y="127889"/>
                    <a:pt x="2476500" y="285750"/>
                  </a:cubicBezTo>
                  <a:cubicBezTo>
                    <a:pt x="2476500" y="443611"/>
                    <a:pt x="2348611" y="571500"/>
                    <a:pt x="2190750" y="571500"/>
                  </a:cubicBezTo>
                  <a:lnTo>
                    <a:pt x="285750" y="571500"/>
                  </a:lnTo>
                  <a:cubicBezTo>
                    <a:pt x="127889" y="571500"/>
                    <a:pt x="0" y="443611"/>
                    <a:pt x="0" y="285750"/>
                  </a:cubicBezTo>
                  <a:close/>
                </a:path>
              </a:pathLst>
            </a:custGeom>
            <a:solidFill>
              <a:srgbClr val="FFF6E9"/>
            </a:solidFill>
            <a:ln cap="sq">
              <a:noFill/>
              <a:prstDash val="solid"/>
              <a:miter/>
            </a:ln>
          </p:spPr>
        </p:sp>
        <p:sp>
          <p:nvSpPr>
            <p:cNvPr name="TextBox 12" id="12"/>
            <p:cNvSpPr txBox="true"/>
            <p:nvPr/>
          </p:nvSpPr>
          <p:spPr>
            <a:xfrm>
              <a:off x="0" y="0"/>
              <a:ext cx="2476500" cy="571500"/>
            </a:xfrm>
            <a:prstGeom prst="rect">
              <a:avLst/>
            </a:prstGeom>
          </p:spPr>
          <p:txBody>
            <a:bodyPr anchor="ctr" rtlCol="false" tIns="50800" lIns="50800" bIns="50800" rIns="50800"/>
            <a:lstStyle/>
            <a:p>
              <a:pPr algn="ctr">
                <a:lnSpc>
                  <a:spcPts val="1755"/>
                </a:lnSpc>
              </a:pPr>
              <a:r>
                <a:rPr lang="en-US" sz="1462" b="true">
                  <a:solidFill>
                    <a:srgbClr val="C45300"/>
                  </a:solidFill>
                  <a:latin typeface="Lato Bold"/>
                  <a:ea typeface="Lato Bold"/>
                  <a:cs typeface="Lato Bold"/>
                  <a:sym typeface="Lato Bold"/>
                </a:rPr>
                <a:t>CONTENT ONLY</a:t>
              </a:r>
            </a:p>
          </p:txBody>
        </p:sp>
      </p:grpSp>
      <p:sp>
        <p:nvSpPr>
          <p:cNvPr name="TextBox 13" id="13"/>
          <p:cNvSpPr txBox="true"/>
          <p:nvPr/>
        </p:nvSpPr>
        <p:spPr>
          <a:xfrm rot="0">
            <a:off x="1500188" y="5572125"/>
            <a:ext cx="4983021" cy="390525"/>
          </a:xfrm>
          <a:prstGeom prst="rect">
            <a:avLst/>
          </a:prstGeom>
        </p:spPr>
        <p:txBody>
          <a:bodyPr anchor="t" rtlCol="false" tIns="0" lIns="0" bIns="0" rIns="0">
            <a:spAutoFit/>
          </a:bodyPr>
          <a:lstStyle/>
          <a:p>
            <a:pPr algn="l">
              <a:lnSpc>
                <a:spcPts val="3093"/>
              </a:lnSpc>
            </a:pPr>
            <a:r>
              <a:rPr lang="en-US" sz="2578" b="true">
                <a:solidFill>
                  <a:srgbClr val="2D180B"/>
                </a:solidFill>
                <a:latin typeface="Lato Bold"/>
                <a:ea typeface="Lato Bold"/>
                <a:cs typeface="Lato Bold"/>
                <a:sym typeface="Lato Bold"/>
              </a:rPr>
              <a:t>Watch → pause → search → stall</a:t>
            </a:r>
          </a:p>
        </p:txBody>
      </p:sp>
      <p:sp>
        <p:nvSpPr>
          <p:cNvPr name="TextBox 14" id="14"/>
          <p:cNvSpPr txBox="true"/>
          <p:nvPr/>
        </p:nvSpPr>
        <p:spPr>
          <a:xfrm rot="0">
            <a:off x="1500188" y="6315075"/>
            <a:ext cx="4672012" cy="542925"/>
          </a:xfrm>
          <a:prstGeom prst="rect">
            <a:avLst/>
          </a:prstGeom>
        </p:spPr>
        <p:txBody>
          <a:bodyPr anchor="t" rtlCol="false" tIns="0" lIns="0" bIns="0" rIns="0">
            <a:spAutoFit/>
          </a:bodyPr>
          <a:lstStyle/>
          <a:p>
            <a:pPr algn="l">
              <a:lnSpc>
                <a:spcPts val="2137"/>
              </a:lnSpc>
            </a:pPr>
            <a:r>
              <a:rPr lang="en-US" sz="1781">
                <a:solidFill>
                  <a:srgbClr val="2D180B"/>
                </a:solidFill>
                <a:latin typeface="Lato"/>
                <a:ea typeface="Lato"/>
                <a:cs typeface="Lato"/>
                <a:sym typeface="Lato"/>
              </a:rPr>
              <a:t>The learner has to translate theory into the next action alone.</a:t>
            </a:r>
          </a:p>
        </p:txBody>
      </p:sp>
      <p:sp>
        <p:nvSpPr>
          <p:cNvPr name="AutoShape 15" id="15"/>
          <p:cNvSpPr/>
          <p:nvPr/>
        </p:nvSpPr>
        <p:spPr>
          <a:xfrm>
            <a:off x="7528822" y="5791203"/>
            <a:ext cx="2658856" cy="0"/>
          </a:xfrm>
          <a:prstGeom prst="line">
            <a:avLst/>
          </a:prstGeom>
          <a:ln cap="rnd" w="47625">
            <a:solidFill>
              <a:srgbClr val="FFF6E9"/>
            </a:solidFill>
            <a:prstDash val="solid"/>
            <a:headEnd type="none" len="sm" w="sm"/>
            <a:tailEnd type="none" len="sm" w="sm"/>
          </a:ln>
        </p:spPr>
      </p:sp>
      <p:grpSp>
        <p:nvGrpSpPr>
          <p:cNvPr name="Group 16" id="16"/>
          <p:cNvGrpSpPr/>
          <p:nvPr/>
        </p:nvGrpSpPr>
        <p:grpSpPr>
          <a:xfrm rot="0">
            <a:off x="8458200" y="5434016"/>
            <a:ext cx="714375" cy="714375"/>
            <a:chOff x="0" y="0"/>
            <a:chExt cx="952500" cy="952500"/>
          </a:xfrm>
        </p:grpSpPr>
        <p:sp>
          <p:nvSpPr>
            <p:cNvPr name="Freeform 17" id="17"/>
            <p:cNvSpPr/>
            <p:nvPr/>
          </p:nvSpPr>
          <p:spPr>
            <a:xfrm flipH="false" flipV="false" rot="0">
              <a:off x="0" y="0"/>
              <a:ext cx="952500" cy="952500"/>
            </a:xfrm>
            <a:custGeom>
              <a:avLst/>
              <a:gdLst/>
              <a:ahLst/>
              <a:cxnLst/>
              <a:rect r="r" b="b" t="t" l="l"/>
              <a:pathLst>
                <a:path h="952500" w="952500">
                  <a:moveTo>
                    <a:pt x="0" y="476250"/>
                  </a:moveTo>
                  <a:cubicBezTo>
                    <a:pt x="0" y="213233"/>
                    <a:pt x="213233" y="0"/>
                    <a:pt x="476250" y="0"/>
                  </a:cubicBezTo>
                  <a:cubicBezTo>
                    <a:pt x="739267" y="0"/>
                    <a:pt x="952500" y="213233"/>
                    <a:pt x="952500" y="476250"/>
                  </a:cubicBezTo>
                  <a:cubicBezTo>
                    <a:pt x="952500" y="739267"/>
                    <a:pt x="739267" y="952500"/>
                    <a:pt x="476250" y="952500"/>
                  </a:cubicBezTo>
                  <a:cubicBezTo>
                    <a:pt x="213233" y="952500"/>
                    <a:pt x="0" y="739267"/>
                    <a:pt x="0" y="476250"/>
                  </a:cubicBezTo>
                  <a:close/>
                </a:path>
              </a:pathLst>
            </a:custGeom>
            <a:solidFill>
              <a:srgbClr val="FFF6E9"/>
            </a:solidFill>
            <a:ln cap="sq">
              <a:noFill/>
              <a:prstDash val="solid"/>
              <a:miter/>
            </a:ln>
          </p:spPr>
        </p:sp>
        <p:sp>
          <p:nvSpPr>
            <p:cNvPr name="TextBox 18" id="18"/>
            <p:cNvSpPr txBox="true"/>
            <p:nvPr/>
          </p:nvSpPr>
          <p:spPr>
            <a:xfrm>
              <a:off x="0" y="0"/>
              <a:ext cx="952500" cy="952500"/>
            </a:xfrm>
            <a:prstGeom prst="rect">
              <a:avLst/>
            </a:prstGeom>
          </p:spPr>
          <p:txBody>
            <a:bodyPr anchor="ctr" rtlCol="false" tIns="50800" lIns="50800" bIns="50800" rIns="50800"/>
            <a:lstStyle/>
            <a:p>
              <a:pPr algn="ctr">
                <a:lnSpc>
                  <a:spcPts val="3779"/>
                </a:lnSpc>
              </a:pPr>
              <a:r>
                <a:rPr lang="en-US" sz="3150" b="true">
                  <a:solidFill>
                    <a:srgbClr val="C45300"/>
                  </a:solidFill>
                  <a:latin typeface="Lato Bold"/>
                  <a:ea typeface="Lato Bold"/>
                  <a:cs typeface="Lato Bold"/>
                  <a:sym typeface="Lato Bold"/>
                </a:rPr>
                <a:t>→</a:t>
              </a:r>
            </a:p>
          </p:txBody>
        </p:sp>
      </p:grpSp>
      <p:grpSp>
        <p:nvGrpSpPr>
          <p:cNvPr name="Group 19" id="19"/>
          <p:cNvGrpSpPr/>
          <p:nvPr/>
        </p:nvGrpSpPr>
        <p:grpSpPr>
          <a:xfrm rot="0">
            <a:off x="10537031" y="4279106"/>
            <a:ext cx="6729412" cy="3157538"/>
            <a:chOff x="0" y="0"/>
            <a:chExt cx="8972550" cy="4210050"/>
          </a:xfrm>
        </p:grpSpPr>
        <p:sp>
          <p:nvSpPr>
            <p:cNvPr name="Freeform 20" id="20"/>
            <p:cNvSpPr/>
            <p:nvPr/>
          </p:nvSpPr>
          <p:spPr>
            <a:xfrm flipH="false" flipV="false" rot="0">
              <a:off x="0" y="0"/>
              <a:ext cx="8972550" cy="4210050"/>
            </a:xfrm>
            <a:custGeom>
              <a:avLst/>
              <a:gdLst/>
              <a:ahLst/>
              <a:cxnLst/>
              <a:rect r="r" b="b" t="t" l="l"/>
              <a:pathLst>
                <a:path h="4210050" w="8972550">
                  <a:moveTo>
                    <a:pt x="0" y="306197"/>
                  </a:moveTo>
                  <a:cubicBezTo>
                    <a:pt x="0" y="137033"/>
                    <a:pt x="137033" y="0"/>
                    <a:pt x="306197" y="0"/>
                  </a:cubicBezTo>
                  <a:lnTo>
                    <a:pt x="8666353" y="0"/>
                  </a:lnTo>
                  <a:cubicBezTo>
                    <a:pt x="8835517" y="0"/>
                    <a:pt x="8972550" y="137033"/>
                    <a:pt x="8972550" y="306197"/>
                  </a:cubicBezTo>
                  <a:lnTo>
                    <a:pt x="8972550" y="3903853"/>
                  </a:lnTo>
                  <a:cubicBezTo>
                    <a:pt x="8972550" y="4073017"/>
                    <a:pt x="8835517" y="4210050"/>
                    <a:pt x="8666353" y="4210050"/>
                  </a:cubicBezTo>
                  <a:lnTo>
                    <a:pt x="306197" y="4210050"/>
                  </a:lnTo>
                  <a:cubicBezTo>
                    <a:pt x="137033" y="4210050"/>
                    <a:pt x="0" y="4073017"/>
                    <a:pt x="0" y="3903853"/>
                  </a:cubicBezTo>
                  <a:close/>
                </a:path>
              </a:pathLst>
            </a:custGeom>
            <a:solidFill>
              <a:srgbClr val="FFF6E9"/>
            </a:solidFill>
            <a:ln w="14288" cap="sq">
              <a:solidFill>
                <a:srgbClr val="FFF6E9"/>
              </a:solidFill>
              <a:prstDash val="solid"/>
              <a:miter/>
            </a:ln>
          </p:spPr>
        </p:sp>
      </p:grpSp>
      <p:grpSp>
        <p:nvGrpSpPr>
          <p:cNvPr name="Group 21" id="21"/>
          <p:cNvGrpSpPr/>
          <p:nvPr/>
        </p:nvGrpSpPr>
        <p:grpSpPr>
          <a:xfrm rot="0">
            <a:off x="11029950" y="4786312"/>
            <a:ext cx="1285875" cy="428625"/>
            <a:chOff x="0" y="0"/>
            <a:chExt cx="1714500" cy="571500"/>
          </a:xfrm>
        </p:grpSpPr>
        <p:sp>
          <p:nvSpPr>
            <p:cNvPr name="Freeform 22" id="22"/>
            <p:cNvSpPr/>
            <p:nvPr/>
          </p:nvSpPr>
          <p:spPr>
            <a:xfrm flipH="false" flipV="false" rot="0">
              <a:off x="0" y="0"/>
              <a:ext cx="1714500" cy="571500"/>
            </a:xfrm>
            <a:custGeom>
              <a:avLst/>
              <a:gdLst/>
              <a:ahLst/>
              <a:cxnLst/>
              <a:rect r="r" b="b" t="t" l="l"/>
              <a:pathLst>
                <a:path h="571500" w="1714500">
                  <a:moveTo>
                    <a:pt x="0" y="285750"/>
                  </a:moveTo>
                  <a:cubicBezTo>
                    <a:pt x="0" y="127889"/>
                    <a:pt x="127889" y="0"/>
                    <a:pt x="285750" y="0"/>
                  </a:cubicBezTo>
                  <a:lnTo>
                    <a:pt x="1428750" y="0"/>
                  </a:lnTo>
                  <a:cubicBezTo>
                    <a:pt x="1586611" y="0"/>
                    <a:pt x="1714500" y="127889"/>
                    <a:pt x="1714500" y="285750"/>
                  </a:cubicBezTo>
                  <a:cubicBezTo>
                    <a:pt x="1714500" y="443611"/>
                    <a:pt x="1586611" y="571500"/>
                    <a:pt x="1428750" y="571500"/>
                  </a:cubicBezTo>
                  <a:lnTo>
                    <a:pt x="285750" y="571500"/>
                  </a:lnTo>
                  <a:cubicBezTo>
                    <a:pt x="127889" y="571500"/>
                    <a:pt x="0" y="443611"/>
                    <a:pt x="0" y="285750"/>
                  </a:cubicBezTo>
                  <a:close/>
                </a:path>
              </a:pathLst>
            </a:custGeom>
            <a:solidFill>
              <a:srgbClr val="FF8500"/>
            </a:solidFill>
            <a:ln cap="sq">
              <a:noFill/>
              <a:prstDash val="solid"/>
              <a:miter/>
            </a:ln>
          </p:spPr>
        </p:sp>
        <p:sp>
          <p:nvSpPr>
            <p:cNvPr name="TextBox 23" id="23"/>
            <p:cNvSpPr txBox="true"/>
            <p:nvPr/>
          </p:nvSpPr>
          <p:spPr>
            <a:xfrm>
              <a:off x="0" y="0"/>
              <a:ext cx="1714500" cy="571500"/>
            </a:xfrm>
            <a:prstGeom prst="rect">
              <a:avLst/>
            </a:prstGeom>
          </p:spPr>
          <p:txBody>
            <a:bodyPr anchor="ctr" rtlCol="false" tIns="50800" lIns="50800" bIns="50800" rIns="50800"/>
            <a:lstStyle/>
            <a:p>
              <a:pPr algn="ctr">
                <a:lnSpc>
                  <a:spcPts val="1755"/>
                </a:lnSpc>
              </a:pPr>
              <a:r>
                <a:rPr lang="en-US" sz="1462" b="true">
                  <a:solidFill>
                    <a:srgbClr val="FFF6E9"/>
                  </a:solidFill>
                  <a:latin typeface="Lato Bold"/>
                  <a:ea typeface="Lato Bold"/>
                  <a:cs typeface="Lato Bold"/>
                  <a:sym typeface="Lato Bold"/>
                </a:rPr>
                <a:t>BATAA</a:t>
              </a:r>
            </a:p>
          </p:txBody>
        </p:sp>
      </p:grpSp>
      <p:sp>
        <p:nvSpPr>
          <p:cNvPr name="TextBox 24" id="24"/>
          <p:cNvSpPr txBox="true"/>
          <p:nvPr/>
        </p:nvSpPr>
        <p:spPr>
          <a:xfrm rot="0">
            <a:off x="11029950" y="5562600"/>
            <a:ext cx="5962155" cy="428625"/>
          </a:xfrm>
          <a:prstGeom prst="rect">
            <a:avLst/>
          </a:prstGeom>
        </p:spPr>
        <p:txBody>
          <a:bodyPr anchor="t" rtlCol="false" tIns="0" lIns="0" bIns="0" rIns="0">
            <a:spAutoFit/>
          </a:bodyPr>
          <a:lstStyle/>
          <a:p>
            <a:pPr algn="l">
              <a:lnSpc>
                <a:spcPts val="3345"/>
              </a:lnSpc>
            </a:pPr>
            <a:r>
              <a:rPr lang="en-US" sz="2787" b="true">
                <a:solidFill>
                  <a:srgbClr val="2D180B"/>
                </a:solidFill>
                <a:latin typeface="Lato Bold"/>
                <a:ea typeface="Lato Bold"/>
                <a:cs typeface="Lato Bold"/>
                <a:sym typeface="Lato Bold"/>
              </a:rPr>
              <a:t>Try → get feedback → keep moving</a:t>
            </a:r>
          </a:p>
        </p:txBody>
      </p:sp>
      <p:sp>
        <p:nvSpPr>
          <p:cNvPr name="TextBox 25" id="25"/>
          <p:cNvSpPr txBox="true"/>
          <p:nvPr/>
        </p:nvSpPr>
        <p:spPr>
          <a:xfrm rot="0">
            <a:off x="11029950" y="6315075"/>
            <a:ext cx="5829300" cy="276225"/>
          </a:xfrm>
          <a:prstGeom prst="rect">
            <a:avLst/>
          </a:prstGeom>
        </p:spPr>
        <p:txBody>
          <a:bodyPr anchor="t" rtlCol="false" tIns="0" lIns="0" bIns="0" rIns="0">
            <a:spAutoFit/>
          </a:bodyPr>
          <a:lstStyle/>
          <a:p>
            <a:pPr algn="l">
              <a:lnSpc>
                <a:spcPts val="2137"/>
              </a:lnSpc>
            </a:pPr>
            <a:r>
              <a:rPr lang="en-US" sz="1781">
                <a:solidFill>
                  <a:srgbClr val="895F3C"/>
                </a:solidFill>
                <a:latin typeface="Lato"/>
                <a:ea typeface="Lato"/>
                <a:cs typeface="Lato"/>
                <a:sym typeface="Lato"/>
              </a:rPr>
              <a:t>The next step appears beside the work, in plain English.</a:t>
            </a:r>
          </a:p>
        </p:txBody>
      </p:sp>
      <p:sp>
        <p:nvSpPr>
          <p:cNvPr name="TextBox 26" id="26"/>
          <p:cNvSpPr txBox="true"/>
          <p:nvPr/>
        </p:nvSpPr>
        <p:spPr>
          <a:xfrm rot="0">
            <a:off x="914400" y="9744075"/>
            <a:ext cx="13144500" cy="257175"/>
          </a:xfrm>
          <a:prstGeom prst="rect">
            <a:avLst/>
          </a:prstGeom>
        </p:spPr>
        <p:txBody>
          <a:bodyPr anchor="t" rtlCol="false" tIns="0" lIns="0" bIns="0" rIns="0">
            <a:spAutoFit/>
          </a:bodyPr>
          <a:lstStyle/>
          <a:p>
            <a:pPr algn="l">
              <a:lnSpc>
                <a:spcPts val="1485"/>
              </a:lnSpc>
            </a:pPr>
            <a:r>
              <a:rPr lang="en-US" sz="1237">
                <a:solidFill>
                  <a:srgbClr val="2D180B"/>
                </a:solidFill>
                <a:latin typeface="Lato"/>
                <a:ea typeface="Lato"/>
                <a:cs typeface="Lato"/>
                <a:sym typeface="Lato"/>
              </a:rPr>
              <a:t>Product insight · contextual help at the moment of action</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FF6E9"/>
        </a:solidFill>
      </p:bgPr>
    </p:bg>
    <p:spTree>
      <p:nvGrpSpPr>
        <p:cNvPr id="1" name=""/>
        <p:cNvGrpSpPr/>
        <p:nvPr/>
      </p:nvGrpSpPr>
      <p:grpSpPr>
        <a:xfrm>
          <a:off x="0" y="0"/>
          <a:ext cx="0" cy="0"/>
          <a:chOff x="0" y="0"/>
          <a:chExt cx="0" cy="0"/>
        </a:xfrm>
      </p:grpSpPr>
      <p:sp>
        <p:nvSpPr>
          <p:cNvPr name="AutoShape 2" id="2"/>
          <p:cNvSpPr/>
          <p:nvPr/>
        </p:nvSpPr>
        <p:spPr>
          <a:xfrm rot="3000">
            <a:off x="907256" y="981075"/>
            <a:ext cx="16473497" cy="0"/>
          </a:xfrm>
          <a:prstGeom prst="line">
            <a:avLst/>
          </a:prstGeom>
          <a:ln cap="rnd" w="9525">
            <a:solidFill>
              <a:srgbClr val="EDCFAD"/>
            </a:solidFill>
            <a:prstDash val="solid"/>
            <a:headEnd type="none" len="sm" w="sm"/>
            <a:tailEnd type="none" len="sm" w="sm"/>
          </a:ln>
        </p:spPr>
      </p:sp>
      <p:sp>
        <p:nvSpPr>
          <p:cNvPr name="Freeform 3" id="3"/>
          <p:cNvSpPr/>
          <p:nvPr/>
        </p:nvSpPr>
        <p:spPr>
          <a:xfrm flipH="false" flipV="false" rot="0">
            <a:off x="9942456" y="2854925"/>
            <a:ext cx="4772970" cy="7159455"/>
          </a:xfrm>
          <a:custGeom>
            <a:avLst/>
            <a:gdLst/>
            <a:ahLst/>
            <a:cxnLst/>
            <a:rect r="r" b="b" t="t" l="l"/>
            <a:pathLst>
              <a:path h="7159455" w="4772970">
                <a:moveTo>
                  <a:pt x="0" y="0"/>
                </a:moveTo>
                <a:lnTo>
                  <a:pt x="4772970" y="0"/>
                </a:lnTo>
                <a:lnTo>
                  <a:pt x="4772970" y="7159456"/>
                </a:lnTo>
                <a:lnTo>
                  <a:pt x="0" y="7159456"/>
                </a:lnTo>
                <a:lnTo>
                  <a:pt x="0" y="0"/>
                </a:lnTo>
                <a:close/>
              </a:path>
            </a:pathLst>
          </a:custGeom>
          <a:blipFill>
            <a:blip r:embed="rId3"/>
            <a:stretch>
              <a:fillRect l="0" t="0" r="0" b="0"/>
            </a:stretch>
          </a:blipFill>
        </p:spPr>
      </p:sp>
      <p:sp>
        <p:nvSpPr>
          <p:cNvPr name="Freeform 4" id="4"/>
          <p:cNvSpPr/>
          <p:nvPr/>
        </p:nvSpPr>
        <p:spPr>
          <a:xfrm flipH="false" flipV="false" rot="0">
            <a:off x="0" y="3000344"/>
            <a:ext cx="9865791" cy="5555674"/>
          </a:xfrm>
          <a:custGeom>
            <a:avLst/>
            <a:gdLst/>
            <a:ahLst/>
            <a:cxnLst/>
            <a:rect r="r" b="b" t="t" l="l"/>
            <a:pathLst>
              <a:path h="5555674" w="9865791">
                <a:moveTo>
                  <a:pt x="0" y="0"/>
                </a:moveTo>
                <a:lnTo>
                  <a:pt x="9865791" y="0"/>
                </a:lnTo>
                <a:lnTo>
                  <a:pt x="9865791" y="5555673"/>
                </a:lnTo>
                <a:lnTo>
                  <a:pt x="0" y="5555673"/>
                </a:lnTo>
                <a:lnTo>
                  <a:pt x="0" y="0"/>
                </a:lnTo>
                <a:close/>
              </a:path>
            </a:pathLst>
          </a:custGeom>
          <a:blipFill>
            <a:blip r:embed="rId4"/>
            <a:stretch>
              <a:fillRect l="0" t="0" r="0" b="0"/>
            </a:stretch>
          </a:blipFill>
        </p:spPr>
      </p:sp>
      <p:sp>
        <p:nvSpPr>
          <p:cNvPr name="TextBox 5" id="5"/>
          <p:cNvSpPr txBox="true"/>
          <p:nvPr/>
        </p:nvSpPr>
        <p:spPr>
          <a:xfrm rot="0">
            <a:off x="914400" y="390525"/>
            <a:ext cx="1857375" cy="466725"/>
          </a:xfrm>
          <a:prstGeom prst="rect">
            <a:avLst/>
          </a:prstGeom>
        </p:spPr>
        <p:txBody>
          <a:bodyPr anchor="t" rtlCol="false" tIns="0" lIns="0" bIns="0" rIns="0">
            <a:spAutoFit/>
          </a:bodyPr>
          <a:lstStyle/>
          <a:p>
            <a:pPr algn="l">
              <a:lnSpc>
                <a:spcPts val="3104"/>
              </a:lnSpc>
            </a:pPr>
            <a:r>
              <a:rPr lang="en-US" sz="2587" b="true">
                <a:solidFill>
                  <a:srgbClr val="FF8500"/>
                </a:solidFill>
                <a:latin typeface="Lato Bold"/>
                <a:ea typeface="Lato Bold"/>
                <a:cs typeface="Lato Bold"/>
                <a:sym typeface="Lato Bold"/>
              </a:rPr>
              <a:t>bataa</a:t>
            </a:r>
          </a:p>
        </p:txBody>
      </p:sp>
      <p:sp>
        <p:nvSpPr>
          <p:cNvPr name="TextBox 6" id="6"/>
          <p:cNvSpPr txBox="true"/>
          <p:nvPr/>
        </p:nvSpPr>
        <p:spPr>
          <a:xfrm rot="0">
            <a:off x="3171825" y="461963"/>
            <a:ext cx="6000750" cy="323850"/>
          </a:xfrm>
          <a:prstGeom prst="rect">
            <a:avLst/>
          </a:prstGeom>
        </p:spPr>
        <p:txBody>
          <a:bodyPr anchor="t" rtlCol="false" tIns="0" lIns="0" bIns="0" rIns="0">
            <a:spAutoFit/>
          </a:bodyPr>
          <a:lstStyle/>
          <a:p>
            <a:pPr algn="l">
              <a:lnSpc>
                <a:spcPts val="1620"/>
              </a:lnSpc>
            </a:pPr>
            <a:r>
              <a:rPr lang="en-US" sz="1350" b="true">
                <a:solidFill>
                  <a:srgbClr val="895F3C"/>
                </a:solidFill>
                <a:latin typeface="Lato Bold"/>
                <a:ea typeface="Lato Bold"/>
                <a:cs typeface="Lato Bold"/>
                <a:sym typeface="Lato Bold"/>
              </a:rPr>
              <a:t>PRODUCT</a:t>
            </a:r>
          </a:p>
        </p:txBody>
      </p:sp>
      <p:sp>
        <p:nvSpPr>
          <p:cNvPr name="TextBox 7" id="7"/>
          <p:cNvSpPr txBox="true"/>
          <p:nvPr/>
        </p:nvSpPr>
        <p:spPr>
          <a:xfrm rot="0">
            <a:off x="16859250" y="442912"/>
            <a:ext cx="514350" cy="238125"/>
          </a:xfrm>
          <a:prstGeom prst="rect">
            <a:avLst/>
          </a:prstGeom>
        </p:spPr>
        <p:txBody>
          <a:bodyPr anchor="t" rtlCol="false" tIns="0" lIns="0" bIns="0" rIns="0">
            <a:spAutoFit/>
          </a:bodyPr>
          <a:lstStyle/>
          <a:p>
            <a:pPr algn="r">
              <a:lnSpc>
                <a:spcPts val="1889"/>
              </a:lnSpc>
            </a:pPr>
            <a:r>
              <a:rPr lang="en-US" sz="1575" b="true">
                <a:solidFill>
                  <a:srgbClr val="2D180B"/>
                </a:solidFill>
                <a:latin typeface="Lato Bold"/>
                <a:ea typeface="Lato Bold"/>
                <a:cs typeface="Lato Bold"/>
                <a:sym typeface="Lato Bold"/>
              </a:rPr>
              <a:t>05</a:t>
            </a:r>
          </a:p>
        </p:txBody>
      </p:sp>
      <p:sp>
        <p:nvSpPr>
          <p:cNvPr name="TextBox 8" id="8"/>
          <p:cNvSpPr txBox="true"/>
          <p:nvPr/>
        </p:nvSpPr>
        <p:spPr>
          <a:xfrm rot="0">
            <a:off x="914400" y="1476375"/>
            <a:ext cx="12858750" cy="1181100"/>
          </a:xfrm>
          <a:prstGeom prst="rect">
            <a:avLst/>
          </a:prstGeom>
        </p:spPr>
        <p:txBody>
          <a:bodyPr anchor="t" rtlCol="false" tIns="0" lIns="0" bIns="0" rIns="0">
            <a:spAutoFit/>
          </a:bodyPr>
          <a:lstStyle/>
          <a:p>
            <a:pPr algn="l">
              <a:lnSpc>
                <a:spcPts val="6750"/>
              </a:lnSpc>
            </a:pPr>
            <a:r>
              <a:rPr lang="en-US" sz="5625" b="true">
                <a:solidFill>
                  <a:srgbClr val="2D180B"/>
                </a:solidFill>
                <a:latin typeface="Lato Bold"/>
                <a:ea typeface="Lato Bold"/>
                <a:cs typeface="Lato Bold"/>
                <a:sym typeface="Lato Bold"/>
              </a:rPr>
              <a:t>One product, two moments</a:t>
            </a:r>
          </a:p>
        </p:txBody>
      </p:sp>
      <p:sp>
        <p:nvSpPr>
          <p:cNvPr name="TextBox 9" id="9"/>
          <p:cNvSpPr txBox="true"/>
          <p:nvPr/>
        </p:nvSpPr>
        <p:spPr>
          <a:xfrm rot="0">
            <a:off x="1020304" y="2483450"/>
            <a:ext cx="14476439" cy="371475"/>
          </a:xfrm>
          <a:prstGeom prst="rect">
            <a:avLst/>
          </a:prstGeom>
        </p:spPr>
        <p:txBody>
          <a:bodyPr anchor="t" rtlCol="false" tIns="0" lIns="0" bIns="0" rIns="0">
            <a:spAutoFit/>
          </a:bodyPr>
          <a:lstStyle/>
          <a:p>
            <a:pPr algn="l">
              <a:lnSpc>
                <a:spcPts val="2925"/>
              </a:lnSpc>
            </a:pPr>
            <a:r>
              <a:rPr lang="en-US" sz="2437">
                <a:solidFill>
                  <a:srgbClr val="895F3C"/>
                </a:solidFill>
                <a:latin typeface="Lato"/>
                <a:ea typeface="Lato"/>
                <a:cs typeface="Lato"/>
                <a:sym typeface="Lato"/>
              </a:rPr>
              <a:t>The same learning loop follows the learner from a spare minute to the tool where the work happens.</a:t>
            </a:r>
          </a:p>
        </p:txBody>
      </p:sp>
      <p:sp>
        <p:nvSpPr>
          <p:cNvPr name="TextBox 10" id="10"/>
          <p:cNvSpPr txBox="true"/>
          <p:nvPr/>
        </p:nvSpPr>
        <p:spPr>
          <a:xfrm rot="0">
            <a:off x="14872836" y="5463856"/>
            <a:ext cx="2428875" cy="314325"/>
          </a:xfrm>
          <a:prstGeom prst="rect">
            <a:avLst/>
          </a:prstGeom>
        </p:spPr>
        <p:txBody>
          <a:bodyPr anchor="t" rtlCol="false" tIns="0" lIns="0" bIns="0" rIns="0">
            <a:spAutoFit/>
          </a:bodyPr>
          <a:lstStyle/>
          <a:p>
            <a:pPr algn="l">
              <a:lnSpc>
                <a:spcPts val="1755"/>
              </a:lnSpc>
            </a:pPr>
            <a:r>
              <a:rPr lang="en-US" sz="1462" b="true">
                <a:solidFill>
                  <a:srgbClr val="C45300"/>
                </a:solidFill>
                <a:latin typeface="Lato Bold"/>
                <a:ea typeface="Lato Bold"/>
                <a:cs typeface="Lato Bold"/>
                <a:sym typeface="Lato Bold"/>
              </a:rPr>
              <a:t>MOBILE</a:t>
            </a:r>
          </a:p>
        </p:txBody>
      </p:sp>
      <p:sp>
        <p:nvSpPr>
          <p:cNvPr name="TextBox 11" id="11"/>
          <p:cNvSpPr txBox="true"/>
          <p:nvPr/>
        </p:nvSpPr>
        <p:spPr>
          <a:xfrm rot="0">
            <a:off x="14872836" y="5778181"/>
            <a:ext cx="2857500" cy="785812"/>
          </a:xfrm>
          <a:prstGeom prst="rect">
            <a:avLst/>
          </a:prstGeom>
        </p:spPr>
        <p:txBody>
          <a:bodyPr anchor="t" rtlCol="false" tIns="0" lIns="0" bIns="0" rIns="0">
            <a:spAutoFit/>
          </a:bodyPr>
          <a:lstStyle/>
          <a:p>
            <a:pPr algn="l">
              <a:lnSpc>
                <a:spcPts val="3093"/>
              </a:lnSpc>
            </a:pPr>
            <a:r>
              <a:rPr lang="en-US" sz="2578" b="true">
                <a:solidFill>
                  <a:srgbClr val="2D180B"/>
                </a:solidFill>
                <a:latin typeface="Lato Bold"/>
                <a:ea typeface="Lato Bold"/>
                <a:cs typeface="Lato Bold"/>
                <a:sym typeface="Lato Bold"/>
              </a:rPr>
              <a:t>Keep momentum anywhere</a:t>
            </a:r>
          </a:p>
        </p:txBody>
      </p:sp>
      <p:sp>
        <p:nvSpPr>
          <p:cNvPr name="TextBox 12" id="12"/>
          <p:cNvSpPr txBox="true"/>
          <p:nvPr/>
        </p:nvSpPr>
        <p:spPr>
          <a:xfrm rot="0">
            <a:off x="14872836" y="6744968"/>
            <a:ext cx="2714625" cy="1038225"/>
          </a:xfrm>
          <a:prstGeom prst="rect">
            <a:avLst/>
          </a:prstGeom>
        </p:spPr>
        <p:txBody>
          <a:bodyPr anchor="t" rtlCol="false" tIns="0" lIns="0" bIns="0" rIns="0">
            <a:spAutoFit/>
          </a:bodyPr>
          <a:lstStyle/>
          <a:p>
            <a:pPr algn="l">
              <a:lnSpc>
                <a:spcPts val="2039"/>
              </a:lnSpc>
            </a:pPr>
            <a:r>
              <a:rPr lang="en-US" sz="1699">
                <a:solidFill>
                  <a:srgbClr val="895F3C"/>
                </a:solidFill>
                <a:latin typeface="Lato"/>
                <a:ea typeface="Lato"/>
                <a:cs typeface="Lato"/>
                <a:sym typeface="Lato"/>
              </a:rPr>
              <a:t>Short daily tasks make progress possible in transit, between classes, or at home.</a:t>
            </a:r>
          </a:p>
        </p:txBody>
      </p:sp>
      <p:sp>
        <p:nvSpPr>
          <p:cNvPr name="TextBox 13" id="13"/>
          <p:cNvSpPr txBox="true"/>
          <p:nvPr/>
        </p:nvSpPr>
        <p:spPr>
          <a:xfrm rot="0">
            <a:off x="1392101" y="8822976"/>
            <a:ext cx="2428875" cy="314325"/>
          </a:xfrm>
          <a:prstGeom prst="rect">
            <a:avLst/>
          </a:prstGeom>
        </p:spPr>
        <p:txBody>
          <a:bodyPr anchor="t" rtlCol="false" tIns="0" lIns="0" bIns="0" rIns="0">
            <a:spAutoFit/>
          </a:bodyPr>
          <a:lstStyle/>
          <a:p>
            <a:pPr algn="l">
              <a:lnSpc>
                <a:spcPts val="1755"/>
              </a:lnSpc>
            </a:pPr>
            <a:r>
              <a:rPr lang="en-US" b="true" sz="1462">
                <a:solidFill>
                  <a:srgbClr val="F27C00"/>
                </a:solidFill>
                <a:latin typeface="Lato Bold"/>
                <a:ea typeface="Lato Bold"/>
                <a:cs typeface="Lato Bold"/>
                <a:sym typeface="Lato Bold"/>
              </a:rPr>
              <a:t>DESKTOP</a:t>
            </a:r>
          </a:p>
        </p:txBody>
      </p:sp>
      <p:sp>
        <p:nvSpPr>
          <p:cNvPr name="TextBox 14" id="14"/>
          <p:cNvSpPr txBox="true"/>
          <p:nvPr/>
        </p:nvSpPr>
        <p:spPr>
          <a:xfrm rot="0">
            <a:off x="1392101" y="9178234"/>
            <a:ext cx="3559448" cy="466725"/>
          </a:xfrm>
          <a:prstGeom prst="rect">
            <a:avLst/>
          </a:prstGeom>
        </p:spPr>
        <p:txBody>
          <a:bodyPr anchor="t" rtlCol="false" tIns="0" lIns="0" bIns="0" rIns="0">
            <a:spAutoFit/>
          </a:bodyPr>
          <a:lstStyle/>
          <a:p>
            <a:pPr algn="l">
              <a:lnSpc>
                <a:spcPts val="3644"/>
              </a:lnSpc>
            </a:pPr>
            <a:r>
              <a:rPr lang="en-US" sz="3037" b="true">
                <a:solidFill>
                  <a:srgbClr val="2D180B"/>
                </a:solidFill>
                <a:latin typeface="Lato Bold"/>
                <a:ea typeface="Lato Bold"/>
                <a:cs typeface="Lato Bold"/>
                <a:sym typeface="Lato Bold"/>
              </a:rPr>
              <a:t>Guide inside the tool</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2D180B"/>
        </a:solidFill>
      </p:bgPr>
    </p:bg>
    <p:spTree>
      <p:nvGrpSpPr>
        <p:cNvPr id="1" name=""/>
        <p:cNvGrpSpPr/>
        <p:nvPr/>
      </p:nvGrpSpPr>
      <p:grpSpPr>
        <a:xfrm>
          <a:off x="0" y="0"/>
          <a:ext cx="0" cy="0"/>
          <a:chOff x="0" y="0"/>
          <a:chExt cx="0" cy="0"/>
        </a:xfrm>
      </p:grpSpPr>
      <p:sp>
        <p:nvSpPr>
          <p:cNvPr name="AutoShape 2" id="2"/>
          <p:cNvSpPr/>
          <p:nvPr/>
        </p:nvSpPr>
        <p:spPr>
          <a:xfrm rot="3000">
            <a:off x="907256" y="981075"/>
            <a:ext cx="16473497" cy="0"/>
          </a:xfrm>
          <a:prstGeom prst="line">
            <a:avLst/>
          </a:prstGeom>
          <a:ln cap="rnd" w="9525">
            <a:solidFill>
              <a:srgbClr val="5D3B27"/>
            </a:solidFill>
            <a:prstDash val="solid"/>
            <a:headEnd type="none" len="sm" w="sm"/>
            <a:tailEnd type="none" len="sm" w="sm"/>
          </a:ln>
        </p:spPr>
      </p:sp>
      <p:grpSp>
        <p:nvGrpSpPr>
          <p:cNvPr name="Group 3" id="3"/>
          <p:cNvGrpSpPr/>
          <p:nvPr/>
        </p:nvGrpSpPr>
        <p:grpSpPr>
          <a:xfrm rot="0">
            <a:off x="971550" y="3714750"/>
            <a:ext cx="9858375" cy="5143500"/>
            <a:chOff x="0" y="0"/>
            <a:chExt cx="13144500" cy="6858000"/>
          </a:xfrm>
        </p:grpSpPr>
        <p:sp>
          <p:nvSpPr>
            <p:cNvPr name="Freeform 4" id="4"/>
            <p:cNvSpPr/>
            <p:nvPr/>
          </p:nvSpPr>
          <p:spPr>
            <a:xfrm flipH="false" flipV="false" rot="0">
              <a:off x="0" y="0"/>
              <a:ext cx="13144500" cy="6858000"/>
            </a:xfrm>
            <a:custGeom>
              <a:avLst/>
              <a:gdLst/>
              <a:ahLst/>
              <a:cxnLst/>
              <a:rect r="r" b="b" t="t" l="l"/>
              <a:pathLst>
                <a:path h="6858000" w="13144500">
                  <a:moveTo>
                    <a:pt x="317500" y="0"/>
                  </a:moveTo>
                  <a:lnTo>
                    <a:pt x="12827000" y="0"/>
                  </a:lnTo>
                  <a:cubicBezTo>
                    <a:pt x="13002351" y="0"/>
                    <a:pt x="13144500" y="142150"/>
                    <a:pt x="13144500" y="317500"/>
                  </a:cubicBezTo>
                  <a:lnTo>
                    <a:pt x="13144500" y="6540500"/>
                  </a:lnTo>
                  <a:cubicBezTo>
                    <a:pt x="13144500" y="6715851"/>
                    <a:pt x="13002351" y="6858000"/>
                    <a:pt x="12827000" y="6858000"/>
                  </a:cubicBezTo>
                  <a:lnTo>
                    <a:pt x="317500" y="6858000"/>
                  </a:lnTo>
                  <a:cubicBezTo>
                    <a:pt x="142150" y="6858000"/>
                    <a:pt x="0" y="6715851"/>
                    <a:pt x="0" y="6540500"/>
                  </a:cubicBezTo>
                  <a:lnTo>
                    <a:pt x="0" y="317500"/>
                  </a:lnTo>
                  <a:cubicBezTo>
                    <a:pt x="0" y="142150"/>
                    <a:pt x="142150" y="0"/>
                    <a:pt x="317500" y="0"/>
                  </a:cubicBezTo>
                  <a:close/>
                </a:path>
              </a:pathLst>
            </a:custGeom>
            <a:blipFill>
              <a:blip r:embed="rId3"/>
              <a:stretch>
                <a:fillRect l="0" t="-3966" r="0" b="-3966"/>
              </a:stretch>
            </a:blipFill>
          </p:spPr>
        </p:sp>
      </p:grpSp>
      <p:grpSp>
        <p:nvGrpSpPr>
          <p:cNvPr name="Group 5" id="5"/>
          <p:cNvGrpSpPr/>
          <p:nvPr/>
        </p:nvGrpSpPr>
        <p:grpSpPr>
          <a:xfrm rot="0">
            <a:off x="11537156" y="3850481"/>
            <a:ext cx="5372100" cy="4700588"/>
            <a:chOff x="0" y="0"/>
            <a:chExt cx="7162800" cy="6267450"/>
          </a:xfrm>
        </p:grpSpPr>
        <p:sp>
          <p:nvSpPr>
            <p:cNvPr name="Freeform 6" id="6"/>
            <p:cNvSpPr/>
            <p:nvPr/>
          </p:nvSpPr>
          <p:spPr>
            <a:xfrm flipH="false" flipV="false" rot="0">
              <a:off x="0" y="0"/>
              <a:ext cx="7162800" cy="6267450"/>
            </a:xfrm>
            <a:custGeom>
              <a:avLst/>
              <a:gdLst/>
              <a:ahLst/>
              <a:cxnLst/>
              <a:rect r="r" b="b" t="t" l="l"/>
              <a:pathLst>
                <a:path h="6267450" w="7162800">
                  <a:moveTo>
                    <a:pt x="0" y="305689"/>
                  </a:moveTo>
                  <a:cubicBezTo>
                    <a:pt x="0" y="136906"/>
                    <a:pt x="136906" y="0"/>
                    <a:pt x="305689" y="0"/>
                  </a:cubicBezTo>
                  <a:lnTo>
                    <a:pt x="6857111" y="0"/>
                  </a:lnTo>
                  <a:cubicBezTo>
                    <a:pt x="7025894" y="0"/>
                    <a:pt x="7162800" y="136906"/>
                    <a:pt x="7162800" y="305689"/>
                  </a:cubicBezTo>
                  <a:lnTo>
                    <a:pt x="7162800" y="5961761"/>
                  </a:lnTo>
                  <a:cubicBezTo>
                    <a:pt x="7162800" y="6130671"/>
                    <a:pt x="7025894" y="6267450"/>
                    <a:pt x="6857111" y="6267450"/>
                  </a:cubicBezTo>
                  <a:lnTo>
                    <a:pt x="305689" y="6267450"/>
                  </a:lnTo>
                  <a:cubicBezTo>
                    <a:pt x="136906" y="6267450"/>
                    <a:pt x="0" y="6130544"/>
                    <a:pt x="0" y="5961761"/>
                  </a:cubicBezTo>
                  <a:close/>
                </a:path>
              </a:pathLst>
            </a:custGeom>
            <a:solidFill>
              <a:srgbClr val="2B1910"/>
            </a:solidFill>
            <a:ln w="14288" cap="sq">
              <a:solidFill>
                <a:srgbClr val="5D3B27"/>
              </a:solidFill>
              <a:prstDash val="solid"/>
              <a:miter/>
            </a:ln>
          </p:spPr>
        </p:sp>
      </p:grpSp>
      <p:grpSp>
        <p:nvGrpSpPr>
          <p:cNvPr name="Group 7" id="7"/>
          <p:cNvGrpSpPr/>
          <p:nvPr/>
        </p:nvGrpSpPr>
        <p:grpSpPr>
          <a:xfrm rot="0">
            <a:off x="11972925" y="4371975"/>
            <a:ext cx="514350" cy="514350"/>
            <a:chOff x="0" y="0"/>
            <a:chExt cx="685800" cy="685800"/>
          </a:xfrm>
        </p:grpSpPr>
        <p:sp>
          <p:nvSpPr>
            <p:cNvPr name="Freeform 8" id="8"/>
            <p:cNvSpPr/>
            <p:nvPr/>
          </p:nvSpPr>
          <p:spPr>
            <a:xfrm flipH="false" flipV="false" rot="0">
              <a:off x="0" y="0"/>
              <a:ext cx="685800" cy="685800"/>
            </a:xfrm>
            <a:custGeom>
              <a:avLst/>
              <a:gdLst/>
              <a:ahLst/>
              <a:cxnLst/>
              <a:rect r="r" b="b" t="t" l="l"/>
              <a:pathLst>
                <a:path h="685800" w="685800">
                  <a:moveTo>
                    <a:pt x="0" y="342900"/>
                  </a:moveTo>
                  <a:cubicBezTo>
                    <a:pt x="0" y="153543"/>
                    <a:pt x="153543" y="0"/>
                    <a:pt x="342900" y="0"/>
                  </a:cubicBezTo>
                  <a:cubicBezTo>
                    <a:pt x="532257" y="0"/>
                    <a:pt x="685800" y="153543"/>
                    <a:pt x="685800" y="342900"/>
                  </a:cubicBezTo>
                  <a:cubicBezTo>
                    <a:pt x="685800" y="532257"/>
                    <a:pt x="532257" y="685800"/>
                    <a:pt x="342900" y="685800"/>
                  </a:cubicBezTo>
                  <a:cubicBezTo>
                    <a:pt x="153543" y="685800"/>
                    <a:pt x="0" y="532257"/>
                    <a:pt x="0" y="342900"/>
                  </a:cubicBezTo>
                  <a:close/>
                </a:path>
              </a:pathLst>
            </a:custGeom>
            <a:solidFill>
              <a:srgbClr val="FBEAD4"/>
            </a:solidFill>
            <a:ln cap="sq">
              <a:noFill/>
              <a:prstDash val="solid"/>
              <a:miter/>
            </a:ln>
          </p:spPr>
        </p:sp>
        <p:sp>
          <p:nvSpPr>
            <p:cNvPr name="TextBox 9" id="9"/>
            <p:cNvSpPr txBox="true"/>
            <p:nvPr/>
          </p:nvSpPr>
          <p:spPr>
            <a:xfrm>
              <a:off x="0" y="0"/>
              <a:ext cx="685800" cy="685800"/>
            </a:xfrm>
            <a:prstGeom prst="rect">
              <a:avLst/>
            </a:prstGeom>
          </p:spPr>
          <p:txBody>
            <a:bodyPr anchor="ctr" rtlCol="false" tIns="50800" lIns="50800" bIns="50800" rIns="50800"/>
            <a:lstStyle/>
            <a:p>
              <a:pPr algn="ctr">
                <a:lnSpc>
                  <a:spcPts val="1755"/>
                </a:lnSpc>
              </a:pPr>
              <a:r>
                <a:rPr lang="en-US" sz="1462" b="true">
                  <a:solidFill>
                    <a:srgbClr val="C45300"/>
                  </a:solidFill>
                  <a:latin typeface="Lato Bold"/>
                  <a:ea typeface="Lato Bold"/>
                  <a:cs typeface="Lato Bold"/>
                  <a:sym typeface="Lato Bold"/>
                </a:rPr>
                <a:t>01</a:t>
              </a:r>
            </a:p>
          </p:txBody>
        </p:sp>
      </p:grpSp>
      <p:grpSp>
        <p:nvGrpSpPr>
          <p:cNvPr name="Group 10" id="10"/>
          <p:cNvGrpSpPr/>
          <p:nvPr/>
        </p:nvGrpSpPr>
        <p:grpSpPr>
          <a:xfrm rot="0">
            <a:off x="11972925" y="5614988"/>
            <a:ext cx="514350" cy="514350"/>
            <a:chOff x="0" y="0"/>
            <a:chExt cx="685800" cy="685800"/>
          </a:xfrm>
        </p:grpSpPr>
        <p:sp>
          <p:nvSpPr>
            <p:cNvPr name="Freeform 11" id="11"/>
            <p:cNvSpPr/>
            <p:nvPr/>
          </p:nvSpPr>
          <p:spPr>
            <a:xfrm flipH="false" flipV="false" rot="0">
              <a:off x="0" y="0"/>
              <a:ext cx="685800" cy="685800"/>
            </a:xfrm>
            <a:custGeom>
              <a:avLst/>
              <a:gdLst/>
              <a:ahLst/>
              <a:cxnLst/>
              <a:rect r="r" b="b" t="t" l="l"/>
              <a:pathLst>
                <a:path h="685800" w="685800">
                  <a:moveTo>
                    <a:pt x="0" y="342900"/>
                  </a:moveTo>
                  <a:cubicBezTo>
                    <a:pt x="0" y="153543"/>
                    <a:pt x="153543" y="0"/>
                    <a:pt x="342900" y="0"/>
                  </a:cubicBezTo>
                  <a:cubicBezTo>
                    <a:pt x="532257" y="0"/>
                    <a:pt x="685800" y="153543"/>
                    <a:pt x="685800" y="342900"/>
                  </a:cubicBezTo>
                  <a:cubicBezTo>
                    <a:pt x="685800" y="532257"/>
                    <a:pt x="532257" y="685800"/>
                    <a:pt x="342900" y="685800"/>
                  </a:cubicBezTo>
                  <a:cubicBezTo>
                    <a:pt x="153543" y="685800"/>
                    <a:pt x="0" y="532257"/>
                    <a:pt x="0" y="342900"/>
                  </a:cubicBezTo>
                  <a:close/>
                </a:path>
              </a:pathLst>
            </a:custGeom>
            <a:solidFill>
              <a:srgbClr val="FF8500"/>
            </a:solidFill>
            <a:ln cap="sq">
              <a:noFill/>
              <a:prstDash val="solid"/>
              <a:miter/>
            </a:ln>
          </p:spPr>
        </p:sp>
        <p:sp>
          <p:nvSpPr>
            <p:cNvPr name="TextBox 12" id="12"/>
            <p:cNvSpPr txBox="true"/>
            <p:nvPr/>
          </p:nvSpPr>
          <p:spPr>
            <a:xfrm>
              <a:off x="0" y="0"/>
              <a:ext cx="685800" cy="685800"/>
            </a:xfrm>
            <a:prstGeom prst="rect">
              <a:avLst/>
            </a:prstGeom>
          </p:spPr>
          <p:txBody>
            <a:bodyPr anchor="ctr" rtlCol="false" tIns="50800" lIns="50800" bIns="50800" rIns="50800"/>
            <a:lstStyle/>
            <a:p>
              <a:pPr algn="ctr">
                <a:lnSpc>
                  <a:spcPts val="1755"/>
                </a:lnSpc>
              </a:pPr>
              <a:r>
                <a:rPr lang="en-US" sz="1462" b="true">
                  <a:solidFill>
                    <a:srgbClr val="FFF6E9"/>
                  </a:solidFill>
                  <a:latin typeface="Lato Bold"/>
                  <a:ea typeface="Lato Bold"/>
                  <a:cs typeface="Lato Bold"/>
                  <a:sym typeface="Lato Bold"/>
                </a:rPr>
                <a:t>02</a:t>
              </a:r>
            </a:p>
          </p:txBody>
        </p:sp>
      </p:grpSp>
      <p:grpSp>
        <p:nvGrpSpPr>
          <p:cNvPr name="Group 13" id="13"/>
          <p:cNvGrpSpPr/>
          <p:nvPr/>
        </p:nvGrpSpPr>
        <p:grpSpPr>
          <a:xfrm rot="0">
            <a:off x="11972925" y="6858000"/>
            <a:ext cx="514350" cy="514350"/>
            <a:chOff x="0" y="0"/>
            <a:chExt cx="685800" cy="685800"/>
          </a:xfrm>
        </p:grpSpPr>
        <p:sp>
          <p:nvSpPr>
            <p:cNvPr name="Freeform 14" id="14"/>
            <p:cNvSpPr/>
            <p:nvPr/>
          </p:nvSpPr>
          <p:spPr>
            <a:xfrm flipH="false" flipV="false" rot="0">
              <a:off x="0" y="0"/>
              <a:ext cx="685800" cy="685800"/>
            </a:xfrm>
            <a:custGeom>
              <a:avLst/>
              <a:gdLst/>
              <a:ahLst/>
              <a:cxnLst/>
              <a:rect r="r" b="b" t="t" l="l"/>
              <a:pathLst>
                <a:path h="685800" w="685800">
                  <a:moveTo>
                    <a:pt x="0" y="342900"/>
                  </a:moveTo>
                  <a:cubicBezTo>
                    <a:pt x="0" y="153543"/>
                    <a:pt x="153543" y="0"/>
                    <a:pt x="342900" y="0"/>
                  </a:cubicBezTo>
                  <a:cubicBezTo>
                    <a:pt x="532257" y="0"/>
                    <a:pt x="685800" y="153543"/>
                    <a:pt x="685800" y="342900"/>
                  </a:cubicBezTo>
                  <a:cubicBezTo>
                    <a:pt x="685800" y="532257"/>
                    <a:pt x="532257" y="685800"/>
                    <a:pt x="342900" y="685800"/>
                  </a:cubicBezTo>
                  <a:cubicBezTo>
                    <a:pt x="153543" y="685800"/>
                    <a:pt x="0" y="532257"/>
                    <a:pt x="0" y="342900"/>
                  </a:cubicBezTo>
                  <a:close/>
                </a:path>
              </a:pathLst>
            </a:custGeom>
            <a:solidFill>
              <a:srgbClr val="FBEAD4"/>
            </a:solidFill>
            <a:ln cap="sq">
              <a:noFill/>
              <a:prstDash val="solid"/>
              <a:miter/>
            </a:ln>
          </p:spPr>
        </p:sp>
        <p:sp>
          <p:nvSpPr>
            <p:cNvPr name="TextBox 15" id="15"/>
            <p:cNvSpPr txBox="true"/>
            <p:nvPr/>
          </p:nvSpPr>
          <p:spPr>
            <a:xfrm>
              <a:off x="0" y="0"/>
              <a:ext cx="685800" cy="685800"/>
            </a:xfrm>
            <a:prstGeom prst="rect">
              <a:avLst/>
            </a:prstGeom>
          </p:spPr>
          <p:txBody>
            <a:bodyPr anchor="ctr" rtlCol="false" tIns="50800" lIns="50800" bIns="50800" rIns="50800"/>
            <a:lstStyle/>
            <a:p>
              <a:pPr algn="ctr">
                <a:lnSpc>
                  <a:spcPts val="1755"/>
                </a:lnSpc>
              </a:pPr>
              <a:r>
                <a:rPr lang="en-US" sz="1462" b="true">
                  <a:solidFill>
                    <a:srgbClr val="C45300"/>
                  </a:solidFill>
                  <a:latin typeface="Lato Bold"/>
                  <a:ea typeface="Lato Bold"/>
                  <a:cs typeface="Lato Bold"/>
                  <a:sym typeface="Lato Bold"/>
                </a:rPr>
                <a:t>03</a:t>
              </a:r>
            </a:p>
          </p:txBody>
        </p:sp>
      </p:grpSp>
      <p:sp>
        <p:nvSpPr>
          <p:cNvPr name="TextBox 16" id="16"/>
          <p:cNvSpPr txBox="true"/>
          <p:nvPr/>
        </p:nvSpPr>
        <p:spPr>
          <a:xfrm rot="0">
            <a:off x="914400" y="390525"/>
            <a:ext cx="1857375" cy="466725"/>
          </a:xfrm>
          <a:prstGeom prst="rect">
            <a:avLst/>
          </a:prstGeom>
        </p:spPr>
        <p:txBody>
          <a:bodyPr anchor="t" rtlCol="false" tIns="0" lIns="0" bIns="0" rIns="0">
            <a:spAutoFit/>
          </a:bodyPr>
          <a:lstStyle/>
          <a:p>
            <a:pPr algn="l">
              <a:lnSpc>
                <a:spcPts val="3104"/>
              </a:lnSpc>
            </a:pPr>
            <a:r>
              <a:rPr lang="en-US" sz="2587" b="true">
                <a:solidFill>
                  <a:srgbClr val="FF8500"/>
                </a:solidFill>
                <a:latin typeface="Lato Bold"/>
                <a:ea typeface="Lato Bold"/>
                <a:cs typeface="Lato Bold"/>
                <a:sym typeface="Lato Bold"/>
              </a:rPr>
              <a:t>bataa</a:t>
            </a:r>
          </a:p>
        </p:txBody>
      </p:sp>
      <p:sp>
        <p:nvSpPr>
          <p:cNvPr name="TextBox 17" id="17"/>
          <p:cNvSpPr txBox="true"/>
          <p:nvPr/>
        </p:nvSpPr>
        <p:spPr>
          <a:xfrm rot="0">
            <a:off x="3171825" y="461963"/>
            <a:ext cx="6000750" cy="323850"/>
          </a:xfrm>
          <a:prstGeom prst="rect">
            <a:avLst/>
          </a:prstGeom>
        </p:spPr>
        <p:txBody>
          <a:bodyPr anchor="t" rtlCol="false" tIns="0" lIns="0" bIns="0" rIns="0">
            <a:spAutoFit/>
          </a:bodyPr>
          <a:lstStyle/>
          <a:p>
            <a:pPr algn="l">
              <a:lnSpc>
                <a:spcPts val="1620"/>
              </a:lnSpc>
            </a:pPr>
            <a:r>
              <a:rPr lang="en-US" sz="1350" b="true">
                <a:solidFill>
                  <a:srgbClr val="D7BDA9"/>
                </a:solidFill>
                <a:latin typeface="Lato Bold"/>
                <a:ea typeface="Lato Bold"/>
                <a:cs typeface="Lato Bold"/>
                <a:sym typeface="Lato Bold"/>
              </a:rPr>
              <a:t>DESKTOP GUIDANCE</a:t>
            </a:r>
          </a:p>
        </p:txBody>
      </p:sp>
      <p:sp>
        <p:nvSpPr>
          <p:cNvPr name="TextBox 18" id="18"/>
          <p:cNvSpPr txBox="true"/>
          <p:nvPr/>
        </p:nvSpPr>
        <p:spPr>
          <a:xfrm rot="0">
            <a:off x="16859250" y="442912"/>
            <a:ext cx="514350" cy="342900"/>
          </a:xfrm>
          <a:prstGeom prst="rect">
            <a:avLst/>
          </a:prstGeom>
        </p:spPr>
        <p:txBody>
          <a:bodyPr anchor="t" rtlCol="false" tIns="0" lIns="0" bIns="0" rIns="0">
            <a:spAutoFit/>
          </a:bodyPr>
          <a:lstStyle/>
          <a:p>
            <a:pPr algn="r">
              <a:lnSpc>
                <a:spcPts val="1889"/>
              </a:lnSpc>
            </a:pPr>
            <a:r>
              <a:rPr lang="en-US" sz="1575" b="true">
                <a:solidFill>
                  <a:srgbClr val="FFF6E9"/>
                </a:solidFill>
                <a:latin typeface="Lato Bold"/>
                <a:ea typeface="Lato Bold"/>
                <a:cs typeface="Lato Bold"/>
                <a:sym typeface="Lato Bold"/>
              </a:rPr>
              <a:t>07</a:t>
            </a:r>
          </a:p>
        </p:txBody>
      </p:sp>
      <p:sp>
        <p:nvSpPr>
          <p:cNvPr name="TextBox 19" id="19"/>
          <p:cNvSpPr txBox="true"/>
          <p:nvPr/>
        </p:nvSpPr>
        <p:spPr>
          <a:xfrm rot="0">
            <a:off x="914400" y="1485900"/>
            <a:ext cx="13473112" cy="600075"/>
          </a:xfrm>
          <a:prstGeom prst="rect">
            <a:avLst/>
          </a:prstGeom>
        </p:spPr>
        <p:txBody>
          <a:bodyPr anchor="t" rtlCol="false" tIns="0" lIns="0" bIns="0" rIns="0">
            <a:spAutoFit/>
          </a:bodyPr>
          <a:lstStyle/>
          <a:p>
            <a:pPr algn="l">
              <a:lnSpc>
                <a:spcPts val="4743"/>
              </a:lnSpc>
            </a:pPr>
            <a:r>
              <a:rPr lang="en-US" sz="3953" b="true">
                <a:solidFill>
                  <a:srgbClr val="FFF6E9"/>
                </a:solidFill>
                <a:latin typeface="Lato Bold"/>
                <a:ea typeface="Lato Bold"/>
                <a:cs typeface="Lato Bold"/>
                <a:sym typeface="Lato Bold"/>
              </a:rPr>
              <a:t>Desktop guidance meets the learner where work happens</a:t>
            </a:r>
          </a:p>
        </p:txBody>
      </p:sp>
      <p:sp>
        <p:nvSpPr>
          <p:cNvPr name="TextBox 20" id="20"/>
          <p:cNvSpPr txBox="true"/>
          <p:nvPr/>
        </p:nvSpPr>
        <p:spPr>
          <a:xfrm rot="0">
            <a:off x="907259" y="2276475"/>
            <a:ext cx="10429875" cy="742950"/>
          </a:xfrm>
          <a:prstGeom prst="rect">
            <a:avLst/>
          </a:prstGeom>
        </p:spPr>
        <p:txBody>
          <a:bodyPr anchor="t" rtlCol="false" tIns="0" lIns="0" bIns="0" rIns="0">
            <a:spAutoFit/>
          </a:bodyPr>
          <a:lstStyle/>
          <a:p>
            <a:pPr algn="l">
              <a:lnSpc>
                <a:spcPts val="2925"/>
              </a:lnSpc>
            </a:pPr>
            <a:r>
              <a:rPr lang="en-US" sz="2437">
                <a:solidFill>
                  <a:srgbClr val="E3CDBB"/>
                </a:solidFill>
                <a:latin typeface="Lato"/>
                <a:ea typeface="Lato"/>
                <a:cs typeface="Lato"/>
                <a:sym typeface="Lato"/>
              </a:rPr>
              <a:t>For 3D, code, and other tools, Bataa can point to the next action instead of describing it from a distance.</a:t>
            </a:r>
          </a:p>
        </p:txBody>
      </p:sp>
      <p:sp>
        <p:nvSpPr>
          <p:cNvPr name="TextBox 21" id="21"/>
          <p:cNvSpPr txBox="true"/>
          <p:nvPr/>
        </p:nvSpPr>
        <p:spPr>
          <a:xfrm rot="0">
            <a:off x="12744450" y="4343400"/>
            <a:ext cx="3286125" cy="342900"/>
          </a:xfrm>
          <a:prstGeom prst="rect">
            <a:avLst/>
          </a:prstGeom>
        </p:spPr>
        <p:txBody>
          <a:bodyPr anchor="t" rtlCol="false" tIns="0" lIns="0" bIns="0" rIns="0">
            <a:spAutoFit/>
          </a:bodyPr>
          <a:lstStyle/>
          <a:p>
            <a:pPr algn="l">
              <a:lnSpc>
                <a:spcPts val="2565"/>
              </a:lnSpc>
            </a:pPr>
            <a:r>
              <a:rPr lang="en-US" sz="2137" b="true">
                <a:solidFill>
                  <a:srgbClr val="FFF6E9"/>
                </a:solidFill>
                <a:latin typeface="Lato Bold"/>
                <a:ea typeface="Lato Bold"/>
                <a:cs typeface="Lato Bold"/>
                <a:sym typeface="Lato Bold"/>
              </a:rPr>
              <a:t>Notice</a:t>
            </a:r>
          </a:p>
        </p:txBody>
      </p:sp>
      <p:sp>
        <p:nvSpPr>
          <p:cNvPr name="TextBox 22" id="22"/>
          <p:cNvSpPr txBox="true"/>
          <p:nvPr/>
        </p:nvSpPr>
        <p:spPr>
          <a:xfrm rot="0">
            <a:off x="12744450" y="4729162"/>
            <a:ext cx="3500438" cy="600075"/>
          </a:xfrm>
          <a:prstGeom prst="rect">
            <a:avLst/>
          </a:prstGeom>
        </p:spPr>
        <p:txBody>
          <a:bodyPr anchor="t" rtlCol="false" tIns="0" lIns="0" bIns="0" rIns="0">
            <a:spAutoFit/>
          </a:bodyPr>
          <a:lstStyle/>
          <a:p>
            <a:pPr algn="l">
              <a:lnSpc>
                <a:spcPts val="1889"/>
              </a:lnSpc>
            </a:pPr>
            <a:r>
              <a:rPr lang="en-US" sz="1575">
                <a:solidFill>
                  <a:srgbClr val="D8BBA4"/>
                </a:solidFill>
                <a:latin typeface="Lato"/>
                <a:ea typeface="Lato"/>
                <a:cs typeface="Lato"/>
                <a:sym typeface="Lato"/>
              </a:rPr>
              <a:t>Understand what the learner is trying to do</a:t>
            </a:r>
          </a:p>
        </p:txBody>
      </p:sp>
      <p:sp>
        <p:nvSpPr>
          <p:cNvPr name="TextBox 23" id="23"/>
          <p:cNvSpPr txBox="true"/>
          <p:nvPr/>
        </p:nvSpPr>
        <p:spPr>
          <a:xfrm rot="0">
            <a:off x="12744450" y="5586412"/>
            <a:ext cx="3286125" cy="342900"/>
          </a:xfrm>
          <a:prstGeom prst="rect">
            <a:avLst/>
          </a:prstGeom>
        </p:spPr>
        <p:txBody>
          <a:bodyPr anchor="t" rtlCol="false" tIns="0" lIns="0" bIns="0" rIns="0">
            <a:spAutoFit/>
          </a:bodyPr>
          <a:lstStyle/>
          <a:p>
            <a:pPr algn="l">
              <a:lnSpc>
                <a:spcPts val="2565"/>
              </a:lnSpc>
            </a:pPr>
            <a:r>
              <a:rPr lang="en-US" sz="2137" b="true">
                <a:solidFill>
                  <a:srgbClr val="FFF6E9"/>
                </a:solidFill>
                <a:latin typeface="Lato Bold"/>
                <a:ea typeface="Lato Bold"/>
                <a:cs typeface="Lato Bold"/>
                <a:sym typeface="Lato Bold"/>
              </a:rPr>
              <a:t>Point</a:t>
            </a:r>
          </a:p>
        </p:txBody>
      </p:sp>
      <p:sp>
        <p:nvSpPr>
          <p:cNvPr name="TextBox 24" id="24"/>
          <p:cNvSpPr txBox="true"/>
          <p:nvPr/>
        </p:nvSpPr>
        <p:spPr>
          <a:xfrm rot="0">
            <a:off x="12744450" y="5972175"/>
            <a:ext cx="3500438" cy="600075"/>
          </a:xfrm>
          <a:prstGeom prst="rect">
            <a:avLst/>
          </a:prstGeom>
        </p:spPr>
        <p:txBody>
          <a:bodyPr anchor="t" rtlCol="false" tIns="0" lIns="0" bIns="0" rIns="0">
            <a:spAutoFit/>
          </a:bodyPr>
          <a:lstStyle/>
          <a:p>
            <a:pPr algn="l">
              <a:lnSpc>
                <a:spcPts val="1889"/>
              </a:lnSpc>
            </a:pPr>
            <a:r>
              <a:rPr lang="en-US" sz="1575">
                <a:solidFill>
                  <a:srgbClr val="D8BBA4"/>
                </a:solidFill>
                <a:latin typeface="Lato"/>
                <a:ea typeface="Lato"/>
                <a:cs typeface="Lato"/>
                <a:sym typeface="Lato"/>
              </a:rPr>
              <a:t>Highlight the exact control or line to inspect</a:t>
            </a:r>
          </a:p>
        </p:txBody>
      </p:sp>
      <p:sp>
        <p:nvSpPr>
          <p:cNvPr name="TextBox 25" id="25"/>
          <p:cNvSpPr txBox="true"/>
          <p:nvPr/>
        </p:nvSpPr>
        <p:spPr>
          <a:xfrm rot="0">
            <a:off x="12744450" y="6829425"/>
            <a:ext cx="3286125" cy="342900"/>
          </a:xfrm>
          <a:prstGeom prst="rect">
            <a:avLst/>
          </a:prstGeom>
        </p:spPr>
        <p:txBody>
          <a:bodyPr anchor="t" rtlCol="false" tIns="0" lIns="0" bIns="0" rIns="0">
            <a:spAutoFit/>
          </a:bodyPr>
          <a:lstStyle/>
          <a:p>
            <a:pPr algn="l">
              <a:lnSpc>
                <a:spcPts val="2565"/>
              </a:lnSpc>
            </a:pPr>
            <a:r>
              <a:rPr lang="en-US" sz="2137" b="true">
                <a:solidFill>
                  <a:srgbClr val="FFF6E9"/>
                </a:solidFill>
                <a:latin typeface="Lato Bold"/>
                <a:ea typeface="Lato Bold"/>
                <a:cs typeface="Lato Bold"/>
                <a:sym typeface="Lato Bold"/>
              </a:rPr>
              <a:t>Try</a:t>
            </a:r>
          </a:p>
        </p:txBody>
      </p:sp>
      <p:sp>
        <p:nvSpPr>
          <p:cNvPr name="TextBox 26" id="26"/>
          <p:cNvSpPr txBox="true"/>
          <p:nvPr/>
        </p:nvSpPr>
        <p:spPr>
          <a:xfrm rot="0">
            <a:off x="12744450" y="7215188"/>
            <a:ext cx="3500438" cy="600075"/>
          </a:xfrm>
          <a:prstGeom prst="rect">
            <a:avLst/>
          </a:prstGeom>
        </p:spPr>
        <p:txBody>
          <a:bodyPr anchor="t" rtlCol="false" tIns="0" lIns="0" bIns="0" rIns="0">
            <a:spAutoFit/>
          </a:bodyPr>
          <a:lstStyle/>
          <a:p>
            <a:pPr algn="l">
              <a:lnSpc>
                <a:spcPts val="1889"/>
              </a:lnSpc>
            </a:pPr>
            <a:r>
              <a:rPr lang="en-US" sz="1575">
                <a:solidFill>
                  <a:srgbClr val="D8BBA4"/>
                </a:solidFill>
                <a:latin typeface="Lato"/>
                <a:ea typeface="Lato"/>
                <a:cs typeface="Lato"/>
                <a:sym typeface="Lato"/>
              </a:rPr>
              <a:t>Let the learner perform the action and see the result</a:t>
            </a:r>
          </a:p>
        </p:txBody>
      </p:sp>
      <p:sp>
        <p:nvSpPr>
          <p:cNvPr name="TextBox 27" id="27"/>
          <p:cNvSpPr txBox="true"/>
          <p:nvPr/>
        </p:nvSpPr>
        <p:spPr>
          <a:xfrm rot="0">
            <a:off x="914400" y="9744075"/>
            <a:ext cx="13144500" cy="257175"/>
          </a:xfrm>
          <a:prstGeom prst="rect">
            <a:avLst/>
          </a:prstGeom>
        </p:spPr>
        <p:txBody>
          <a:bodyPr anchor="t" rtlCol="false" tIns="0" lIns="0" bIns="0" rIns="0">
            <a:spAutoFit/>
          </a:bodyPr>
          <a:lstStyle/>
          <a:p>
            <a:pPr algn="l">
              <a:lnSpc>
                <a:spcPts val="1485"/>
              </a:lnSpc>
            </a:pPr>
            <a:r>
              <a:rPr lang="en-US" sz="1237">
                <a:solidFill>
                  <a:srgbClr val="C9A98C"/>
                </a:solidFill>
                <a:latin typeface="Lato"/>
                <a:ea typeface="Lato"/>
                <a:cs typeface="Lato"/>
                <a:sym typeface="Lato"/>
              </a:rPr>
              <a:t>Desktop product visual · guided-project-ai.webp and ai-assisted-coding.webp</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2B1910"/>
        </a:solidFill>
      </p:bgPr>
    </p:bg>
    <p:spTree>
      <p:nvGrpSpPr>
        <p:cNvPr id="1" name=""/>
        <p:cNvGrpSpPr/>
        <p:nvPr/>
      </p:nvGrpSpPr>
      <p:grpSpPr>
        <a:xfrm>
          <a:off x="0" y="0"/>
          <a:ext cx="0" cy="0"/>
          <a:chOff x="0" y="0"/>
          <a:chExt cx="0" cy="0"/>
        </a:xfrm>
      </p:grpSpPr>
      <p:sp>
        <p:nvSpPr>
          <p:cNvPr name="AutoShape 2" id="2"/>
          <p:cNvSpPr/>
          <p:nvPr/>
        </p:nvSpPr>
        <p:spPr>
          <a:xfrm rot="3000">
            <a:off x="907256" y="981075"/>
            <a:ext cx="16473497" cy="0"/>
          </a:xfrm>
          <a:prstGeom prst="line">
            <a:avLst/>
          </a:prstGeom>
          <a:ln cap="rnd" w="9525">
            <a:solidFill>
              <a:srgbClr val="5D3B27"/>
            </a:solidFill>
            <a:prstDash val="solid"/>
            <a:headEnd type="none" len="sm" w="sm"/>
            <a:tailEnd type="none" len="sm" w="sm"/>
          </a:ln>
        </p:spPr>
      </p:sp>
      <p:sp>
        <p:nvSpPr>
          <p:cNvPr name="TextBox 3" id="3"/>
          <p:cNvSpPr txBox="true"/>
          <p:nvPr/>
        </p:nvSpPr>
        <p:spPr>
          <a:xfrm rot="0">
            <a:off x="914400" y="1476375"/>
            <a:ext cx="12858750" cy="1181100"/>
          </a:xfrm>
          <a:prstGeom prst="rect">
            <a:avLst/>
          </a:prstGeom>
        </p:spPr>
        <p:txBody>
          <a:bodyPr anchor="t" rtlCol="false" tIns="0" lIns="0" bIns="0" rIns="0">
            <a:spAutoFit/>
          </a:bodyPr>
          <a:lstStyle/>
          <a:p>
            <a:pPr algn="l">
              <a:lnSpc>
                <a:spcPts val="6750"/>
              </a:lnSpc>
            </a:pPr>
            <a:r>
              <a:rPr lang="en-US" sz="5625" b="true">
                <a:solidFill>
                  <a:srgbClr val="FFF6E9"/>
                </a:solidFill>
                <a:latin typeface="Lato Bold"/>
                <a:ea typeface="Lato Bold"/>
                <a:cs typeface="Lato Bold"/>
                <a:sym typeface="Lato Bold"/>
              </a:rPr>
              <a:t>Mobile turns spare minutes into practice</a:t>
            </a:r>
          </a:p>
        </p:txBody>
      </p:sp>
      <p:sp>
        <p:nvSpPr>
          <p:cNvPr name="TextBox 4" id="4"/>
          <p:cNvSpPr txBox="true"/>
          <p:nvPr/>
        </p:nvSpPr>
        <p:spPr>
          <a:xfrm rot="0">
            <a:off x="957262" y="2506288"/>
            <a:ext cx="10429875" cy="742950"/>
          </a:xfrm>
          <a:prstGeom prst="rect">
            <a:avLst/>
          </a:prstGeom>
        </p:spPr>
        <p:txBody>
          <a:bodyPr anchor="t" rtlCol="false" tIns="0" lIns="0" bIns="0" rIns="0">
            <a:spAutoFit/>
          </a:bodyPr>
          <a:lstStyle/>
          <a:p>
            <a:pPr algn="l">
              <a:lnSpc>
                <a:spcPts val="2970"/>
              </a:lnSpc>
            </a:pPr>
            <a:r>
              <a:rPr lang="en-US" sz="2475">
                <a:solidFill>
                  <a:srgbClr val="E3CDBB"/>
                </a:solidFill>
                <a:latin typeface="Lato"/>
                <a:ea typeface="Lato"/>
                <a:cs typeface="Lato"/>
                <a:sym typeface="Lato"/>
              </a:rPr>
              <a:t>A daily task can fit into the time a learner already has.</a:t>
            </a:r>
          </a:p>
        </p:txBody>
      </p:sp>
      <p:grpSp>
        <p:nvGrpSpPr>
          <p:cNvPr name="Group 5" id="5"/>
          <p:cNvGrpSpPr/>
          <p:nvPr/>
        </p:nvGrpSpPr>
        <p:grpSpPr>
          <a:xfrm rot="0">
            <a:off x="1028700" y="3215889"/>
            <a:ext cx="2947418" cy="5969772"/>
            <a:chOff x="0" y="0"/>
            <a:chExt cx="3583472" cy="7258050"/>
          </a:xfrm>
        </p:grpSpPr>
        <p:sp>
          <p:nvSpPr>
            <p:cNvPr name="Freeform 6" id="6"/>
            <p:cNvSpPr/>
            <p:nvPr/>
          </p:nvSpPr>
          <p:spPr>
            <a:xfrm flipH="false" flipV="false" rot="0">
              <a:off x="0" y="0"/>
              <a:ext cx="3583472" cy="7258050"/>
            </a:xfrm>
            <a:custGeom>
              <a:avLst/>
              <a:gdLst/>
              <a:ahLst/>
              <a:cxnLst/>
              <a:rect r="r" b="b" t="t" l="l"/>
              <a:pathLst>
                <a:path h="7258050" w="3583472">
                  <a:moveTo>
                    <a:pt x="0" y="459105"/>
                  </a:moveTo>
                  <a:cubicBezTo>
                    <a:pt x="0" y="205486"/>
                    <a:pt x="160389" y="0"/>
                    <a:pt x="358347" y="0"/>
                  </a:cubicBezTo>
                  <a:lnTo>
                    <a:pt x="3225125" y="0"/>
                  </a:lnTo>
                  <a:cubicBezTo>
                    <a:pt x="3423083" y="0"/>
                    <a:pt x="3583472" y="205486"/>
                    <a:pt x="3583472" y="459105"/>
                  </a:cubicBezTo>
                  <a:lnTo>
                    <a:pt x="3583472" y="6798945"/>
                  </a:lnTo>
                  <a:cubicBezTo>
                    <a:pt x="3583472" y="7052564"/>
                    <a:pt x="3423083" y="7258050"/>
                    <a:pt x="3225125" y="7258050"/>
                  </a:cubicBezTo>
                  <a:lnTo>
                    <a:pt x="358347" y="7258050"/>
                  </a:lnTo>
                  <a:cubicBezTo>
                    <a:pt x="160389" y="7258050"/>
                    <a:pt x="0" y="7052564"/>
                    <a:pt x="0" y="6798945"/>
                  </a:cubicBezTo>
                  <a:close/>
                </a:path>
              </a:pathLst>
            </a:custGeom>
            <a:solidFill>
              <a:srgbClr val="1B100B"/>
            </a:solidFill>
            <a:ln w="14288" cap="sq">
              <a:solidFill>
                <a:srgbClr val="5D3B27"/>
              </a:solidFill>
              <a:prstDash val="solid"/>
              <a:miter/>
            </a:ln>
          </p:spPr>
        </p:sp>
      </p:grpSp>
      <p:grpSp>
        <p:nvGrpSpPr>
          <p:cNvPr name="Group 7" id="7"/>
          <p:cNvGrpSpPr/>
          <p:nvPr/>
        </p:nvGrpSpPr>
        <p:grpSpPr>
          <a:xfrm rot="0">
            <a:off x="1214749" y="3458754"/>
            <a:ext cx="2548575" cy="5515380"/>
            <a:chOff x="0" y="0"/>
            <a:chExt cx="3098559" cy="6705600"/>
          </a:xfrm>
        </p:grpSpPr>
        <p:sp>
          <p:nvSpPr>
            <p:cNvPr name="Freeform 8" id="8"/>
            <p:cNvSpPr/>
            <p:nvPr/>
          </p:nvSpPr>
          <p:spPr>
            <a:xfrm flipH="false" flipV="false" rot="0">
              <a:off x="0" y="0"/>
              <a:ext cx="3098546" cy="6705600"/>
            </a:xfrm>
            <a:custGeom>
              <a:avLst/>
              <a:gdLst/>
              <a:ahLst/>
              <a:cxnLst/>
              <a:rect r="r" b="b" t="t" l="l"/>
              <a:pathLst>
                <a:path h="6705600" w="3098546">
                  <a:moveTo>
                    <a:pt x="289512" y="0"/>
                  </a:moveTo>
                  <a:lnTo>
                    <a:pt x="2809034" y="0"/>
                  </a:lnTo>
                  <a:cubicBezTo>
                    <a:pt x="2885817" y="0"/>
                    <a:pt x="2959456" y="30502"/>
                    <a:pt x="3013750" y="84796"/>
                  </a:cubicBezTo>
                  <a:cubicBezTo>
                    <a:pt x="3068044" y="139090"/>
                    <a:pt x="3098546" y="212729"/>
                    <a:pt x="3098546" y="289512"/>
                  </a:cubicBezTo>
                  <a:lnTo>
                    <a:pt x="3098546" y="6416087"/>
                  </a:lnTo>
                  <a:cubicBezTo>
                    <a:pt x="3098546" y="6575981"/>
                    <a:pt x="2968927" y="6705600"/>
                    <a:pt x="2809034" y="6705600"/>
                  </a:cubicBezTo>
                  <a:lnTo>
                    <a:pt x="289512" y="6705600"/>
                  </a:lnTo>
                  <a:cubicBezTo>
                    <a:pt x="129619" y="6705600"/>
                    <a:pt x="0" y="6575981"/>
                    <a:pt x="0" y="6416087"/>
                  </a:cubicBezTo>
                  <a:lnTo>
                    <a:pt x="0" y="289512"/>
                  </a:lnTo>
                  <a:cubicBezTo>
                    <a:pt x="0" y="129619"/>
                    <a:pt x="129619" y="0"/>
                    <a:pt x="289512" y="0"/>
                  </a:cubicBezTo>
                  <a:close/>
                </a:path>
              </a:pathLst>
            </a:custGeom>
            <a:blipFill>
              <a:blip r:embed="rId3"/>
              <a:stretch>
                <a:fillRect l="0" t="0" r="0" b="0"/>
              </a:stretch>
            </a:blipFill>
          </p:spPr>
        </p:sp>
      </p:grpSp>
      <p:grpSp>
        <p:nvGrpSpPr>
          <p:cNvPr name="Group 9" id="9"/>
          <p:cNvGrpSpPr/>
          <p:nvPr/>
        </p:nvGrpSpPr>
        <p:grpSpPr>
          <a:xfrm rot="0">
            <a:off x="5719818" y="3238579"/>
            <a:ext cx="2925013" cy="5924391"/>
            <a:chOff x="0" y="0"/>
            <a:chExt cx="3583472" cy="7258050"/>
          </a:xfrm>
        </p:grpSpPr>
        <p:sp>
          <p:nvSpPr>
            <p:cNvPr name="Freeform 10" id="10"/>
            <p:cNvSpPr/>
            <p:nvPr/>
          </p:nvSpPr>
          <p:spPr>
            <a:xfrm flipH="false" flipV="false" rot="0">
              <a:off x="0" y="0"/>
              <a:ext cx="3583472" cy="7258050"/>
            </a:xfrm>
            <a:custGeom>
              <a:avLst/>
              <a:gdLst/>
              <a:ahLst/>
              <a:cxnLst/>
              <a:rect r="r" b="b" t="t" l="l"/>
              <a:pathLst>
                <a:path h="7258050" w="3583472">
                  <a:moveTo>
                    <a:pt x="0" y="459105"/>
                  </a:moveTo>
                  <a:cubicBezTo>
                    <a:pt x="0" y="205486"/>
                    <a:pt x="160389" y="0"/>
                    <a:pt x="358347" y="0"/>
                  </a:cubicBezTo>
                  <a:lnTo>
                    <a:pt x="3225125" y="0"/>
                  </a:lnTo>
                  <a:cubicBezTo>
                    <a:pt x="3423083" y="0"/>
                    <a:pt x="3583472" y="205486"/>
                    <a:pt x="3583472" y="459105"/>
                  </a:cubicBezTo>
                  <a:lnTo>
                    <a:pt x="3583472" y="6798945"/>
                  </a:lnTo>
                  <a:cubicBezTo>
                    <a:pt x="3583472" y="7052564"/>
                    <a:pt x="3423083" y="7258050"/>
                    <a:pt x="3225125" y="7258050"/>
                  </a:cubicBezTo>
                  <a:lnTo>
                    <a:pt x="358347" y="7258050"/>
                  </a:lnTo>
                  <a:cubicBezTo>
                    <a:pt x="160389" y="7258050"/>
                    <a:pt x="0" y="7052564"/>
                    <a:pt x="0" y="6798945"/>
                  </a:cubicBezTo>
                  <a:close/>
                </a:path>
              </a:pathLst>
            </a:custGeom>
            <a:solidFill>
              <a:srgbClr val="1B100B"/>
            </a:solidFill>
            <a:ln w="14288" cap="sq">
              <a:solidFill>
                <a:srgbClr val="5D3B27"/>
              </a:solidFill>
              <a:prstDash val="solid"/>
              <a:miter/>
            </a:ln>
          </p:spPr>
        </p:sp>
      </p:grpSp>
      <p:grpSp>
        <p:nvGrpSpPr>
          <p:cNvPr name="Group 11" id="11"/>
          <p:cNvGrpSpPr/>
          <p:nvPr/>
        </p:nvGrpSpPr>
        <p:grpSpPr>
          <a:xfrm rot="0">
            <a:off x="5917724" y="3448499"/>
            <a:ext cx="2529202" cy="5473453"/>
            <a:chOff x="0" y="0"/>
            <a:chExt cx="3098559" cy="6705600"/>
          </a:xfrm>
        </p:grpSpPr>
        <p:sp>
          <p:nvSpPr>
            <p:cNvPr name="Freeform 12" id="12"/>
            <p:cNvSpPr/>
            <p:nvPr/>
          </p:nvSpPr>
          <p:spPr>
            <a:xfrm flipH="false" flipV="false" rot="0">
              <a:off x="0" y="0"/>
              <a:ext cx="3098546" cy="6705600"/>
            </a:xfrm>
            <a:custGeom>
              <a:avLst/>
              <a:gdLst/>
              <a:ahLst/>
              <a:cxnLst/>
              <a:rect r="r" b="b" t="t" l="l"/>
              <a:pathLst>
                <a:path h="6705600" w="3098546">
                  <a:moveTo>
                    <a:pt x="291730" y="0"/>
                  </a:moveTo>
                  <a:lnTo>
                    <a:pt x="2806816" y="0"/>
                  </a:lnTo>
                  <a:cubicBezTo>
                    <a:pt x="2884188" y="0"/>
                    <a:pt x="2958390" y="30736"/>
                    <a:pt x="3013100" y="85446"/>
                  </a:cubicBezTo>
                  <a:cubicBezTo>
                    <a:pt x="3067810" y="140156"/>
                    <a:pt x="3098546" y="214358"/>
                    <a:pt x="3098546" y="291730"/>
                  </a:cubicBezTo>
                  <a:lnTo>
                    <a:pt x="3098546" y="6413870"/>
                  </a:lnTo>
                  <a:cubicBezTo>
                    <a:pt x="3098546" y="6574988"/>
                    <a:pt x="2967934" y="6705600"/>
                    <a:pt x="2806816" y="6705600"/>
                  </a:cubicBezTo>
                  <a:lnTo>
                    <a:pt x="291730" y="6705600"/>
                  </a:lnTo>
                  <a:cubicBezTo>
                    <a:pt x="214358" y="6705600"/>
                    <a:pt x="140156" y="6674864"/>
                    <a:pt x="85446" y="6620154"/>
                  </a:cubicBezTo>
                  <a:cubicBezTo>
                    <a:pt x="30736" y="6565444"/>
                    <a:pt x="0" y="6491241"/>
                    <a:pt x="0" y="6413870"/>
                  </a:cubicBezTo>
                  <a:lnTo>
                    <a:pt x="0" y="291730"/>
                  </a:lnTo>
                  <a:cubicBezTo>
                    <a:pt x="0" y="214358"/>
                    <a:pt x="30736" y="140156"/>
                    <a:pt x="85446" y="85446"/>
                  </a:cubicBezTo>
                  <a:cubicBezTo>
                    <a:pt x="140156" y="30736"/>
                    <a:pt x="214358" y="0"/>
                    <a:pt x="291730" y="0"/>
                  </a:cubicBezTo>
                  <a:close/>
                </a:path>
              </a:pathLst>
            </a:custGeom>
            <a:blipFill>
              <a:blip r:embed="rId4"/>
              <a:stretch>
                <a:fillRect l="0" t="0" r="0" b="0"/>
              </a:stretch>
            </a:blipFill>
          </p:spPr>
        </p:sp>
      </p:grpSp>
      <p:grpSp>
        <p:nvGrpSpPr>
          <p:cNvPr name="Group 13" id="13"/>
          <p:cNvGrpSpPr/>
          <p:nvPr/>
        </p:nvGrpSpPr>
        <p:grpSpPr>
          <a:xfrm rot="0">
            <a:off x="9715500" y="4286250"/>
            <a:ext cx="600075" cy="600075"/>
            <a:chOff x="0" y="0"/>
            <a:chExt cx="800100" cy="800100"/>
          </a:xfrm>
        </p:grpSpPr>
        <p:sp>
          <p:nvSpPr>
            <p:cNvPr name="Freeform 14" id="14"/>
            <p:cNvSpPr/>
            <p:nvPr/>
          </p:nvSpPr>
          <p:spPr>
            <a:xfrm flipH="false" flipV="false" rot="0">
              <a:off x="0" y="0"/>
              <a:ext cx="800100" cy="800100"/>
            </a:xfrm>
            <a:custGeom>
              <a:avLst/>
              <a:gdLst/>
              <a:ahLst/>
              <a:cxnLst/>
              <a:rect r="r" b="b" t="t" l="l"/>
              <a:pathLst>
                <a:path h="800100" w="800100">
                  <a:moveTo>
                    <a:pt x="0" y="400050"/>
                  </a:moveTo>
                  <a:cubicBezTo>
                    <a:pt x="0" y="179070"/>
                    <a:pt x="179070" y="0"/>
                    <a:pt x="400050" y="0"/>
                  </a:cubicBezTo>
                  <a:cubicBezTo>
                    <a:pt x="621030" y="0"/>
                    <a:pt x="800100" y="179070"/>
                    <a:pt x="800100" y="400050"/>
                  </a:cubicBezTo>
                  <a:cubicBezTo>
                    <a:pt x="800100" y="621030"/>
                    <a:pt x="621030" y="800100"/>
                    <a:pt x="400050" y="800100"/>
                  </a:cubicBezTo>
                  <a:cubicBezTo>
                    <a:pt x="179070" y="800100"/>
                    <a:pt x="0" y="621030"/>
                    <a:pt x="0" y="400050"/>
                  </a:cubicBezTo>
                  <a:close/>
                </a:path>
              </a:pathLst>
            </a:custGeom>
            <a:solidFill>
              <a:srgbClr val="FFF6E9"/>
            </a:solidFill>
            <a:ln cap="sq">
              <a:noFill/>
              <a:prstDash val="solid"/>
              <a:miter/>
            </a:ln>
          </p:spPr>
        </p:sp>
        <p:sp>
          <p:nvSpPr>
            <p:cNvPr name="TextBox 15" id="15"/>
            <p:cNvSpPr txBox="true"/>
            <p:nvPr/>
          </p:nvSpPr>
          <p:spPr>
            <a:xfrm>
              <a:off x="0" y="-9525"/>
              <a:ext cx="800100" cy="809625"/>
            </a:xfrm>
            <a:prstGeom prst="rect">
              <a:avLst/>
            </a:prstGeom>
          </p:spPr>
          <p:txBody>
            <a:bodyPr anchor="ctr" rtlCol="false" tIns="50800" lIns="50800" bIns="50800" rIns="50800"/>
            <a:lstStyle/>
            <a:p>
              <a:pPr algn="ctr">
                <a:lnSpc>
                  <a:spcPts val="2430"/>
                </a:lnSpc>
              </a:pPr>
              <a:r>
                <a:rPr lang="en-US" sz="2025" b="true">
                  <a:solidFill>
                    <a:srgbClr val="C45300"/>
                  </a:solidFill>
                  <a:latin typeface="Lato Bold"/>
                  <a:ea typeface="Lato Bold"/>
                  <a:cs typeface="Lato Bold"/>
                  <a:sym typeface="Lato Bold"/>
                </a:rPr>
                <a:t>1</a:t>
              </a:r>
            </a:p>
          </p:txBody>
        </p:sp>
      </p:grpSp>
      <p:grpSp>
        <p:nvGrpSpPr>
          <p:cNvPr name="Group 16" id="16"/>
          <p:cNvGrpSpPr/>
          <p:nvPr/>
        </p:nvGrpSpPr>
        <p:grpSpPr>
          <a:xfrm rot="0">
            <a:off x="9715500" y="5743575"/>
            <a:ext cx="600075" cy="600075"/>
            <a:chOff x="0" y="0"/>
            <a:chExt cx="800100" cy="800100"/>
          </a:xfrm>
        </p:grpSpPr>
        <p:sp>
          <p:nvSpPr>
            <p:cNvPr name="Freeform 17" id="17"/>
            <p:cNvSpPr/>
            <p:nvPr/>
          </p:nvSpPr>
          <p:spPr>
            <a:xfrm flipH="false" flipV="false" rot="0">
              <a:off x="0" y="0"/>
              <a:ext cx="800100" cy="800100"/>
            </a:xfrm>
            <a:custGeom>
              <a:avLst/>
              <a:gdLst/>
              <a:ahLst/>
              <a:cxnLst/>
              <a:rect r="r" b="b" t="t" l="l"/>
              <a:pathLst>
                <a:path h="800100" w="800100">
                  <a:moveTo>
                    <a:pt x="0" y="400050"/>
                  </a:moveTo>
                  <a:cubicBezTo>
                    <a:pt x="0" y="179070"/>
                    <a:pt x="179070" y="0"/>
                    <a:pt x="400050" y="0"/>
                  </a:cubicBezTo>
                  <a:cubicBezTo>
                    <a:pt x="621030" y="0"/>
                    <a:pt x="800100" y="179070"/>
                    <a:pt x="800100" y="400050"/>
                  </a:cubicBezTo>
                  <a:cubicBezTo>
                    <a:pt x="800100" y="621030"/>
                    <a:pt x="621030" y="800100"/>
                    <a:pt x="400050" y="800100"/>
                  </a:cubicBezTo>
                  <a:cubicBezTo>
                    <a:pt x="179070" y="800100"/>
                    <a:pt x="0" y="621030"/>
                    <a:pt x="0" y="400050"/>
                  </a:cubicBezTo>
                  <a:close/>
                </a:path>
              </a:pathLst>
            </a:custGeom>
            <a:solidFill>
              <a:srgbClr val="FF8500"/>
            </a:solidFill>
            <a:ln cap="sq">
              <a:noFill/>
              <a:prstDash val="solid"/>
              <a:miter/>
            </a:ln>
          </p:spPr>
        </p:sp>
        <p:sp>
          <p:nvSpPr>
            <p:cNvPr name="TextBox 18" id="18"/>
            <p:cNvSpPr txBox="true"/>
            <p:nvPr/>
          </p:nvSpPr>
          <p:spPr>
            <a:xfrm>
              <a:off x="0" y="-9525"/>
              <a:ext cx="800100" cy="809625"/>
            </a:xfrm>
            <a:prstGeom prst="rect">
              <a:avLst/>
            </a:prstGeom>
          </p:spPr>
          <p:txBody>
            <a:bodyPr anchor="ctr" rtlCol="false" tIns="50800" lIns="50800" bIns="50800" rIns="50800"/>
            <a:lstStyle/>
            <a:p>
              <a:pPr algn="ctr">
                <a:lnSpc>
                  <a:spcPts val="2430"/>
                </a:lnSpc>
              </a:pPr>
              <a:r>
                <a:rPr lang="en-US" sz="2025" b="true">
                  <a:solidFill>
                    <a:srgbClr val="FFF6E9"/>
                  </a:solidFill>
                  <a:latin typeface="Lato Bold"/>
                  <a:ea typeface="Lato Bold"/>
                  <a:cs typeface="Lato Bold"/>
                  <a:sym typeface="Lato Bold"/>
                </a:rPr>
                <a:t>2</a:t>
              </a:r>
            </a:p>
          </p:txBody>
        </p:sp>
      </p:grpSp>
      <p:grpSp>
        <p:nvGrpSpPr>
          <p:cNvPr name="Group 19" id="19"/>
          <p:cNvGrpSpPr/>
          <p:nvPr/>
        </p:nvGrpSpPr>
        <p:grpSpPr>
          <a:xfrm rot="0">
            <a:off x="9715500" y="7200900"/>
            <a:ext cx="600075" cy="600075"/>
            <a:chOff x="0" y="0"/>
            <a:chExt cx="800100" cy="800100"/>
          </a:xfrm>
        </p:grpSpPr>
        <p:sp>
          <p:nvSpPr>
            <p:cNvPr name="Freeform 20" id="20"/>
            <p:cNvSpPr/>
            <p:nvPr/>
          </p:nvSpPr>
          <p:spPr>
            <a:xfrm flipH="false" flipV="false" rot="0">
              <a:off x="0" y="0"/>
              <a:ext cx="800100" cy="800100"/>
            </a:xfrm>
            <a:custGeom>
              <a:avLst/>
              <a:gdLst/>
              <a:ahLst/>
              <a:cxnLst/>
              <a:rect r="r" b="b" t="t" l="l"/>
              <a:pathLst>
                <a:path h="800100" w="800100">
                  <a:moveTo>
                    <a:pt x="0" y="400050"/>
                  </a:moveTo>
                  <a:cubicBezTo>
                    <a:pt x="0" y="179070"/>
                    <a:pt x="179070" y="0"/>
                    <a:pt x="400050" y="0"/>
                  </a:cubicBezTo>
                  <a:cubicBezTo>
                    <a:pt x="621030" y="0"/>
                    <a:pt x="800100" y="179070"/>
                    <a:pt x="800100" y="400050"/>
                  </a:cubicBezTo>
                  <a:cubicBezTo>
                    <a:pt x="800100" y="621030"/>
                    <a:pt x="621030" y="800100"/>
                    <a:pt x="400050" y="800100"/>
                  </a:cubicBezTo>
                  <a:cubicBezTo>
                    <a:pt x="179070" y="800100"/>
                    <a:pt x="0" y="621030"/>
                    <a:pt x="0" y="400050"/>
                  </a:cubicBezTo>
                  <a:close/>
                </a:path>
              </a:pathLst>
            </a:custGeom>
            <a:solidFill>
              <a:srgbClr val="FFF6E9"/>
            </a:solidFill>
            <a:ln cap="sq">
              <a:noFill/>
              <a:prstDash val="solid"/>
              <a:miter/>
            </a:ln>
          </p:spPr>
        </p:sp>
        <p:sp>
          <p:nvSpPr>
            <p:cNvPr name="TextBox 21" id="21"/>
            <p:cNvSpPr txBox="true"/>
            <p:nvPr/>
          </p:nvSpPr>
          <p:spPr>
            <a:xfrm>
              <a:off x="0" y="-9525"/>
              <a:ext cx="800100" cy="809625"/>
            </a:xfrm>
            <a:prstGeom prst="rect">
              <a:avLst/>
            </a:prstGeom>
          </p:spPr>
          <p:txBody>
            <a:bodyPr anchor="ctr" rtlCol="false" tIns="50800" lIns="50800" bIns="50800" rIns="50800"/>
            <a:lstStyle/>
            <a:p>
              <a:pPr algn="ctr">
                <a:lnSpc>
                  <a:spcPts val="2430"/>
                </a:lnSpc>
              </a:pPr>
              <a:r>
                <a:rPr lang="en-US" sz="2025" b="true">
                  <a:solidFill>
                    <a:srgbClr val="C45300"/>
                  </a:solidFill>
                  <a:latin typeface="Lato Bold"/>
                  <a:ea typeface="Lato Bold"/>
                  <a:cs typeface="Lato Bold"/>
                  <a:sym typeface="Lato Bold"/>
                </a:rPr>
                <a:t>3</a:t>
              </a:r>
            </a:p>
          </p:txBody>
        </p:sp>
      </p:grpSp>
      <p:sp>
        <p:nvSpPr>
          <p:cNvPr name="Freeform 22" id="22"/>
          <p:cNvSpPr/>
          <p:nvPr/>
        </p:nvSpPr>
        <p:spPr>
          <a:xfrm flipH="false" flipV="false" rot="0">
            <a:off x="3523189" y="5743575"/>
            <a:ext cx="2649011" cy="3638127"/>
          </a:xfrm>
          <a:custGeom>
            <a:avLst/>
            <a:gdLst/>
            <a:ahLst/>
            <a:cxnLst/>
            <a:rect r="r" b="b" t="t" l="l"/>
            <a:pathLst>
              <a:path h="3638127" w="2649011">
                <a:moveTo>
                  <a:pt x="0" y="0"/>
                </a:moveTo>
                <a:lnTo>
                  <a:pt x="2649011" y="0"/>
                </a:lnTo>
                <a:lnTo>
                  <a:pt x="2649011" y="3638127"/>
                </a:lnTo>
                <a:lnTo>
                  <a:pt x="0" y="3638127"/>
                </a:lnTo>
                <a:lnTo>
                  <a:pt x="0" y="0"/>
                </a:lnTo>
                <a:close/>
              </a:path>
            </a:pathLst>
          </a:custGeom>
          <a:blipFill>
            <a:blip r:embed="rId5"/>
            <a:stretch>
              <a:fillRect l="0" t="0" r="0" b="0"/>
            </a:stretch>
          </a:blipFill>
        </p:spPr>
      </p:sp>
      <p:sp>
        <p:nvSpPr>
          <p:cNvPr name="TextBox 23" id="23"/>
          <p:cNvSpPr txBox="true"/>
          <p:nvPr/>
        </p:nvSpPr>
        <p:spPr>
          <a:xfrm rot="0">
            <a:off x="914400" y="390525"/>
            <a:ext cx="1857375" cy="466725"/>
          </a:xfrm>
          <a:prstGeom prst="rect">
            <a:avLst/>
          </a:prstGeom>
        </p:spPr>
        <p:txBody>
          <a:bodyPr anchor="t" rtlCol="false" tIns="0" lIns="0" bIns="0" rIns="0">
            <a:spAutoFit/>
          </a:bodyPr>
          <a:lstStyle/>
          <a:p>
            <a:pPr algn="l">
              <a:lnSpc>
                <a:spcPts val="3104"/>
              </a:lnSpc>
            </a:pPr>
            <a:r>
              <a:rPr lang="en-US" sz="2587" b="true">
                <a:solidFill>
                  <a:srgbClr val="FF8500"/>
                </a:solidFill>
                <a:latin typeface="Lato Bold"/>
                <a:ea typeface="Lato Bold"/>
                <a:cs typeface="Lato Bold"/>
                <a:sym typeface="Lato Bold"/>
              </a:rPr>
              <a:t>bataa</a:t>
            </a:r>
          </a:p>
        </p:txBody>
      </p:sp>
      <p:sp>
        <p:nvSpPr>
          <p:cNvPr name="TextBox 24" id="24"/>
          <p:cNvSpPr txBox="true"/>
          <p:nvPr/>
        </p:nvSpPr>
        <p:spPr>
          <a:xfrm rot="0">
            <a:off x="3171825" y="461963"/>
            <a:ext cx="6000750" cy="323850"/>
          </a:xfrm>
          <a:prstGeom prst="rect">
            <a:avLst/>
          </a:prstGeom>
        </p:spPr>
        <p:txBody>
          <a:bodyPr anchor="t" rtlCol="false" tIns="0" lIns="0" bIns="0" rIns="0">
            <a:spAutoFit/>
          </a:bodyPr>
          <a:lstStyle/>
          <a:p>
            <a:pPr algn="l">
              <a:lnSpc>
                <a:spcPts val="1620"/>
              </a:lnSpc>
            </a:pPr>
            <a:r>
              <a:rPr lang="en-US" sz="1350" b="true">
                <a:solidFill>
                  <a:srgbClr val="D7BDA9"/>
                </a:solidFill>
                <a:latin typeface="Lato Bold"/>
                <a:ea typeface="Lato Bold"/>
                <a:cs typeface="Lato Bold"/>
                <a:sym typeface="Lato Bold"/>
              </a:rPr>
              <a:t>MOBILE PRACTICE</a:t>
            </a:r>
          </a:p>
        </p:txBody>
      </p:sp>
      <p:sp>
        <p:nvSpPr>
          <p:cNvPr name="TextBox 25" id="25"/>
          <p:cNvSpPr txBox="true"/>
          <p:nvPr/>
        </p:nvSpPr>
        <p:spPr>
          <a:xfrm rot="0">
            <a:off x="16859250" y="442912"/>
            <a:ext cx="514350" cy="238125"/>
          </a:xfrm>
          <a:prstGeom prst="rect">
            <a:avLst/>
          </a:prstGeom>
        </p:spPr>
        <p:txBody>
          <a:bodyPr anchor="t" rtlCol="false" tIns="0" lIns="0" bIns="0" rIns="0">
            <a:spAutoFit/>
          </a:bodyPr>
          <a:lstStyle/>
          <a:p>
            <a:pPr algn="r">
              <a:lnSpc>
                <a:spcPts val="1889"/>
              </a:lnSpc>
            </a:pPr>
            <a:r>
              <a:rPr lang="en-US" sz="1575" b="true">
                <a:solidFill>
                  <a:srgbClr val="FFF6E9"/>
                </a:solidFill>
                <a:latin typeface="Lato Bold"/>
                <a:ea typeface="Lato Bold"/>
                <a:cs typeface="Lato Bold"/>
                <a:sym typeface="Lato Bold"/>
              </a:rPr>
              <a:t>07</a:t>
            </a:r>
          </a:p>
        </p:txBody>
      </p:sp>
      <p:sp>
        <p:nvSpPr>
          <p:cNvPr name="TextBox 26" id="26"/>
          <p:cNvSpPr txBox="true"/>
          <p:nvPr/>
        </p:nvSpPr>
        <p:spPr>
          <a:xfrm rot="0">
            <a:off x="10601325" y="4233863"/>
            <a:ext cx="4857750" cy="438150"/>
          </a:xfrm>
          <a:prstGeom prst="rect">
            <a:avLst/>
          </a:prstGeom>
        </p:spPr>
        <p:txBody>
          <a:bodyPr anchor="t" rtlCol="false" tIns="0" lIns="0" bIns="0" rIns="0">
            <a:spAutoFit/>
          </a:bodyPr>
          <a:lstStyle/>
          <a:p>
            <a:pPr algn="l">
              <a:lnSpc>
                <a:spcPts val="3375"/>
              </a:lnSpc>
            </a:pPr>
            <a:r>
              <a:rPr lang="en-US" sz="2812" b="true">
                <a:solidFill>
                  <a:srgbClr val="FFF6E9"/>
                </a:solidFill>
                <a:latin typeface="Lato Bold"/>
                <a:ea typeface="Lato Bold"/>
                <a:cs typeface="Lato Bold"/>
                <a:sym typeface="Lato Bold"/>
              </a:rPr>
              <a:t>8–10 min</a:t>
            </a:r>
          </a:p>
        </p:txBody>
      </p:sp>
      <p:sp>
        <p:nvSpPr>
          <p:cNvPr name="TextBox 27" id="27"/>
          <p:cNvSpPr txBox="true"/>
          <p:nvPr/>
        </p:nvSpPr>
        <p:spPr>
          <a:xfrm rot="0">
            <a:off x="10601325" y="4757738"/>
            <a:ext cx="5286375" cy="628650"/>
          </a:xfrm>
          <a:prstGeom prst="rect">
            <a:avLst/>
          </a:prstGeom>
        </p:spPr>
        <p:txBody>
          <a:bodyPr anchor="t" rtlCol="false" tIns="0" lIns="0" bIns="0" rIns="0">
            <a:spAutoFit/>
          </a:bodyPr>
          <a:lstStyle/>
          <a:p>
            <a:pPr algn="l">
              <a:lnSpc>
                <a:spcPts val="2295"/>
              </a:lnSpc>
            </a:pPr>
            <a:r>
              <a:rPr lang="en-US" sz="1912">
                <a:solidFill>
                  <a:srgbClr val="D8BBA4"/>
                </a:solidFill>
                <a:latin typeface="Lato"/>
                <a:ea typeface="Lato"/>
                <a:cs typeface="Lato"/>
                <a:sym typeface="Lato"/>
              </a:rPr>
              <a:t>A small session with a clear finish line</a:t>
            </a:r>
          </a:p>
        </p:txBody>
      </p:sp>
      <p:sp>
        <p:nvSpPr>
          <p:cNvPr name="TextBox 28" id="28"/>
          <p:cNvSpPr txBox="true"/>
          <p:nvPr/>
        </p:nvSpPr>
        <p:spPr>
          <a:xfrm rot="0">
            <a:off x="10601325" y="5691187"/>
            <a:ext cx="2057102" cy="438150"/>
          </a:xfrm>
          <a:prstGeom prst="rect">
            <a:avLst/>
          </a:prstGeom>
        </p:spPr>
        <p:txBody>
          <a:bodyPr anchor="t" rtlCol="false" tIns="0" lIns="0" bIns="0" rIns="0">
            <a:spAutoFit/>
          </a:bodyPr>
          <a:lstStyle/>
          <a:p>
            <a:pPr algn="l">
              <a:lnSpc>
                <a:spcPts val="3375"/>
              </a:lnSpc>
            </a:pPr>
            <a:r>
              <a:rPr lang="en-US" sz="2812" b="true">
                <a:solidFill>
                  <a:srgbClr val="FFF6E9"/>
                </a:solidFill>
                <a:latin typeface="Lato Bold"/>
                <a:ea typeface="Lato Bold"/>
                <a:cs typeface="Lato Bold"/>
                <a:sym typeface="Lato Bold"/>
              </a:rPr>
              <a:t>User friendly</a:t>
            </a:r>
          </a:p>
        </p:txBody>
      </p:sp>
      <p:sp>
        <p:nvSpPr>
          <p:cNvPr name="TextBox 29" id="29"/>
          <p:cNvSpPr txBox="true"/>
          <p:nvPr/>
        </p:nvSpPr>
        <p:spPr>
          <a:xfrm rot="0">
            <a:off x="10601325" y="6215062"/>
            <a:ext cx="5286375" cy="628650"/>
          </a:xfrm>
          <a:prstGeom prst="rect">
            <a:avLst/>
          </a:prstGeom>
        </p:spPr>
        <p:txBody>
          <a:bodyPr anchor="t" rtlCol="false" tIns="0" lIns="0" bIns="0" rIns="0">
            <a:spAutoFit/>
          </a:bodyPr>
          <a:lstStyle/>
          <a:p>
            <a:pPr algn="l">
              <a:lnSpc>
                <a:spcPts val="2295"/>
              </a:lnSpc>
            </a:pPr>
            <a:r>
              <a:rPr lang="en-US" sz="1912">
                <a:solidFill>
                  <a:srgbClr val="D8BBA4"/>
                </a:solidFill>
                <a:latin typeface="Lato"/>
                <a:ea typeface="Lato"/>
                <a:cs typeface="Lato"/>
                <a:sym typeface="Lato"/>
              </a:rPr>
              <a:t>The first days use three-choice recognition</a:t>
            </a:r>
          </a:p>
        </p:txBody>
      </p:sp>
      <p:sp>
        <p:nvSpPr>
          <p:cNvPr name="TextBox 30" id="30"/>
          <p:cNvSpPr txBox="true"/>
          <p:nvPr/>
        </p:nvSpPr>
        <p:spPr>
          <a:xfrm rot="0">
            <a:off x="10601325" y="7148513"/>
            <a:ext cx="4857750" cy="438150"/>
          </a:xfrm>
          <a:prstGeom prst="rect">
            <a:avLst/>
          </a:prstGeom>
        </p:spPr>
        <p:txBody>
          <a:bodyPr anchor="t" rtlCol="false" tIns="0" lIns="0" bIns="0" rIns="0">
            <a:spAutoFit/>
          </a:bodyPr>
          <a:lstStyle/>
          <a:p>
            <a:pPr algn="l">
              <a:lnSpc>
                <a:spcPts val="3375"/>
              </a:lnSpc>
            </a:pPr>
            <a:r>
              <a:rPr lang="en-US" sz="2812" b="true">
                <a:solidFill>
                  <a:srgbClr val="FFF6E9"/>
                </a:solidFill>
                <a:latin typeface="Lato Bold"/>
                <a:ea typeface="Lato Bold"/>
                <a:cs typeface="Lato Bold"/>
                <a:sym typeface="Lato Bold"/>
              </a:rPr>
              <a:t>One real skill</a:t>
            </a:r>
          </a:p>
        </p:txBody>
      </p:sp>
      <p:sp>
        <p:nvSpPr>
          <p:cNvPr name="TextBox 31" id="31"/>
          <p:cNvSpPr txBox="true"/>
          <p:nvPr/>
        </p:nvSpPr>
        <p:spPr>
          <a:xfrm rot="0">
            <a:off x="10601325" y="7672388"/>
            <a:ext cx="5286375" cy="628650"/>
          </a:xfrm>
          <a:prstGeom prst="rect">
            <a:avLst/>
          </a:prstGeom>
        </p:spPr>
        <p:txBody>
          <a:bodyPr anchor="t" rtlCol="false" tIns="0" lIns="0" bIns="0" rIns="0">
            <a:spAutoFit/>
          </a:bodyPr>
          <a:lstStyle/>
          <a:p>
            <a:pPr algn="l">
              <a:lnSpc>
                <a:spcPts val="2295"/>
              </a:lnSpc>
            </a:pPr>
            <a:r>
              <a:rPr lang="en-US" sz="1912">
                <a:solidFill>
                  <a:srgbClr val="D8BBA4"/>
                </a:solidFill>
                <a:latin typeface="Lato"/>
                <a:ea typeface="Lato"/>
                <a:cs typeface="Lato"/>
                <a:sym typeface="Lato"/>
              </a:rPr>
              <a:t>Every step maps to a usable web concept</a:t>
            </a:r>
          </a:p>
        </p:txBody>
      </p:sp>
      <p:sp>
        <p:nvSpPr>
          <p:cNvPr name="TextBox 32" id="32"/>
          <p:cNvSpPr txBox="true"/>
          <p:nvPr/>
        </p:nvSpPr>
        <p:spPr>
          <a:xfrm rot="0">
            <a:off x="914400" y="9744075"/>
            <a:ext cx="13144500" cy="257175"/>
          </a:xfrm>
          <a:prstGeom prst="rect">
            <a:avLst/>
          </a:prstGeom>
        </p:spPr>
        <p:txBody>
          <a:bodyPr anchor="t" rtlCol="false" tIns="0" lIns="0" bIns="0" rIns="0">
            <a:spAutoFit/>
          </a:bodyPr>
          <a:lstStyle/>
          <a:p>
            <a:pPr algn="l">
              <a:lnSpc>
                <a:spcPts val="1485"/>
              </a:lnSpc>
            </a:pPr>
            <a:r>
              <a:rPr lang="en-US" sz="1237">
                <a:solidFill>
                  <a:srgbClr val="C9A98C"/>
                </a:solidFill>
                <a:latin typeface="Lato"/>
                <a:ea typeface="Lato"/>
                <a:cs typeface="Lato"/>
                <a:sym typeface="Lato"/>
              </a:rPr>
              <a:t>Demonstrated · beginner-friendly lesson flow</a:t>
            </a:r>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FFF6E9"/>
        </a:solidFill>
      </p:bgPr>
    </p:bg>
    <p:spTree>
      <p:nvGrpSpPr>
        <p:cNvPr id="1" name=""/>
        <p:cNvGrpSpPr/>
        <p:nvPr/>
      </p:nvGrpSpPr>
      <p:grpSpPr>
        <a:xfrm>
          <a:off x="0" y="0"/>
          <a:ext cx="0" cy="0"/>
          <a:chOff x="0" y="0"/>
          <a:chExt cx="0" cy="0"/>
        </a:xfrm>
      </p:grpSpPr>
      <p:sp>
        <p:nvSpPr>
          <p:cNvPr name="TextBox 2" id="2"/>
          <p:cNvSpPr txBox="true"/>
          <p:nvPr/>
        </p:nvSpPr>
        <p:spPr>
          <a:xfrm rot="0">
            <a:off x="914400" y="390525"/>
            <a:ext cx="1857375" cy="466725"/>
          </a:xfrm>
          <a:prstGeom prst="rect">
            <a:avLst/>
          </a:prstGeom>
        </p:spPr>
        <p:txBody>
          <a:bodyPr anchor="t" rtlCol="false" tIns="0" lIns="0" bIns="0" rIns="0">
            <a:spAutoFit/>
          </a:bodyPr>
          <a:lstStyle/>
          <a:p>
            <a:pPr algn="l">
              <a:lnSpc>
                <a:spcPts val="3104"/>
              </a:lnSpc>
            </a:pPr>
            <a:r>
              <a:rPr lang="en-US" sz="2587" b="true">
                <a:solidFill>
                  <a:srgbClr val="FF8500"/>
                </a:solidFill>
                <a:latin typeface="Lato Bold"/>
                <a:ea typeface="Lato Bold"/>
                <a:cs typeface="Lato Bold"/>
                <a:sym typeface="Lato Bold"/>
              </a:rPr>
              <a:t>bataa</a:t>
            </a:r>
          </a:p>
        </p:txBody>
      </p:sp>
      <p:sp>
        <p:nvSpPr>
          <p:cNvPr name="TextBox 3" id="3"/>
          <p:cNvSpPr txBox="true"/>
          <p:nvPr/>
        </p:nvSpPr>
        <p:spPr>
          <a:xfrm rot="0">
            <a:off x="3171825" y="461963"/>
            <a:ext cx="6000750" cy="323850"/>
          </a:xfrm>
          <a:prstGeom prst="rect">
            <a:avLst/>
          </a:prstGeom>
        </p:spPr>
        <p:txBody>
          <a:bodyPr anchor="t" rtlCol="false" tIns="0" lIns="0" bIns="0" rIns="0">
            <a:spAutoFit/>
          </a:bodyPr>
          <a:lstStyle/>
          <a:p>
            <a:pPr algn="l">
              <a:lnSpc>
                <a:spcPts val="1620"/>
              </a:lnSpc>
            </a:pPr>
            <a:r>
              <a:rPr lang="en-US" sz="1350" b="true">
                <a:solidFill>
                  <a:srgbClr val="895F3C"/>
                </a:solidFill>
                <a:latin typeface="Lato Bold"/>
                <a:ea typeface="Lato Bold"/>
                <a:cs typeface="Lato Bold"/>
                <a:sym typeface="Lato Bold"/>
              </a:rPr>
              <a:t>SKILL JOURNEY</a:t>
            </a:r>
          </a:p>
        </p:txBody>
      </p:sp>
      <p:sp>
        <p:nvSpPr>
          <p:cNvPr name="TextBox 4" id="4"/>
          <p:cNvSpPr txBox="true"/>
          <p:nvPr/>
        </p:nvSpPr>
        <p:spPr>
          <a:xfrm rot="0">
            <a:off x="16859250" y="442912"/>
            <a:ext cx="514350" cy="342900"/>
          </a:xfrm>
          <a:prstGeom prst="rect">
            <a:avLst/>
          </a:prstGeom>
        </p:spPr>
        <p:txBody>
          <a:bodyPr anchor="t" rtlCol="false" tIns="0" lIns="0" bIns="0" rIns="0">
            <a:spAutoFit/>
          </a:bodyPr>
          <a:lstStyle/>
          <a:p>
            <a:pPr algn="r">
              <a:lnSpc>
                <a:spcPts val="1889"/>
              </a:lnSpc>
            </a:pPr>
            <a:r>
              <a:rPr lang="en-US" sz="1575" b="true">
                <a:solidFill>
                  <a:srgbClr val="2D180B"/>
                </a:solidFill>
                <a:latin typeface="Lato Bold"/>
                <a:ea typeface="Lato Bold"/>
                <a:cs typeface="Lato Bold"/>
                <a:sym typeface="Lato Bold"/>
              </a:rPr>
              <a:t>08</a:t>
            </a:r>
          </a:p>
        </p:txBody>
      </p:sp>
      <p:sp>
        <p:nvSpPr>
          <p:cNvPr name="AutoShape 5" id="5"/>
          <p:cNvSpPr/>
          <p:nvPr/>
        </p:nvSpPr>
        <p:spPr>
          <a:xfrm rot="3000">
            <a:off x="907256" y="981075"/>
            <a:ext cx="16473497" cy="0"/>
          </a:xfrm>
          <a:prstGeom prst="line">
            <a:avLst/>
          </a:prstGeom>
          <a:ln cap="rnd" w="9525">
            <a:solidFill>
              <a:srgbClr val="EDCFAD"/>
            </a:solidFill>
            <a:prstDash val="solid"/>
            <a:headEnd type="none" len="sm" w="sm"/>
            <a:tailEnd type="none" len="sm" w="sm"/>
          </a:ln>
        </p:spPr>
      </p:sp>
      <p:sp>
        <p:nvSpPr>
          <p:cNvPr name="TextBox 6" id="6"/>
          <p:cNvSpPr txBox="true"/>
          <p:nvPr/>
        </p:nvSpPr>
        <p:spPr>
          <a:xfrm rot="0">
            <a:off x="914400" y="1485900"/>
            <a:ext cx="13419418" cy="828675"/>
          </a:xfrm>
          <a:prstGeom prst="rect">
            <a:avLst/>
          </a:prstGeom>
        </p:spPr>
        <p:txBody>
          <a:bodyPr anchor="t" rtlCol="false" tIns="0" lIns="0" bIns="0" rIns="0">
            <a:spAutoFit/>
          </a:bodyPr>
          <a:lstStyle/>
          <a:p>
            <a:pPr algn="l">
              <a:lnSpc>
                <a:spcPts val="6583"/>
              </a:lnSpc>
            </a:pPr>
            <a:r>
              <a:rPr lang="en-US" sz="5486" b="true">
                <a:solidFill>
                  <a:srgbClr val="2D180B"/>
                </a:solidFill>
                <a:latin typeface="Lato Bold"/>
                <a:ea typeface="Lato Bold"/>
                <a:cs typeface="Lato Bold"/>
                <a:sym typeface="Lato Bold"/>
              </a:rPr>
              <a:t>A skill compounds one small day at a time</a:t>
            </a:r>
          </a:p>
        </p:txBody>
      </p:sp>
      <p:sp>
        <p:nvSpPr>
          <p:cNvPr name="TextBox 7" id="7"/>
          <p:cNvSpPr txBox="true"/>
          <p:nvPr/>
        </p:nvSpPr>
        <p:spPr>
          <a:xfrm rot="0">
            <a:off x="914400" y="2428875"/>
            <a:ext cx="12891941" cy="371475"/>
          </a:xfrm>
          <a:prstGeom prst="rect">
            <a:avLst/>
          </a:prstGeom>
        </p:spPr>
        <p:txBody>
          <a:bodyPr anchor="t" rtlCol="false" tIns="0" lIns="0" bIns="0" rIns="0">
            <a:spAutoFit/>
          </a:bodyPr>
          <a:lstStyle/>
          <a:p>
            <a:pPr algn="l">
              <a:lnSpc>
                <a:spcPts val="2925"/>
              </a:lnSpc>
            </a:pPr>
            <a:r>
              <a:rPr lang="en-US" sz="2437">
                <a:solidFill>
                  <a:srgbClr val="895F3C"/>
                </a:solidFill>
                <a:latin typeface="Lato"/>
                <a:ea typeface="Lato"/>
                <a:cs typeface="Lato"/>
                <a:sym typeface="Lato"/>
              </a:rPr>
              <a:t>Illustrative 3D-modeling journey: the learner starts with a gesture, then builds a real artifact.</a:t>
            </a:r>
          </a:p>
        </p:txBody>
      </p:sp>
      <p:sp>
        <p:nvSpPr>
          <p:cNvPr name="AutoShape 8" id="8"/>
          <p:cNvSpPr/>
          <p:nvPr/>
        </p:nvSpPr>
        <p:spPr>
          <a:xfrm>
            <a:off x="2222894" y="5486397"/>
            <a:ext cx="13644566" cy="71443"/>
          </a:xfrm>
          <a:prstGeom prst="line">
            <a:avLst/>
          </a:prstGeom>
          <a:ln cap="rnd" w="38100">
            <a:solidFill>
              <a:srgbClr val="FF8500"/>
            </a:solidFill>
            <a:prstDash val="solid"/>
            <a:headEnd type="none" len="sm" w="sm"/>
            <a:tailEnd type="none" len="sm" w="sm"/>
          </a:ln>
        </p:spPr>
      </p:sp>
      <p:grpSp>
        <p:nvGrpSpPr>
          <p:cNvPr name="Group 9" id="9"/>
          <p:cNvGrpSpPr/>
          <p:nvPr/>
        </p:nvGrpSpPr>
        <p:grpSpPr>
          <a:xfrm rot="0">
            <a:off x="1944290" y="5207794"/>
            <a:ext cx="628650" cy="628650"/>
            <a:chOff x="0" y="0"/>
            <a:chExt cx="838200" cy="838200"/>
          </a:xfrm>
        </p:grpSpPr>
        <p:sp>
          <p:nvSpPr>
            <p:cNvPr name="Freeform 10" id="10"/>
            <p:cNvSpPr/>
            <p:nvPr/>
          </p:nvSpPr>
          <p:spPr>
            <a:xfrm flipH="false" flipV="false" rot="0">
              <a:off x="0" y="0"/>
              <a:ext cx="838200" cy="838200"/>
            </a:xfrm>
            <a:custGeom>
              <a:avLst/>
              <a:gdLst/>
              <a:ahLst/>
              <a:cxnLst/>
              <a:rect r="r" b="b" t="t" l="l"/>
              <a:pathLst>
                <a:path h="838200" w="838200">
                  <a:moveTo>
                    <a:pt x="0" y="419100"/>
                  </a:moveTo>
                  <a:cubicBezTo>
                    <a:pt x="0" y="187579"/>
                    <a:pt x="187579" y="0"/>
                    <a:pt x="419100" y="0"/>
                  </a:cubicBezTo>
                  <a:cubicBezTo>
                    <a:pt x="650621" y="0"/>
                    <a:pt x="838200" y="187579"/>
                    <a:pt x="838200" y="419100"/>
                  </a:cubicBezTo>
                  <a:cubicBezTo>
                    <a:pt x="838200" y="650621"/>
                    <a:pt x="650621" y="838200"/>
                    <a:pt x="419100" y="838200"/>
                  </a:cubicBezTo>
                  <a:cubicBezTo>
                    <a:pt x="187579" y="838200"/>
                    <a:pt x="0" y="650621"/>
                    <a:pt x="0" y="419100"/>
                  </a:cubicBezTo>
                  <a:close/>
                </a:path>
              </a:pathLst>
            </a:custGeom>
            <a:solidFill>
              <a:srgbClr val="FBEAD4"/>
            </a:solidFill>
            <a:ln cap="sq">
              <a:noFill/>
              <a:prstDash val="solid"/>
              <a:miter/>
            </a:ln>
          </p:spPr>
        </p:sp>
        <p:sp>
          <p:nvSpPr>
            <p:cNvPr name="TextBox 11" id="11"/>
            <p:cNvSpPr txBox="true"/>
            <p:nvPr/>
          </p:nvSpPr>
          <p:spPr>
            <a:xfrm>
              <a:off x="0" y="-9525"/>
              <a:ext cx="838200" cy="847725"/>
            </a:xfrm>
            <a:prstGeom prst="rect">
              <a:avLst/>
            </a:prstGeom>
          </p:spPr>
          <p:txBody>
            <a:bodyPr anchor="ctr" rtlCol="false" tIns="50800" lIns="50800" bIns="50800" rIns="50800"/>
            <a:lstStyle/>
            <a:p>
              <a:pPr algn="ctr">
                <a:lnSpc>
                  <a:spcPts val="2430"/>
                </a:lnSpc>
              </a:pPr>
              <a:r>
                <a:rPr lang="en-US" sz="2025" b="true">
                  <a:solidFill>
                    <a:srgbClr val="C45300"/>
                  </a:solidFill>
                  <a:latin typeface="Lato Bold"/>
                  <a:ea typeface="Lato Bold"/>
                  <a:cs typeface="Lato Bold"/>
                  <a:sym typeface="Lato Bold"/>
                </a:rPr>
                <a:t>1</a:t>
              </a:r>
            </a:p>
          </p:txBody>
        </p:sp>
      </p:grpSp>
      <p:sp>
        <p:nvSpPr>
          <p:cNvPr name="TextBox 12" id="12"/>
          <p:cNvSpPr txBox="true"/>
          <p:nvPr/>
        </p:nvSpPr>
        <p:spPr>
          <a:xfrm rot="0">
            <a:off x="1187052" y="5979319"/>
            <a:ext cx="2143125" cy="285750"/>
          </a:xfrm>
          <a:prstGeom prst="rect">
            <a:avLst/>
          </a:prstGeom>
        </p:spPr>
        <p:txBody>
          <a:bodyPr anchor="t" rtlCol="false" tIns="0" lIns="0" bIns="0" rIns="0">
            <a:spAutoFit/>
          </a:bodyPr>
          <a:lstStyle/>
          <a:p>
            <a:pPr algn="ctr">
              <a:lnSpc>
                <a:spcPts val="1755"/>
              </a:lnSpc>
            </a:pPr>
            <a:r>
              <a:rPr lang="en-US" sz="1462" b="true">
                <a:solidFill>
                  <a:srgbClr val="C45300"/>
                </a:solidFill>
                <a:latin typeface="Lato Bold"/>
                <a:ea typeface="Lato Bold"/>
                <a:cs typeface="Lato Bold"/>
                <a:sym typeface="Lato Bold"/>
              </a:rPr>
              <a:t>DAY 1</a:t>
            </a:r>
          </a:p>
        </p:txBody>
      </p:sp>
      <p:sp>
        <p:nvSpPr>
          <p:cNvPr name="TextBox 13" id="13"/>
          <p:cNvSpPr txBox="true"/>
          <p:nvPr/>
        </p:nvSpPr>
        <p:spPr>
          <a:xfrm rot="0">
            <a:off x="706040" y="6446044"/>
            <a:ext cx="3429000" cy="495300"/>
          </a:xfrm>
          <a:prstGeom prst="rect">
            <a:avLst/>
          </a:prstGeom>
        </p:spPr>
        <p:txBody>
          <a:bodyPr anchor="t" rtlCol="false" tIns="0" lIns="0" bIns="0" rIns="0">
            <a:spAutoFit/>
          </a:bodyPr>
          <a:lstStyle/>
          <a:p>
            <a:pPr algn="ctr">
              <a:lnSpc>
                <a:spcPts val="3375"/>
              </a:lnSpc>
            </a:pPr>
            <a:r>
              <a:rPr lang="en-US" sz="2812" b="true">
                <a:solidFill>
                  <a:srgbClr val="2D180B"/>
                </a:solidFill>
                <a:latin typeface="Lato Bold"/>
                <a:ea typeface="Lato Bold"/>
                <a:cs typeface="Lato Bold"/>
                <a:sym typeface="Lato Bold"/>
              </a:rPr>
              <a:t>Find the tool</a:t>
            </a:r>
          </a:p>
        </p:txBody>
      </p:sp>
      <p:sp>
        <p:nvSpPr>
          <p:cNvPr name="TextBox 14" id="14"/>
          <p:cNvSpPr txBox="true"/>
          <p:nvPr/>
        </p:nvSpPr>
        <p:spPr>
          <a:xfrm rot="0">
            <a:off x="63102" y="7127081"/>
            <a:ext cx="4714875" cy="914400"/>
          </a:xfrm>
          <a:prstGeom prst="rect">
            <a:avLst/>
          </a:prstGeom>
        </p:spPr>
        <p:txBody>
          <a:bodyPr anchor="t" rtlCol="false" tIns="0" lIns="0" bIns="0" rIns="0">
            <a:spAutoFit/>
          </a:bodyPr>
          <a:lstStyle/>
          <a:p>
            <a:pPr algn="ctr">
              <a:lnSpc>
                <a:spcPts val="2295"/>
              </a:lnSpc>
            </a:pPr>
            <a:r>
              <a:rPr lang="en-US" sz="1912">
                <a:solidFill>
                  <a:srgbClr val="895F3C"/>
                </a:solidFill>
                <a:latin typeface="Lato"/>
                <a:ea typeface="Lato"/>
                <a:cs typeface="Lato"/>
                <a:sym typeface="Lato"/>
              </a:rPr>
              <a:t>Recognize the viewport, select an object, make one change.</a:t>
            </a:r>
          </a:p>
        </p:txBody>
      </p:sp>
      <p:grpSp>
        <p:nvGrpSpPr>
          <p:cNvPr name="Group 15" id="15"/>
          <p:cNvGrpSpPr/>
          <p:nvPr/>
        </p:nvGrpSpPr>
        <p:grpSpPr>
          <a:xfrm rot="0">
            <a:off x="8730852" y="5207794"/>
            <a:ext cx="628650" cy="628650"/>
            <a:chOff x="0" y="0"/>
            <a:chExt cx="838200" cy="838200"/>
          </a:xfrm>
        </p:grpSpPr>
        <p:sp>
          <p:nvSpPr>
            <p:cNvPr name="Freeform 16" id="16"/>
            <p:cNvSpPr/>
            <p:nvPr/>
          </p:nvSpPr>
          <p:spPr>
            <a:xfrm flipH="false" flipV="false" rot="0">
              <a:off x="0" y="0"/>
              <a:ext cx="838200" cy="838200"/>
            </a:xfrm>
            <a:custGeom>
              <a:avLst/>
              <a:gdLst/>
              <a:ahLst/>
              <a:cxnLst/>
              <a:rect r="r" b="b" t="t" l="l"/>
              <a:pathLst>
                <a:path h="838200" w="838200">
                  <a:moveTo>
                    <a:pt x="0" y="419100"/>
                  </a:moveTo>
                  <a:cubicBezTo>
                    <a:pt x="0" y="187579"/>
                    <a:pt x="187579" y="0"/>
                    <a:pt x="419100" y="0"/>
                  </a:cubicBezTo>
                  <a:cubicBezTo>
                    <a:pt x="650621" y="0"/>
                    <a:pt x="838200" y="187579"/>
                    <a:pt x="838200" y="419100"/>
                  </a:cubicBezTo>
                  <a:cubicBezTo>
                    <a:pt x="838200" y="650621"/>
                    <a:pt x="650621" y="838200"/>
                    <a:pt x="419100" y="838200"/>
                  </a:cubicBezTo>
                  <a:cubicBezTo>
                    <a:pt x="187579" y="838200"/>
                    <a:pt x="0" y="650621"/>
                    <a:pt x="0" y="419100"/>
                  </a:cubicBezTo>
                  <a:close/>
                </a:path>
              </a:pathLst>
            </a:custGeom>
            <a:solidFill>
              <a:srgbClr val="FF8500"/>
            </a:solidFill>
            <a:ln cap="sq">
              <a:noFill/>
              <a:prstDash val="solid"/>
              <a:miter/>
            </a:ln>
          </p:spPr>
        </p:sp>
        <p:sp>
          <p:nvSpPr>
            <p:cNvPr name="TextBox 17" id="17"/>
            <p:cNvSpPr txBox="true"/>
            <p:nvPr/>
          </p:nvSpPr>
          <p:spPr>
            <a:xfrm>
              <a:off x="0" y="-9525"/>
              <a:ext cx="838200" cy="847725"/>
            </a:xfrm>
            <a:prstGeom prst="rect">
              <a:avLst/>
            </a:prstGeom>
          </p:spPr>
          <p:txBody>
            <a:bodyPr anchor="ctr" rtlCol="false" tIns="50800" lIns="50800" bIns="50800" rIns="50800"/>
            <a:lstStyle/>
            <a:p>
              <a:pPr algn="ctr">
                <a:lnSpc>
                  <a:spcPts val="2430"/>
                </a:lnSpc>
              </a:pPr>
              <a:r>
                <a:rPr lang="en-US" sz="2025" b="true">
                  <a:solidFill>
                    <a:srgbClr val="FFF6E9"/>
                  </a:solidFill>
                  <a:latin typeface="Lato Bold"/>
                  <a:ea typeface="Lato Bold"/>
                  <a:cs typeface="Lato Bold"/>
                  <a:sym typeface="Lato Bold"/>
                </a:rPr>
                <a:t>2</a:t>
              </a:r>
            </a:p>
          </p:txBody>
        </p:sp>
      </p:grpSp>
      <p:sp>
        <p:nvSpPr>
          <p:cNvPr name="TextBox 18" id="18"/>
          <p:cNvSpPr txBox="true"/>
          <p:nvPr/>
        </p:nvSpPr>
        <p:spPr>
          <a:xfrm rot="0">
            <a:off x="7973615" y="6093619"/>
            <a:ext cx="2143125" cy="285750"/>
          </a:xfrm>
          <a:prstGeom prst="rect">
            <a:avLst/>
          </a:prstGeom>
        </p:spPr>
        <p:txBody>
          <a:bodyPr anchor="t" rtlCol="false" tIns="0" lIns="0" bIns="0" rIns="0">
            <a:spAutoFit/>
          </a:bodyPr>
          <a:lstStyle/>
          <a:p>
            <a:pPr algn="ctr">
              <a:lnSpc>
                <a:spcPts val="1755"/>
              </a:lnSpc>
            </a:pPr>
            <a:r>
              <a:rPr lang="en-US" sz="1462" b="true">
                <a:solidFill>
                  <a:srgbClr val="C45300"/>
                </a:solidFill>
                <a:latin typeface="Lato Bold"/>
                <a:ea typeface="Lato Bold"/>
                <a:cs typeface="Lato Bold"/>
                <a:sym typeface="Lato Bold"/>
              </a:rPr>
              <a:t>DAY 7</a:t>
            </a:r>
          </a:p>
        </p:txBody>
      </p:sp>
      <p:sp>
        <p:nvSpPr>
          <p:cNvPr name="TextBox 19" id="19"/>
          <p:cNvSpPr txBox="true"/>
          <p:nvPr/>
        </p:nvSpPr>
        <p:spPr>
          <a:xfrm rot="0">
            <a:off x="7430690" y="6455569"/>
            <a:ext cx="3429000" cy="495300"/>
          </a:xfrm>
          <a:prstGeom prst="rect">
            <a:avLst/>
          </a:prstGeom>
        </p:spPr>
        <p:txBody>
          <a:bodyPr anchor="t" rtlCol="false" tIns="0" lIns="0" bIns="0" rIns="0">
            <a:spAutoFit/>
          </a:bodyPr>
          <a:lstStyle/>
          <a:p>
            <a:pPr algn="ctr">
              <a:lnSpc>
                <a:spcPts val="3375"/>
              </a:lnSpc>
            </a:pPr>
            <a:r>
              <a:rPr lang="en-US" sz="2812" b="true">
                <a:solidFill>
                  <a:srgbClr val="2D180B"/>
                </a:solidFill>
                <a:latin typeface="Lato Bold"/>
                <a:ea typeface="Lato Bold"/>
                <a:cs typeface="Lato Bold"/>
                <a:sym typeface="Lato Bold"/>
              </a:rPr>
              <a:t>Shape a scene</a:t>
            </a:r>
          </a:p>
        </p:txBody>
      </p:sp>
      <p:sp>
        <p:nvSpPr>
          <p:cNvPr name="TextBox 20" id="20"/>
          <p:cNvSpPr txBox="true"/>
          <p:nvPr/>
        </p:nvSpPr>
        <p:spPr>
          <a:xfrm rot="0">
            <a:off x="6787752" y="7136606"/>
            <a:ext cx="4714875" cy="914400"/>
          </a:xfrm>
          <a:prstGeom prst="rect">
            <a:avLst/>
          </a:prstGeom>
        </p:spPr>
        <p:txBody>
          <a:bodyPr anchor="t" rtlCol="false" tIns="0" lIns="0" bIns="0" rIns="0">
            <a:spAutoFit/>
          </a:bodyPr>
          <a:lstStyle/>
          <a:p>
            <a:pPr algn="ctr">
              <a:lnSpc>
                <a:spcPts val="2295"/>
              </a:lnSpc>
            </a:pPr>
            <a:r>
              <a:rPr lang="en-US" sz="1912">
                <a:solidFill>
                  <a:srgbClr val="895F3C"/>
                </a:solidFill>
                <a:latin typeface="Lato"/>
                <a:ea typeface="Lato"/>
                <a:cs typeface="Lato"/>
                <a:sym typeface="Lato"/>
              </a:rPr>
              <a:t>Combine small actions into a simple modeled composition.</a:t>
            </a:r>
          </a:p>
        </p:txBody>
      </p:sp>
      <p:grpSp>
        <p:nvGrpSpPr>
          <p:cNvPr name="Group 21" id="21"/>
          <p:cNvGrpSpPr/>
          <p:nvPr/>
        </p:nvGrpSpPr>
        <p:grpSpPr>
          <a:xfrm rot="0">
            <a:off x="15517415" y="5207794"/>
            <a:ext cx="628650" cy="628650"/>
            <a:chOff x="0" y="0"/>
            <a:chExt cx="838200" cy="838200"/>
          </a:xfrm>
        </p:grpSpPr>
        <p:sp>
          <p:nvSpPr>
            <p:cNvPr name="Freeform 22" id="22"/>
            <p:cNvSpPr/>
            <p:nvPr/>
          </p:nvSpPr>
          <p:spPr>
            <a:xfrm flipH="false" flipV="false" rot="0">
              <a:off x="0" y="0"/>
              <a:ext cx="838200" cy="838200"/>
            </a:xfrm>
            <a:custGeom>
              <a:avLst/>
              <a:gdLst/>
              <a:ahLst/>
              <a:cxnLst/>
              <a:rect r="r" b="b" t="t" l="l"/>
              <a:pathLst>
                <a:path h="838200" w="838200">
                  <a:moveTo>
                    <a:pt x="0" y="419100"/>
                  </a:moveTo>
                  <a:cubicBezTo>
                    <a:pt x="0" y="187579"/>
                    <a:pt x="187579" y="0"/>
                    <a:pt x="419100" y="0"/>
                  </a:cubicBezTo>
                  <a:cubicBezTo>
                    <a:pt x="650621" y="0"/>
                    <a:pt x="838200" y="187579"/>
                    <a:pt x="838200" y="419100"/>
                  </a:cubicBezTo>
                  <a:cubicBezTo>
                    <a:pt x="838200" y="650621"/>
                    <a:pt x="650621" y="838200"/>
                    <a:pt x="419100" y="838200"/>
                  </a:cubicBezTo>
                  <a:cubicBezTo>
                    <a:pt x="187579" y="838200"/>
                    <a:pt x="0" y="650621"/>
                    <a:pt x="0" y="419100"/>
                  </a:cubicBezTo>
                  <a:close/>
                </a:path>
              </a:pathLst>
            </a:custGeom>
            <a:solidFill>
              <a:srgbClr val="FBEAD4"/>
            </a:solidFill>
            <a:ln cap="sq">
              <a:noFill/>
              <a:prstDash val="solid"/>
              <a:miter/>
            </a:ln>
          </p:spPr>
        </p:sp>
        <p:sp>
          <p:nvSpPr>
            <p:cNvPr name="TextBox 23" id="23"/>
            <p:cNvSpPr txBox="true"/>
            <p:nvPr/>
          </p:nvSpPr>
          <p:spPr>
            <a:xfrm>
              <a:off x="0" y="-9525"/>
              <a:ext cx="838200" cy="847725"/>
            </a:xfrm>
            <a:prstGeom prst="rect">
              <a:avLst/>
            </a:prstGeom>
          </p:spPr>
          <p:txBody>
            <a:bodyPr anchor="ctr" rtlCol="false" tIns="50800" lIns="50800" bIns="50800" rIns="50800"/>
            <a:lstStyle/>
            <a:p>
              <a:pPr algn="ctr">
                <a:lnSpc>
                  <a:spcPts val="2430"/>
                </a:lnSpc>
              </a:pPr>
              <a:r>
                <a:rPr lang="en-US" sz="2025" b="true">
                  <a:solidFill>
                    <a:srgbClr val="C45300"/>
                  </a:solidFill>
                  <a:latin typeface="Lato Bold"/>
                  <a:ea typeface="Lato Bold"/>
                  <a:cs typeface="Lato Bold"/>
                  <a:sym typeface="Lato Bold"/>
                </a:rPr>
                <a:t>3</a:t>
              </a:r>
            </a:p>
          </p:txBody>
        </p:sp>
      </p:grpSp>
      <p:sp>
        <p:nvSpPr>
          <p:cNvPr name="TextBox 24" id="24"/>
          <p:cNvSpPr txBox="true"/>
          <p:nvPr/>
        </p:nvSpPr>
        <p:spPr>
          <a:xfrm rot="0">
            <a:off x="14795898" y="5950744"/>
            <a:ext cx="2143125" cy="285750"/>
          </a:xfrm>
          <a:prstGeom prst="rect">
            <a:avLst/>
          </a:prstGeom>
        </p:spPr>
        <p:txBody>
          <a:bodyPr anchor="t" rtlCol="false" tIns="0" lIns="0" bIns="0" rIns="0">
            <a:spAutoFit/>
          </a:bodyPr>
          <a:lstStyle/>
          <a:p>
            <a:pPr algn="ctr">
              <a:lnSpc>
                <a:spcPts val="1755"/>
              </a:lnSpc>
            </a:pPr>
            <a:r>
              <a:rPr lang="en-US" sz="1462" b="true">
                <a:solidFill>
                  <a:srgbClr val="C45300"/>
                </a:solidFill>
                <a:latin typeface="Lato Bold"/>
                <a:ea typeface="Lato Bold"/>
                <a:cs typeface="Lato Bold"/>
                <a:sym typeface="Lato Bold"/>
              </a:rPr>
              <a:t>DAY 30</a:t>
            </a:r>
          </a:p>
        </p:txBody>
      </p:sp>
      <p:sp>
        <p:nvSpPr>
          <p:cNvPr name="TextBox 25" id="25"/>
          <p:cNvSpPr txBox="true"/>
          <p:nvPr/>
        </p:nvSpPr>
        <p:spPr>
          <a:xfrm rot="0">
            <a:off x="14152960" y="6455569"/>
            <a:ext cx="3429000" cy="495300"/>
          </a:xfrm>
          <a:prstGeom prst="rect">
            <a:avLst/>
          </a:prstGeom>
        </p:spPr>
        <p:txBody>
          <a:bodyPr anchor="t" rtlCol="false" tIns="0" lIns="0" bIns="0" rIns="0">
            <a:spAutoFit/>
          </a:bodyPr>
          <a:lstStyle/>
          <a:p>
            <a:pPr algn="ctr">
              <a:lnSpc>
                <a:spcPts val="3375"/>
              </a:lnSpc>
            </a:pPr>
            <a:r>
              <a:rPr lang="en-US" sz="2812" b="true">
                <a:solidFill>
                  <a:srgbClr val="2D180B"/>
                </a:solidFill>
                <a:latin typeface="Lato Bold"/>
                <a:ea typeface="Lato Bold"/>
                <a:cs typeface="Lato Bold"/>
                <a:sym typeface="Lato Bold"/>
              </a:rPr>
              <a:t>Finish an artifact</a:t>
            </a:r>
          </a:p>
        </p:txBody>
      </p:sp>
      <p:sp>
        <p:nvSpPr>
          <p:cNvPr name="TextBox 26" id="26"/>
          <p:cNvSpPr txBox="true"/>
          <p:nvPr/>
        </p:nvSpPr>
        <p:spPr>
          <a:xfrm rot="0">
            <a:off x="13510023" y="7136606"/>
            <a:ext cx="4714875" cy="914400"/>
          </a:xfrm>
          <a:prstGeom prst="rect">
            <a:avLst/>
          </a:prstGeom>
        </p:spPr>
        <p:txBody>
          <a:bodyPr anchor="t" rtlCol="false" tIns="0" lIns="0" bIns="0" rIns="0">
            <a:spAutoFit/>
          </a:bodyPr>
          <a:lstStyle/>
          <a:p>
            <a:pPr algn="ctr">
              <a:lnSpc>
                <a:spcPts val="2295"/>
              </a:lnSpc>
            </a:pPr>
            <a:r>
              <a:rPr lang="en-US" sz="1912">
                <a:solidFill>
                  <a:srgbClr val="895F3C"/>
                </a:solidFill>
                <a:latin typeface="Lato"/>
                <a:ea typeface="Lato"/>
                <a:cs typeface="Lato"/>
                <a:sym typeface="Lato"/>
              </a:rPr>
              <a:t>Use the same guided loop to complete a portfolio-ready piece.</a:t>
            </a:r>
          </a:p>
        </p:txBody>
      </p:sp>
      <p:grpSp>
        <p:nvGrpSpPr>
          <p:cNvPr name="Group 27" id="27"/>
          <p:cNvGrpSpPr/>
          <p:nvPr/>
        </p:nvGrpSpPr>
        <p:grpSpPr>
          <a:xfrm rot="0">
            <a:off x="6301977" y="3800475"/>
            <a:ext cx="5529262" cy="1100138"/>
            <a:chOff x="0" y="0"/>
            <a:chExt cx="7372350" cy="1466850"/>
          </a:xfrm>
        </p:grpSpPr>
        <p:sp>
          <p:nvSpPr>
            <p:cNvPr name="Freeform 28" id="28"/>
            <p:cNvSpPr/>
            <p:nvPr/>
          </p:nvSpPr>
          <p:spPr>
            <a:xfrm flipH="false" flipV="false" rot="0">
              <a:off x="0" y="0"/>
              <a:ext cx="7372350" cy="1466850"/>
            </a:xfrm>
            <a:custGeom>
              <a:avLst/>
              <a:gdLst/>
              <a:ahLst/>
              <a:cxnLst/>
              <a:rect r="r" b="b" t="t" l="l"/>
              <a:pathLst>
                <a:path h="1466850" w="7372350">
                  <a:moveTo>
                    <a:pt x="0" y="308864"/>
                  </a:moveTo>
                  <a:cubicBezTo>
                    <a:pt x="0" y="138303"/>
                    <a:pt x="138303" y="0"/>
                    <a:pt x="308864" y="0"/>
                  </a:cubicBezTo>
                  <a:lnTo>
                    <a:pt x="7063486" y="0"/>
                  </a:lnTo>
                  <a:cubicBezTo>
                    <a:pt x="7234047" y="0"/>
                    <a:pt x="7372350" y="138303"/>
                    <a:pt x="7372350" y="308864"/>
                  </a:cubicBezTo>
                  <a:lnTo>
                    <a:pt x="7372350" y="1157986"/>
                  </a:lnTo>
                  <a:cubicBezTo>
                    <a:pt x="7372350" y="1328547"/>
                    <a:pt x="7234047" y="1466850"/>
                    <a:pt x="7063486" y="1466850"/>
                  </a:cubicBezTo>
                  <a:lnTo>
                    <a:pt x="308864" y="1466850"/>
                  </a:lnTo>
                  <a:cubicBezTo>
                    <a:pt x="138303" y="1466850"/>
                    <a:pt x="0" y="1328547"/>
                    <a:pt x="0" y="1157986"/>
                  </a:cubicBezTo>
                  <a:close/>
                </a:path>
              </a:pathLst>
            </a:custGeom>
            <a:solidFill>
              <a:srgbClr val="FFFDF8"/>
            </a:solidFill>
            <a:ln w="14288" cap="sq">
              <a:solidFill>
                <a:srgbClr val="EDCFAD"/>
              </a:solidFill>
              <a:prstDash val="solid"/>
              <a:miter/>
            </a:ln>
          </p:spPr>
        </p:sp>
      </p:grpSp>
      <p:sp>
        <p:nvSpPr>
          <p:cNvPr name="TextBox 29" id="29"/>
          <p:cNvSpPr txBox="true"/>
          <p:nvPr/>
        </p:nvSpPr>
        <p:spPr>
          <a:xfrm rot="0">
            <a:off x="6694884" y="4140994"/>
            <a:ext cx="4714875" cy="409575"/>
          </a:xfrm>
          <a:prstGeom prst="rect">
            <a:avLst/>
          </a:prstGeom>
        </p:spPr>
        <p:txBody>
          <a:bodyPr anchor="t" rtlCol="false" tIns="0" lIns="0" bIns="0" rIns="0">
            <a:spAutoFit/>
          </a:bodyPr>
          <a:lstStyle/>
          <a:p>
            <a:pPr algn="ctr">
              <a:lnSpc>
                <a:spcPts val="2024"/>
              </a:lnSpc>
            </a:pPr>
            <a:r>
              <a:rPr lang="en-US" sz="1687" b="true">
                <a:solidFill>
                  <a:srgbClr val="2D180B"/>
                </a:solidFill>
                <a:latin typeface="Lato Bold"/>
                <a:ea typeface="Lato Bold"/>
                <a:cs typeface="Lato Bold"/>
                <a:sym typeface="Lato Bold"/>
              </a:rPr>
              <a:t>The product promise is a path, not a single lesson.</a:t>
            </a:r>
          </a:p>
        </p:txBody>
      </p:sp>
      <p:sp>
        <p:nvSpPr>
          <p:cNvPr name="TextBox 30" id="30"/>
          <p:cNvSpPr txBox="true"/>
          <p:nvPr/>
        </p:nvSpPr>
        <p:spPr>
          <a:xfrm rot="0">
            <a:off x="914400" y="9744075"/>
            <a:ext cx="13144500" cy="257175"/>
          </a:xfrm>
          <a:prstGeom prst="rect">
            <a:avLst/>
          </a:prstGeom>
        </p:spPr>
        <p:txBody>
          <a:bodyPr anchor="t" rtlCol="false" tIns="0" lIns="0" bIns="0" rIns="0">
            <a:spAutoFit/>
          </a:bodyPr>
          <a:lstStyle/>
          <a:p>
            <a:pPr algn="l">
              <a:lnSpc>
                <a:spcPts val="1485"/>
              </a:lnSpc>
            </a:pPr>
            <a:r>
              <a:rPr lang="en-US" sz="1237">
                <a:solidFill>
                  <a:srgbClr val="7D5C42"/>
                </a:solidFill>
                <a:latin typeface="Lato"/>
                <a:ea typeface="Lato"/>
                <a:cs typeface="Lato"/>
                <a:sym typeface="Lato"/>
              </a:rPr>
              <a:t>Product narrative · example journey, not a measured outcome</a:t>
            </a:r>
          </a:p>
        </p:txBody>
      </p:sp>
    </p:spTree>
  </p:cSld>
  <p:clrMapOvr>
    <a:masterClrMapping/>
  </p:clrMapOvr>
</p:sld>
</file>

<file path=ppt/slides/slide9.xml><?xml version="1.0" encoding="utf-8"?>
<p:sld xmlns:p="http://schemas.openxmlformats.org/presentationml/2006/main" xmlns:a="http://schemas.openxmlformats.org/drawingml/2006/main">
  <p:cSld>
    <p:bg>
      <p:bgPr>
        <a:solidFill>
          <a:srgbClr val="FFD5A3"/>
        </a:solidFill>
      </p:bgPr>
    </p:bg>
    <p:spTree>
      <p:nvGrpSpPr>
        <p:cNvPr id="1" name=""/>
        <p:cNvGrpSpPr/>
        <p:nvPr/>
      </p:nvGrpSpPr>
      <p:grpSpPr>
        <a:xfrm>
          <a:off x="0" y="0"/>
          <a:ext cx="0" cy="0"/>
          <a:chOff x="0" y="0"/>
          <a:chExt cx="0" cy="0"/>
        </a:xfrm>
      </p:grpSpPr>
      <p:sp>
        <p:nvSpPr>
          <p:cNvPr name="TextBox 2" id="2"/>
          <p:cNvSpPr txBox="true"/>
          <p:nvPr/>
        </p:nvSpPr>
        <p:spPr>
          <a:xfrm rot="0">
            <a:off x="914400" y="390525"/>
            <a:ext cx="1857375" cy="466725"/>
          </a:xfrm>
          <a:prstGeom prst="rect">
            <a:avLst/>
          </a:prstGeom>
        </p:spPr>
        <p:txBody>
          <a:bodyPr anchor="t" rtlCol="false" tIns="0" lIns="0" bIns="0" rIns="0">
            <a:spAutoFit/>
          </a:bodyPr>
          <a:lstStyle/>
          <a:p>
            <a:pPr algn="l">
              <a:lnSpc>
                <a:spcPts val="3104"/>
              </a:lnSpc>
            </a:pPr>
            <a:r>
              <a:rPr lang="en-US" sz="2587" b="true">
                <a:solidFill>
                  <a:srgbClr val="FF8500"/>
                </a:solidFill>
                <a:latin typeface="Lato Bold"/>
                <a:ea typeface="Lato Bold"/>
                <a:cs typeface="Lato Bold"/>
                <a:sym typeface="Lato Bold"/>
              </a:rPr>
              <a:t>bataa</a:t>
            </a:r>
          </a:p>
        </p:txBody>
      </p:sp>
      <p:sp>
        <p:nvSpPr>
          <p:cNvPr name="TextBox 3" id="3"/>
          <p:cNvSpPr txBox="true"/>
          <p:nvPr/>
        </p:nvSpPr>
        <p:spPr>
          <a:xfrm rot="0">
            <a:off x="3171825" y="461963"/>
            <a:ext cx="6000750" cy="323850"/>
          </a:xfrm>
          <a:prstGeom prst="rect">
            <a:avLst/>
          </a:prstGeom>
        </p:spPr>
        <p:txBody>
          <a:bodyPr anchor="t" rtlCol="false" tIns="0" lIns="0" bIns="0" rIns="0">
            <a:spAutoFit/>
          </a:bodyPr>
          <a:lstStyle/>
          <a:p>
            <a:pPr algn="l">
              <a:lnSpc>
                <a:spcPts val="1620"/>
              </a:lnSpc>
            </a:pPr>
            <a:r>
              <a:rPr lang="en-US" sz="1350" b="true">
                <a:solidFill>
                  <a:srgbClr val="895F3C"/>
                </a:solidFill>
                <a:latin typeface="Lato Bold"/>
                <a:ea typeface="Lato Bold"/>
                <a:cs typeface="Lato Bold"/>
                <a:sym typeface="Lato Bold"/>
              </a:rPr>
              <a:t>LEARNING LOOP</a:t>
            </a:r>
          </a:p>
        </p:txBody>
      </p:sp>
      <p:sp>
        <p:nvSpPr>
          <p:cNvPr name="TextBox 4" id="4"/>
          <p:cNvSpPr txBox="true"/>
          <p:nvPr/>
        </p:nvSpPr>
        <p:spPr>
          <a:xfrm rot="0">
            <a:off x="16859250" y="442912"/>
            <a:ext cx="514350" cy="238125"/>
          </a:xfrm>
          <a:prstGeom prst="rect">
            <a:avLst/>
          </a:prstGeom>
        </p:spPr>
        <p:txBody>
          <a:bodyPr anchor="t" rtlCol="false" tIns="0" lIns="0" bIns="0" rIns="0">
            <a:spAutoFit/>
          </a:bodyPr>
          <a:lstStyle/>
          <a:p>
            <a:pPr algn="r">
              <a:lnSpc>
                <a:spcPts val="1889"/>
              </a:lnSpc>
            </a:pPr>
            <a:r>
              <a:rPr lang="en-US" sz="1575" b="true">
                <a:solidFill>
                  <a:srgbClr val="2D180B"/>
                </a:solidFill>
                <a:latin typeface="Lato Bold"/>
                <a:ea typeface="Lato Bold"/>
                <a:cs typeface="Lato Bold"/>
                <a:sym typeface="Lato Bold"/>
              </a:rPr>
              <a:t>09</a:t>
            </a:r>
          </a:p>
        </p:txBody>
      </p:sp>
      <p:sp>
        <p:nvSpPr>
          <p:cNvPr name="AutoShape 5" id="5"/>
          <p:cNvSpPr/>
          <p:nvPr/>
        </p:nvSpPr>
        <p:spPr>
          <a:xfrm rot="3000">
            <a:off x="907256" y="981075"/>
            <a:ext cx="16473497" cy="0"/>
          </a:xfrm>
          <a:prstGeom prst="line">
            <a:avLst/>
          </a:prstGeom>
          <a:ln cap="rnd" w="9525">
            <a:solidFill>
              <a:srgbClr val="EDCFAD"/>
            </a:solidFill>
            <a:prstDash val="solid"/>
            <a:headEnd type="none" len="sm" w="sm"/>
            <a:tailEnd type="none" len="sm" w="sm"/>
          </a:ln>
        </p:spPr>
      </p:sp>
      <p:sp>
        <p:nvSpPr>
          <p:cNvPr name="TextBox 6" id="6"/>
          <p:cNvSpPr txBox="true"/>
          <p:nvPr/>
        </p:nvSpPr>
        <p:spPr>
          <a:xfrm rot="0">
            <a:off x="914400" y="1680915"/>
            <a:ext cx="13906956" cy="600075"/>
          </a:xfrm>
          <a:prstGeom prst="rect">
            <a:avLst/>
          </a:prstGeom>
        </p:spPr>
        <p:txBody>
          <a:bodyPr anchor="t" rtlCol="false" tIns="0" lIns="0" bIns="0" rIns="0">
            <a:spAutoFit/>
          </a:bodyPr>
          <a:lstStyle/>
          <a:p>
            <a:pPr algn="l">
              <a:lnSpc>
                <a:spcPts val="4771"/>
              </a:lnSpc>
            </a:pPr>
            <a:r>
              <a:rPr lang="en-US" sz="3976" b="true">
                <a:solidFill>
                  <a:srgbClr val="2D180B"/>
                </a:solidFill>
                <a:latin typeface="Lato Bold"/>
                <a:ea typeface="Lato Bold"/>
                <a:cs typeface="Lato Bold"/>
                <a:sym typeface="Lato Bold"/>
              </a:rPr>
              <a:t>Bataa closes the gap between attempt and understanding</a:t>
            </a:r>
          </a:p>
        </p:txBody>
      </p:sp>
      <p:sp>
        <p:nvSpPr>
          <p:cNvPr name="TextBox 7" id="7"/>
          <p:cNvSpPr txBox="true"/>
          <p:nvPr/>
        </p:nvSpPr>
        <p:spPr>
          <a:xfrm rot="0">
            <a:off x="971550" y="2483450"/>
            <a:ext cx="5200650" cy="371475"/>
          </a:xfrm>
          <a:prstGeom prst="rect">
            <a:avLst/>
          </a:prstGeom>
        </p:spPr>
        <p:txBody>
          <a:bodyPr anchor="t" rtlCol="false" tIns="0" lIns="0" bIns="0" rIns="0">
            <a:spAutoFit/>
          </a:bodyPr>
          <a:lstStyle/>
          <a:p>
            <a:pPr algn="l">
              <a:lnSpc>
                <a:spcPts val="2970"/>
              </a:lnSpc>
            </a:pPr>
            <a:r>
              <a:rPr lang="en-US" sz="2475">
                <a:solidFill>
                  <a:srgbClr val="895F3C"/>
                </a:solidFill>
                <a:latin typeface="Lato"/>
                <a:ea typeface="Lato"/>
                <a:cs typeface="Lato"/>
                <a:sym typeface="Lato"/>
              </a:rPr>
              <a:t>Each turn makes the next turn easier.</a:t>
            </a:r>
          </a:p>
        </p:txBody>
      </p:sp>
      <p:sp>
        <p:nvSpPr>
          <p:cNvPr name="AutoShape 8" id="8"/>
          <p:cNvSpPr/>
          <p:nvPr/>
        </p:nvSpPr>
        <p:spPr>
          <a:xfrm flipV="true">
            <a:off x="3420321" y="4982883"/>
            <a:ext cx="808780" cy="589197"/>
          </a:xfrm>
          <a:prstGeom prst="line">
            <a:avLst/>
          </a:prstGeom>
          <a:ln cap="rnd" w="19050">
            <a:solidFill>
              <a:srgbClr val="C45300"/>
            </a:solidFill>
            <a:prstDash val="solid"/>
            <a:headEnd type="none" len="sm" w="sm"/>
            <a:tailEnd type="none" len="sm" w="sm"/>
          </a:ln>
        </p:spPr>
      </p:sp>
      <p:grpSp>
        <p:nvGrpSpPr>
          <p:cNvPr name="Group 9" id="9"/>
          <p:cNvGrpSpPr/>
          <p:nvPr/>
        </p:nvGrpSpPr>
        <p:grpSpPr>
          <a:xfrm rot="0">
            <a:off x="907259" y="5401185"/>
            <a:ext cx="2728912" cy="1614488"/>
            <a:chOff x="0" y="0"/>
            <a:chExt cx="3638550" cy="2152650"/>
          </a:xfrm>
        </p:grpSpPr>
        <p:sp>
          <p:nvSpPr>
            <p:cNvPr name="Freeform 10" id="10"/>
            <p:cNvSpPr/>
            <p:nvPr/>
          </p:nvSpPr>
          <p:spPr>
            <a:xfrm flipH="false" flipV="false" rot="0">
              <a:off x="0" y="0"/>
              <a:ext cx="3638550" cy="2152650"/>
            </a:xfrm>
            <a:custGeom>
              <a:avLst/>
              <a:gdLst/>
              <a:ahLst/>
              <a:cxnLst/>
              <a:rect r="r" b="b" t="t" l="l"/>
              <a:pathLst>
                <a:path h="2152650" w="3638550">
                  <a:moveTo>
                    <a:pt x="0" y="307467"/>
                  </a:moveTo>
                  <a:cubicBezTo>
                    <a:pt x="0" y="137668"/>
                    <a:pt x="137668" y="0"/>
                    <a:pt x="307467" y="0"/>
                  </a:cubicBezTo>
                  <a:lnTo>
                    <a:pt x="3331083" y="0"/>
                  </a:lnTo>
                  <a:cubicBezTo>
                    <a:pt x="3500882" y="0"/>
                    <a:pt x="3638550" y="137668"/>
                    <a:pt x="3638550" y="307467"/>
                  </a:cubicBezTo>
                  <a:lnTo>
                    <a:pt x="3638550" y="1845183"/>
                  </a:lnTo>
                  <a:cubicBezTo>
                    <a:pt x="3638550" y="2014982"/>
                    <a:pt x="3500882" y="2152650"/>
                    <a:pt x="3331083" y="2152650"/>
                  </a:cubicBezTo>
                  <a:lnTo>
                    <a:pt x="307467" y="2152650"/>
                  </a:lnTo>
                  <a:cubicBezTo>
                    <a:pt x="137668" y="2152650"/>
                    <a:pt x="0" y="2014982"/>
                    <a:pt x="0" y="1845183"/>
                  </a:cubicBezTo>
                  <a:close/>
                </a:path>
              </a:pathLst>
            </a:custGeom>
            <a:solidFill>
              <a:srgbClr val="FFFDF8"/>
            </a:solidFill>
            <a:ln w="14288" cap="sq">
              <a:solidFill>
                <a:srgbClr val="EDCFAD"/>
              </a:solidFill>
              <a:prstDash val="solid"/>
              <a:miter/>
            </a:ln>
          </p:spPr>
        </p:sp>
      </p:grpSp>
      <p:grpSp>
        <p:nvGrpSpPr>
          <p:cNvPr name="Group 11" id="11"/>
          <p:cNvGrpSpPr/>
          <p:nvPr/>
        </p:nvGrpSpPr>
        <p:grpSpPr>
          <a:xfrm rot="0">
            <a:off x="1171578" y="5665504"/>
            <a:ext cx="428625" cy="428625"/>
            <a:chOff x="0" y="0"/>
            <a:chExt cx="571500" cy="571500"/>
          </a:xfrm>
        </p:grpSpPr>
        <p:sp>
          <p:nvSpPr>
            <p:cNvPr name="Freeform 12" id="12"/>
            <p:cNvSpPr/>
            <p:nvPr/>
          </p:nvSpPr>
          <p:spPr>
            <a:xfrm flipH="false" flipV="false" rot="0">
              <a:off x="0" y="0"/>
              <a:ext cx="571500" cy="571500"/>
            </a:xfrm>
            <a:custGeom>
              <a:avLst/>
              <a:gdLst/>
              <a:ahLst/>
              <a:cxnLst/>
              <a:rect r="r" b="b" t="t" l="l"/>
              <a:pathLst>
                <a:path h="571500" w="571500">
                  <a:moveTo>
                    <a:pt x="0" y="285750"/>
                  </a:moveTo>
                  <a:cubicBezTo>
                    <a:pt x="0" y="127889"/>
                    <a:pt x="127889" y="0"/>
                    <a:pt x="285750" y="0"/>
                  </a:cubicBezTo>
                  <a:cubicBezTo>
                    <a:pt x="443611" y="0"/>
                    <a:pt x="571500" y="127889"/>
                    <a:pt x="571500" y="285750"/>
                  </a:cubicBezTo>
                  <a:cubicBezTo>
                    <a:pt x="571500" y="443611"/>
                    <a:pt x="443611" y="571500"/>
                    <a:pt x="285750" y="571500"/>
                  </a:cubicBezTo>
                  <a:cubicBezTo>
                    <a:pt x="127889" y="571500"/>
                    <a:pt x="0" y="443611"/>
                    <a:pt x="0" y="285750"/>
                  </a:cubicBezTo>
                  <a:close/>
                </a:path>
              </a:pathLst>
            </a:custGeom>
            <a:solidFill>
              <a:srgbClr val="FF8500"/>
            </a:solidFill>
            <a:ln cap="sq">
              <a:noFill/>
              <a:prstDash val="solid"/>
              <a:miter/>
            </a:ln>
          </p:spPr>
        </p:sp>
        <p:sp>
          <p:nvSpPr>
            <p:cNvPr name="TextBox 13" id="13"/>
            <p:cNvSpPr txBox="true"/>
            <p:nvPr/>
          </p:nvSpPr>
          <p:spPr>
            <a:xfrm>
              <a:off x="0" y="0"/>
              <a:ext cx="571500" cy="571500"/>
            </a:xfrm>
            <a:prstGeom prst="rect">
              <a:avLst/>
            </a:prstGeom>
          </p:spPr>
          <p:txBody>
            <a:bodyPr anchor="ctr" rtlCol="false" tIns="50800" lIns="50800" bIns="50800" rIns="50800"/>
            <a:lstStyle/>
            <a:p>
              <a:pPr algn="ctr">
                <a:lnSpc>
                  <a:spcPts val="1889"/>
                </a:lnSpc>
              </a:pPr>
              <a:r>
                <a:rPr lang="en-US" sz="1575" b="true">
                  <a:solidFill>
                    <a:srgbClr val="FFF6E9"/>
                  </a:solidFill>
                  <a:latin typeface="Lato Bold"/>
                  <a:ea typeface="Lato Bold"/>
                  <a:cs typeface="Lato Bold"/>
                  <a:sym typeface="Lato Bold"/>
                </a:rPr>
                <a:t>1</a:t>
              </a:r>
            </a:p>
          </p:txBody>
        </p:sp>
      </p:grpSp>
      <p:sp>
        <p:nvSpPr>
          <p:cNvPr name="TextBox 14" id="14"/>
          <p:cNvSpPr txBox="true"/>
          <p:nvPr/>
        </p:nvSpPr>
        <p:spPr>
          <a:xfrm rot="0">
            <a:off x="1771653" y="5694079"/>
            <a:ext cx="1571625" cy="342900"/>
          </a:xfrm>
          <a:prstGeom prst="rect">
            <a:avLst/>
          </a:prstGeom>
        </p:spPr>
        <p:txBody>
          <a:bodyPr anchor="t" rtlCol="false" tIns="0" lIns="0" bIns="0" rIns="0">
            <a:spAutoFit/>
          </a:bodyPr>
          <a:lstStyle/>
          <a:p>
            <a:pPr algn="l">
              <a:lnSpc>
                <a:spcPts val="2565"/>
              </a:lnSpc>
            </a:pPr>
            <a:r>
              <a:rPr lang="en-US" sz="2137" b="true">
                <a:solidFill>
                  <a:srgbClr val="2D180B"/>
                </a:solidFill>
                <a:latin typeface="Lato Bold"/>
                <a:ea typeface="Lato Bold"/>
                <a:cs typeface="Lato Bold"/>
                <a:sym typeface="Lato Bold"/>
              </a:rPr>
              <a:t>Choose</a:t>
            </a:r>
          </a:p>
        </p:txBody>
      </p:sp>
      <p:sp>
        <p:nvSpPr>
          <p:cNvPr name="TextBox 15" id="15"/>
          <p:cNvSpPr txBox="true"/>
          <p:nvPr/>
        </p:nvSpPr>
        <p:spPr>
          <a:xfrm rot="0">
            <a:off x="1200153" y="6294154"/>
            <a:ext cx="2143125" cy="457200"/>
          </a:xfrm>
          <a:prstGeom prst="rect">
            <a:avLst/>
          </a:prstGeom>
        </p:spPr>
        <p:txBody>
          <a:bodyPr anchor="t" rtlCol="false" tIns="0" lIns="0" bIns="0" rIns="0">
            <a:spAutoFit/>
          </a:bodyPr>
          <a:lstStyle/>
          <a:p>
            <a:pPr algn="l">
              <a:lnSpc>
                <a:spcPts val="1889"/>
              </a:lnSpc>
            </a:pPr>
            <a:r>
              <a:rPr lang="en-US" sz="1575">
                <a:solidFill>
                  <a:srgbClr val="895F3C"/>
                </a:solidFill>
                <a:latin typeface="Lato"/>
                <a:ea typeface="Lato"/>
                <a:cs typeface="Lato"/>
                <a:sym typeface="Lato"/>
              </a:rPr>
              <a:t>One clear goal</a:t>
            </a:r>
          </a:p>
        </p:txBody>
      </p:sp>
      <p:sp>
        <p:nvSpPr>
          <p:cNvPr name="AutoShape 16" id="16"/>
          <p:cNvSpPr/>
          <p:nvPr/>
        </p:nvSpPr>
        <p:spPr>
          <a:xfrm>
            <a:off x="6686047" y="4874926"/>
            <a:ext cx="1329433" cy="0"/>
          </a:xfrm>
          <a:prstGeom prst="line">
            <a:avLst/>
          </a:prstGeom>
          <a:ln cap="rnd" w="19050">
            <a:solidFill>
              <a:srgbClr val="C45300"/>
            </a:solidFill>
            <a:prstDash val="solid"/>
            <a:headEnd type="none" len="sm" w="sm"/>
            <a:tailEnd type="none" len="sm" w="sm"/>
          </a:ln>
        </p:spPr>
      </p:sp>
      <p:grpSp>
        <p:nvGrpSpPr>
          <p:cNvPr name="Group 17" id="17"/>
          <p:cNvGrpSpPr/>
          <p:nvPr/>
        </p:nvGrpSpPr>
        <p:grpSpPr>
          <a:xfrm rot="0">
            <a:off x="4207518" y="4079592"/>
            <a:ext cx="2728912" cy="1614488"/>
            <a:chOff x="0" y="0"/>
            <a:chExt cx="3638550" cy="2152650"/>
          </a:xfrm>
        </p:grpSpPr>
        <p:sp>
          <p:nvSpPr>
            <p:cNvPr name="Freeform 18" id="18"/>
            <p:cNvSpPr/>
            <p:nvPr/>
          </p:nvSpPr>
          <p:spPr>
            <a:xfrm flipH="false" flipV="false" rot="0">
              <a:off x="0" y="0"/>
              <a:ext cx="3638550" cy="2152650"/>
            </a:xfrm>
            <a:custGeom>
              <a:avLst/>
              <a:gdLst/>
              <a:ahLst/>
              <a:cxnLst/>
              <a:rect r="r" b="b" t="t" l="l"/>
              <a:pathLst>
                <a:path h="2152650" w="3638550">
                  <a:moveTo>
                    <a:pt x="0" y="307467"/>
                  </a:moveTo>
                  <a:cubicBezTo>
                    <a:pt x="0" y="137668"/>
                    <a:pt x="137668" y="0"/>
                    <a:pt x="307467" y="0"/>
                  </a:cubicBezTo>
                  <a:lnTo>
                    <a:pt x="3331083" y="0"/>
                  </a:lnTo>
                  <a:cubicBezTo>
                    <a:pt x="3500882" y="0"/>
                    <a:pt x="3638550" y="137668"/>
                    <a:pt x="3638550" y="307467"/>
                  </a:cubicBezTo>
                  <a:lnTo>
                    <a:pt x="3638550" y="1845183"/>
                  </a:lnTo>
                  <a:cubicBezTo>
                    <a:pt x="3638550" y="2014982"/>
                    <a:pt x="3500882" y="2152650"/>
                    <a:pt x="3331083" y="2152650"/>
                  </a:cubicBezTo>
                  <a:lnTo>
                    <a:pt x="307467" y="2152650"/>
                  </a:lnTo>
                  <a:cubicBezTo>
                    <a:pt x="137668" y="2152650"/>
                    <a:pt x="0" y="2014982"/>
                    <a:pt x="0" y="1845183"/>
                  </a:cubicBezTo>
                  <a:close/>
                </a:path>
              </a:pathLst>
            </a:custGeom>
            <a:solidFill>
              <a:srgbClr val="FFFDF8"/>
            </a:solidFill>
            <a:ln w="14288" cap="sq">
              <a:solidFill>
                <a:srgbClr val="EDCFAD"/>
              </a:solidFill>
              <a:prstDash val="solid"/>
              <a:miter/>
            </a:ln>
          </p:spPr>
        </p:sp>
      </p:grpSp>
      <p:grpSp>
        <p:nvGrpSpPr>
          <p:cNvPr name="Group 19" id="19"/>
          <p:cNvGrpSpPr/>
          <p:nvPr/>
        </p:nvGrpSpPr>
        <p:grpSpPr>
          <a:xfrm rot="0">
            <a:off x="4471837" y="4343910"/>
            <a:ext cx="428625" cy="428625"/>
            <a:chOff x="0" y="0"/>
            <a:chExt cx="571500" cy="571500"/>
          </a:xfrm>
        </p:grpSpPr>
        <p:sp>
          <p:nvSpPr>
            <p:cNvPr name="Freeform 20" id="20"/>
            <p:cNvSpPr/>
            <p:nvPr/>
          </p:nvSpPr>
          <p:spPr>
            <a:xfrm flipH="false" flipV="false" rot="0">
              <a:off x="0" y="0"/>
              <a:ext cx="571500" cy="571500"/>
            </a:xfrm>
            <a:custGeom>
              <a:avLst/>
              <a:gdLst/>
              <a:ahLst/>
              <a:cxnLst/>
              <a:rect r="r" b="b" t="t" l="l"/>
              <a:pathLst>
                <a:path h="571500" w="571500">
                  <a:moveTo>
                    <a:pt x="0" y="285750"/>
                  </a:moveTo>
                  <a:cubicBezTo>
                    <a:pt x="0" y="127889"/>
                    <a:pt x="127889" y="0"/>
                    <a:pt x="285750" y="0"/>
                  </a:cubicBezTo>
                  <a:cubicBezTo>
                    <a:pt x="443611" y="0"/>
                    <a:pt x="571500" y="127889"/>
                    <a:pt x="571500" y="285750"/>
                  </a:cubicBezTo>
                  <a:cubicBezTo>
                    <a:pt x="571500" y="443611"/>
                    <a:pt x="443611" y="571500"/>
                    <a:pt x="285750" y="571500"/>
                  </a:cubicBezTo>
                  <a:cubicBezTo>
                    <a:pt x="127889" y="571500"/>
                    <a:pt x="0" y="443611"/>
                    <a:pt x="0" y="285750"/>
                  </a:cubicBezTo>
                  <a:close/>
                </a:path>
              </a:pathLst>
            </a:custGeom>
            <a:solidFill>
              <a:srgbClr val="FF8500"/>
            </a:solidFill>
            <a:ln cap="sq">
              <a:noFill/>
              <a:prstDash val="solid"/>
              <a:miter/>
            </a:ln>
          </p:spPr>
        </p:sp>
        <p:sp>
          <p:nvSpPr>
            <p:cNvPr name="TextBox 21" id="21"/>
            <p:cNvSpPr txBox="true"/>
            <p:nvPr/>
          </p:nvSpPr>
          <p:spPr>
            <a:xfrm>
              <a:off x="0" y="0"/>
              <a:ext cx="571500" cy="571500"/>
            </a:xfrm>
            <a:prstGeom prst="rect">
              <a:avLst/>
            </a:prstGeom>
          </p:spPr>
          <p:txBody>
            <a:bodyPr anchor="ctr" rtlCol="false" tIns="50800" lIns="50800" bIns="50800" rIns="50800"/>
            <a:lstStyle/>
            <a:p>
              <a:pPr algn="ctr">
                <a:lnSpc>
                  <a:spcPts val="1889"/>
                </a:lnSpc>
              </a:pPr>
              <a:r>
                <a:rPr lang="en-US" sz="1575" b="true">
                  <a:solidFill>
                    <a:srgbClr val="FFF6E9"/>
                  </a:solidFill>
                  <a:latin typeface="Lato Bold"/>
                  <a:ea typeface="Lato Bold"/>
                  <a:cs typeface="Lato Bold"/>
                  <a:sym typeface="Lato Bold"/>
                </a:rPr>
                <a:t>2</a:t>
              </a:r>
            </a:p>
          </p:txBody>
        </p:sp>
      </p:grpSp>
      <p:sp>
        <p:nvSpPr>
          <p:cNvPr name="TextBox 22" id="22"/>
          <p:cNvSpPr txBox="true"/>
          <p:nvPr/>
        </p:nvSpPr>
        <p:spPr>
          <a:xfrm rot="0">
            <a:off x="5071912" y="4372485"/>
            <a:ext cx="1571625" cy="342900"/>
          </a:xfrm>
          <a:prstGeom prst="rect">
            <a:avLst/>
          </a:prstGeom>
        </p:spPr>
        <p:txBody>
          <a:bodyPr anchor="t" rtlCol="false" tIns="0" lIns="0" bIns="0" rIns="0">
            <a:spAutoFit/>
          </a:bodyPr>
          <a:lstStyle/>
          <a:p>
            <a:pPr algn="l">
              <a:lnSpc>
                <a:spcPts val="2565"/>
              </a:lnSpc>
            </a:pPr>
            <a:r>
              <a:rPr lang="en-US" sz="2137" b="true">
                <a:solidFill>
                  <a:srgbClr val="2D180B"/>
                </a:solidFill>
                <a:latin typeface="Lato Bold"/>
                <a:ea typeface="Lato Bold"/>
                <a:cs typeface="Lato Bold"/>
                <a:sym typeface="Lato Bold"/>
              </a:rPr>
              <a:t>Try</a:t>
            </a:r>
          </a:p>
        </p:txBody>
      </p:sp>
      <p:sp>
        <p:nvSpPr>
          <p:cNvPr name="TextBox 23" id="23"/>
          <p:cNvSpPr txBox="true"/>
          <p:nvPr/>
        </p:nvSpPr>
        <p:spPr>
          <a:xfrm rot="0">
            <a:off x="4500412" y="4972560"/>
            <a:ext cx="2143125" cy="457200"/>
          </a:xfrm>
          <a:prstGeom prst="rect">
            <a:avLst/>
          </a:prstGeom>
        </p:spPr>
        <p:txBody>
          <a:bodyPr anchor="t" rtlCol="false" tIns="0" lIns="0" bIns="0" rIns="0">
            <a:spAutoFit/>
          </a:bodyPr>
          <a:lstStyle/>
          <a:p>
            <a:pPr algn="l">
              <a:lnSpc>
                <a:spcPts val="1889"/>
              </a:lnSpc>
            </a:pPr>
            <a:r>
              <a:rPr lang="en-US" sz="1575">
                <a:solidFill>
                  <a:srgbClr val="895F3C"/>
                </a:solidFill>
                <a:latin typeface="Lato"/>
                <a:ea typeface="Lato"/>
                <a:cs typeface="Lato"/>
                <a:sym typeface="Lato"/>
              </a:rPr>
              <a:t>The learner acts</a:t>
            </a:r>
          </a:p>
        </p:txBody>
      </p:sp>
      <p:sp>
        <p:nvSpPr>
          <p:cNvPr name="AutoShape 24" id="24"/>
          <p:cNvSpPr/>
          <p:nvPr/>
        </p:nvSpPr>
        <p:spPr>
          <a:xfrm>
            <a:off x="9400857" y="4884451"/>
            <a:ext cx="1515418" cy="0"/>
          </a:xfrm>
          <a:prstGeom prst="line">
            <a:avLst/>
          </a:prstGeom>
          <a:ln cap="rnd" w="19050">
            <a:solidFill>
              <a:srgbClr val="C45300"/>
            </a:solidFill>
            <a:prstDash val="solid"/>
            <a:headEnd type="none" len="sm" w="sm"/>
            <a:tailEnd type="none" len="sm" w="sm"/>
          </a:ln>
        </p:spPr>
      </p:sp>
      <p:grpSp>
        <p:nvGrpSpPr>
          <p:cNvPr name="Group 25" id="25"/>
          <p:cNvGrpSpPr/>
          <p:nvPr/>
        </p:nvGrpSpPr>
        <p:grpSpPr>
          <a:xfrm rot="0">
            <a:off x="7488881" y="4079592"/>
            <a:ext cx="2728912" cy="1614488"/>
            <a:chOff x="0" y="0"/>
            <a:chExt cx="3638550" cy="2152650"/>
          </a:xfrm>
        </p:grpSpPr>
        <p:sp>
          <p:nvSpPr>
            <p:cNvPr name="Freeform 26" id="26"/>
            <p:cNvSpPr/>
            <p:nvPr/>
          </p:nvSpPr>
          <p:spPr>
            <a:xfrm flipH="false" flipV="false" rot="0">
              <a:off x="0" y="0"/>
              <a:ext cx="3638550" cy="2152650"/>
            </a:xfrm>
            <a:custGeom>
              <a:avLst/>
              <a:gdLst/>
              <a:ahLst/>
              <a:cxnLst/>
              <a:rect r="r" b="b" t="t" l="l"/>
              <a:pathLst>
                <a:path h="2152650" w="3638550">
                  <a:moveTo>
                    <a:pt x="0" y="307467"/>
                  </a:moveTo>
                  <a:cubicBezTo>
                    <a:pt x="0" y="137668"/>
                    <a:pt x="137668" y="0"/>
                    <a:pt x="307467" y="0"/>
                  </a:cubicBezTo>
                  <a:lnTo>
                    <a:pt x="3331083" y="0"/>
                  </a:lnTo>
                  <a:cubicBezTo>
                    <a:pt x="3500882" y="0"/>
                    <a:pt x="3638550" y="137668"/>
                    <a:pt x="3638550" y="307467"/>
                  </a:cubicBezTo>
                  <a:lnTo>
                    <a:pt x="3638550" y="1845183"/>
                  </a:lnTo>
                  <a:cubicBezTo>
                    <a:pt x="3638550" y="2014982"/>
                    <a:pt x="3500882" y="2152650"/>
                    <a:pt x="3331083" y="2152650"/>
                  </a:cubicBezTo>
                  <a:lnTo>
                    <a:pt x="307467" y="2152650"/>
                  </a:lnTo>
                  <a:cubicBezTo>
                    <a:pt x="137668" y="2152650"/>
                    <a:pt x="0" y="2014982"/>
                    <a:pt x="0" y="1845183"/>
                  </a:cubicBezTo>
                  <a:close/>
                </a:path>
              </a:pathLst>
            </a:custGeom>
            <a:solidFill>
              <a:srgbClr val="FF8500"/>
            </a:solidFill>
            <a:ln w="14288" cap="sq">
              <a:solidFill>
                <a:srgbClr val="FF8500"/>
              </a:solidFill>
              <a:prstDash val="solid"/>
              <a:miter/>
            </a:ln>
          </p:spPr>
        </p:sp>
      </p:grpSp>
      <p:grpSp>
        <p:nvGrpSpPr>
          <p:cNvPr name="Group 27" id="27"/>
          <p:cNvGrpSpPr/>
          <p:nvPr/>
        </p:nvGrpSpPr>
        <p:grpSpPr>
          <a:xfrm rot="0">
            <a:off x="7753199" y="4343910"/>
            <a:ext cx="428625" cy="428625"/>
            <a:chOff x="0" y="0"/>
            <a:chExt cx="571500" cy="571500"/>
          </a:xfrm>
        </p:grpSpPr>
        <p:sp>
          <p:nvSpPr>
            <p:cNvPr name="Freeform 28" id="28"/>
            <p:cNvSpPr/>
            <p:nvPr/>
          </p:nvSpPr>
          <p:spPr>
            <a:xfrm flipH="false" flipV="false" rot="0">
              <a:off x="0" y="0"/>
              <a:ext cx="571500" cy="571500"/>
            </a:xfrm>
            <a:custGeom>
              <a:avLst/>
              <a:gdLst/>
              <a:ahLst/>
              <a:cxnLst/>
              <a:rect r="r" b="b" t="t" l="l"/>
              <a:pathLst>
                <a:path h="571500" w="571500">
                  <a:moveTo>
                    <a:pt x="0" y="285750"/>
                  </a:moveTo>
                  <a:cubicBezTo>
                    <a:pt x="0" y="127889"/>
                    <a:pt x="127889" y="0"/>
                    <a:pt x="285750" y="0"/>
                  </a:cubicBezTo>
                  <a:cubicBezTo>
                    <a:pt x="443611" y="0"/>
                    <a:pt x="571500" y="127889"/>
                    <a:pt x="571500" y="285750"/>
                  </a:cubicBezTo>
                  <a:cubicBezTo>
                    <a:pt x="571500" y="443611"/>
                    <a:pt x="443611" y="571500"/>
                    <a:pt x="285750" y="571500"/>
                  </a:cubicBezTo>
                  <a:cubicBezTo>
                    <a:pt x="127889" y="571500"/>
                    <a:pt x="0" y="443611"/>
                    <a:pt x="0" y="285750"/>
                  </a:cubicBezTo>
                  <a:close/>
                </a:path>
              </a:pathLst>
            </a:custGeom>
            <a:solidFill>
              <a:srgbClr val="FFF6E9"/>
            </a:solidFill>
            <a:ln cap="sq">
              <a:noFill/>
              <a:prstDash val="solid"/>
              <a:miter/>
            </a:ln>
          </p:spPr>
        </p:sp>
        <p:sp>
          <p:nvSpPr>
            <p:cNvPr name="TextBox 29" id="29"/>
            <p:cNvSpPr txBox="true"/>
            <p:nvPr/>
          </p:nvSpPr>
          <p:spPr>
            <a:xfrm>
              <a:off x="0" y="0"/>
              <a:ext cx="571500" cy="571500"/>
            </a:xfrm>
            <a:prstGeom prst="rect">
              <a:avLst/>
            </a:prstGeom>
          </p:spPr>
          <p:txBody>
            <a:bodyPr anchor="ctr" rtlCol="false" tIns="50800" lIns="50800" bIns="50800" rIns="50800"/>
            <a:lstStyle/>
            <a:p>
              <a:pPr algn="ctr">
                <a:lnSpc>
                  <a:spcPts val="1889"/>
                </a:lnSpc>
              </a:pPr>
              <a:r>
                <a:rPr lang="en-US" sz="1575" b="true">
                  <a:solidFill>
                    <a:srgbClr val="C45300"/>
                  </a:solidFill>
                  <a:latin typeface="Lato Bold"/>
                  <a:ea typeface="Lato Bold"/>
                  <a:cs typeface="Lato Bold"/>
                  <a:sym typeface="Lato Bold"/>
                </a:rPr>
                <a:t>3</a:t>
              </a:r>
            </a:p>
          </p:txBody>
        </p:sp>
      </p:grpSp>
      <p:sp>
        <p:nvSpPr>
          <p:cNvPr name="TextBox 30" id="30"/>
          <p:cNvSpPr txBox="true"/>
          <p:nvPr/>
        </p:nvSpPr>
        <p:spPr>
          <a:xfrm rot="0">
            <a:off x="8353274" y="4362960"/>
            <a:ext cx="1571625" cy="352425"/>
          </a:xfrm>
          <a:prstGeom prst="rect">
            <a:avLst/>
          </a:prstGeom>
        </p:spPr>
        <p:txBody>
          <a:bodyPr anchor="t" rtlCol="false" tIns="0" lIns="0" bIns="0" rIns="0">
            <a:spAutoFit/>
          </a:bodyPr>
          <a:lstStyle/>
          <a:p>
            <a:pPr algn="l">
              <a:lnSpc>
                <a:spcPts val="2505"/>
              </a:lnSpc>
            </a:pPr>
            <a:r>
              <a:rPr lang="en-US" sz="2088" b="true">
                <a:solidFill>
                  <a:srgbClr val="FFF6E9"/>
                </a:solidFill>
                <a:latin typeface="Lato Bold"/>
                <a:ea typeface="Lato Bold"/>
                <a:cs typeface="Lato Bold"/>
                <a:sym typeface="Lato Bold"/>
              </a:rPr>
              <a:t>Get feedback</a:t>
            </a:r>
          </a:p>
        </p:txBody>
      </p:sp>
      <p:sp>
        <p:nvSpPr>
          <p:cNvPr name="TextBox 31" id="31"/>
          <p:cNvSpPr txBox="true"/>
          <p:nvPr/>
        </p:nvSpPr>
        <p:spPr>
          <a:xfrm rot="0">
            <a:off x="7781774" y="4972560"/>
            <a:ext cx="2143125" cy="457200"/>
          </a:xfrm>
          <a:prstGeom prst="rect">
            <a:avLst/>
          </a:prstGeom>
        </p:spPr>
        <p:txBody>
          <a:bodyPr anchor="t" rtlCol="false" tIns="0" lIns="0" bIns="0" rIns="0">
            <a:spAutoFit/>
          </a:bodyPr>
          <a:lstStyle/>
          <a:p>
            <a:pPr algn="l">
              <a:lnSpc>
                <a:spcPts val="1889"/>
              </a:lnSpc>
            </a:pPr>
            <a:r>
              <a:rPr lang="en-US" sz="1575">
                <a:solidFill>
                  <a:srgbClr val="FFF6E9"/>
                </a:solidFill>
                <a:latin typeface="Lato"/>
                <a:ea typeface="Lato"/>
                <a:cs typeface="Lato"/>
                <a:sym typeface="Lato"/>
              </a:rPr>
              <a:t>Context, not a lecture</a:t>
            </a:r>
          </a:p>
        </p:txBody>
      </p:sp>
      <p:sp>
        <p:nvSpPr>
          <p:cNvPr name="AutoShape 32" id="32"/>
          <p:cNvSpPr/>
          <p:nvPr/>
        </p:nvSpPr>
        <p:spPr>
          <a:xfrm flipH="true" flipV="true">
            <a:off x="13161985" y="5223528"/>
            <a:ext cx="935430" cy="355315"/>
          </a:xfrm>
          <a:prstGeom prst="line">
            <a:avLst/>
          </a:prstGeom>
          <a:ln cap="rnd" w="19050">
            <a:solidFill>
              <a:srgbClr val="C45300"/>
            </a:solidFill>
            <a:prstDash val="solid"/>
            <a:headEnd type="none" len="sm" w="sm"/>
            <a:tailEnd type="none" len="sm" w="sm"/>
          </a:ln>
        </p:spPr>
      </p:sp>
      <p:grpSp>
        <p:nvGrpSpPr>
          <p:cNvPr name="Group 33" id="33"/>
          <p:cNvGrpSpPr/>
          <p:nvPr/>
        </p:nvGrpSpPr>
        <p:grpSpPr>
          <a:xfrm rot="0">
            <a:off x="10783836" y="4079592"/>
            <a:ext cx="2728912" cy="1614488"/>
            <a:chOff x="0" y="0"/>
            <a:chExt cx="3638550" cy="2152650"/>
          </a:xfrm>
        </p:grpSpPr>
        <p:sp>
          <p:nvSpPr>
            <p:cNvPr name="Freeform 34" id="34"/>
            <p:cNvSpPr/>
            <p:nvPr/>
          </p:nvSpPr>
          <p:spPr>
            <a:xfrm flipH="false" flipV="false" rot="0">
              <a:off x="0" y="0"/>
              <a:ext cx="3638550" cy="2152650"/>
            </a:xfrm>
            <a:custGeom>
              <a:avLst/>
              <a:gdLst/>
              <a:ahLst/>
              <a:cxnLst/>
              <a:rect r="r" b="b" t="t" l="l"/>
              <a:pathLst>
                <a:path h="2152650" w="3638550">
                  <a:moveTo>
                    <a:pt x="0" y="307467"/>
                  </a:moveTo>
                  <a:cubicBezTo>
                    <a:pt x="0" y="137668"/>
                    <a:pt x="137668" y="0"/>
                    <a:pt x="307467" y="0"/>
                  </a:cubicBezTo>
                  <a:lnTo>
                    <a:pt x="3331083" y="0"/>
                  </a:lnTo>
                  <a:cubicBezTo>
                    <a:pt x="3500882" y="0"/>
                    <a:pt x="3638550" y="137668"/>
                    <a:pt x="3638550" y="307467"/>
                  </a:cubicBezTo>
                  <a:lnTo>
                    <a:pt x="3638550" y="1845183"/>
                  </a:lnTo>
                  <a:cubicBezTo>
                    <a:pt x="3638550" y="2014982"/>
                    <a:pt x="3500882" y="2152650"/>
                    <a:pt x="3331083" y="2152650"/>
                  </a:cubicBezTo>
                  <a:lnTo>
                    <a:pt x="307467" y="2152650"/>
                  </a:lnTo>
                  <a:cubicBezTo>
                    <a:pt x="137668" y="2152650"/>
                    <a:pt x="0" y="2014982"/>
                    <a:pt x="0" y="1845183"/>
                  </a:cubicBezTo>
                  <a:close/>
                </a:path>
              </a:pathLst>
            </a:custGeom>
            <a:solidFill>
              <a:srgbClr val="FFFDF8"/>
            </a:solidFill>
            <a:ln w="14288" cap="sq">
              <a:solidFill>
                <a:srgbClr val="EDCFAD"/>
              </a:solidFill>
              <a:prstDash val="solid"/>
              <a:miter/>
            </a:ln>
          </p:spPr>
        </p:sp>
      </p:grpSp>
      <p:grpSp>
        <p:nvGrpSpPr>
          <p:cNvPr name="Group 35" id="35"/>
          <p:cNvGrpSpPr/>
          <p:nvPr/>
        </p:nvGrpSpPr>
        <p:grpSpPr>
          <a:xfrm rot="0">
            <a:off x="11048155" y="4343910"/>
            <a:ext cx="428625" cy="428625"/>
            <a:chOff x="0" y="0"/>
            <a:chExt cx="571500" cy="571500"/>
          </a:xfrm>
        </p:grpSpPr>
        <p:sp>
          <p:nvSpPr>
            <p:cNvPr name="Freeform 36" id="36"/>
            <p:cNvSpPr/>
            <p:nvPr/>
          </p:nvSpPr>
          <p:spPr>
            <a:xfrm flipH="false" flipV="false" rot="0">
              <a:off x="0" y="0"/>
              <a:ext cx="571500" cy="571500"/>
            </a:xfrm>
            <a:custGeom>
              <a:avLst/>
              <a:gdLst/>
              <a:ahLst/>
              <a:cxnLst/>
              <a:rect r="r" b="b" t="t" l="l"/>
              <a:pathLst>
                <a:path h="571500" w="571500">
                  <a:moveTo>
                    <a:pt x="0" y="285750"/>
                  </a:moveTo>
                  <a:cubicBezTo>
                    <a:pt x="0" y="127889"/>
                    <a:pt x="127889" y="0"/>
                    <a:pt x="285750" y="0"/>
                  </a:cubicBezTo>
                  <a:cubicBezTo>
                    <a:pt x="443611" y="0"/>
                    <a:pt x="571500" y="127889"/>
                    <a:pt x="571500" y="285750"/>
                  </a:cubicBezTo>
                  <a:cubicBezTo>
                    <a:pt x="571500" y="443611"/>
                    <a:pt x="443611" y="571500"/>
                    <a:pt x="285750" y="571500"/>
                  </a:cubicBezTo>
                  <a:cubicBezTo>
                    <a:pt x="127889" y="571500"/>
                    <a:pt x="0" y="443611"/>
                    <a:pt x="0" y="285750"/>
                  </a:cubicBezTo>
                  <a:close/>
                </a:path>
              </a:pathLst>
            </a:custGeom>
            <a:solidFill>
              <a:srgbClr val="FF8500"/>
            </a:solidFill>
            <a:ln cap="sq">
              <a:noFill/>
              <a:prstDash val="solid"/>
              <a:miter/>
            </a:ln>
          </p:spPr>
        </p:sp>
        <p:sp>
          <p:nvSpPr>
            <p:cNvPr name="TextBox 37" id="37"/>
            <p:cNvSpPr txBox="true"/>
            <p:nvPr/>
          </p:nvSpPr>
          <p:spPr>
            <a:xfrm>
              <a:off x="0" y="0"/>
              <a:ext cx="571500" cy="571500"/>
            </a:xfrm>
            <a:prstGeom prst="rect">
              <a:avLst/>
            </a:prstGeom>
          </p:spPr>
          <p:txBody>
            <a:bodyPr anchor="ctr" rtlCol="false" tIns="50800" lIns="50800" bIns="50800" rIns="50800"/>
            <a:lstStyle/>
            <a:p>
              <a:pPr algn="ctr">
                <a:lnSpc>
                  <a:spcPts val="1889"/>
                </a:lnSpc>
              </a:pPr>
              <a:r>
                <a:rPr lang="en-US" sz="1575" b="true">
                  <a:solidFill>
                    <a:srgbClr val="FFF6E9"/>
                  </a:solidFill>
                  <a:latin typeface="Lato Bold"/>
                  <a:ea typeface="Lato Bold"/>
                  <a:cs typeface="Lato Bold"/>
                  <a:sym typeface="Lato Bold"/>
                </a:rPr>
                <a:t>4</a:t>
              </a:r>
            </a:p>
          </p:txBody>
        </p:sp>
      </p:grpSp>
      <p:sp>
        <p:nvSpPr>
          <p:cNvPr name="TextBox 38" id="38"/>
          <p:cNvSpPr txBox="true"/>
          <p:nvPr/>
        </p:nvSpPr>
        <p:spPr>
          <a:xfrm rot="0">
            <a:off x="11648230" y="4372485"/>
            <a:ext cx="1571625" cy="342900"/>
          </a:xfrm>
          <a:prstGeom prst="rect">
            <a:avLst/>
          </a:prstGeom>
        </p:spPr>
        <p:txBody>
          <a:bodyPr anchor="t" rtlCol="false" tIns="0" lIns="0" bIns="0" rIns="0">
            <a:spAutoFit/>
          </a:bodyPr>
          <a:lstStyle/>
          <a:p>
            <a:pPr algn="l">
              <a:lnSpc>
                <a:spcPts val="2565"/>
              </a:lnSpc>
            </a:pPr>
            <a:r>
              <a:rPr lang="en-US" sz="2137" b="true">
                <a:solidFill>
                  <a:srgbClr val="2D180B"/>
                </a:solidFill>
                <a:latin typeface="Lato Bold"/>
                <a:ea typeface="Lato Bold"/>
                <a:cs typeface="Lato Bold"/>
                <a:sym typeface="Lato Bold"/>
              </a:rPr>
              <a:t>Repeat</a:t>
            </a:r>
          </a:p>
        </p:txBody>
      </p:sp>
      <p:sp>
        <p:nvSpPr>
          <p:cNvPr name="TextBox 39" id="39"/>
          <p:cNvSpPr txBox="true"/>
          <p:nvPr/>
        </p:nvSpPr>
        <p:spPr>
          <a:xfrm rot="0">
            <a:off x="11076730" y="4972560"/>
            <a:ext cx="2143125" cy="457200"/>
          </a:xfrm>
          <a:prstGeom prst="rect">
            <a:avLst/>
          </a:prstGeom>
        </p:spPr>
        <p:txBody>
          <a:bodyPr anchor="t" rtlCol="false" tIns="0" lIns="0" bIns="0" rIns="0">
            <a:spAutoFit/>
          </a:bodyPr>
          <a:lstStyle/>
          <a:p>
            <a:pPr algn="l">
              <a:lnSpc>
                <a:spcPts val="1889"/>
              </a:lnSpc>
            </a:pPr>
            <a:r>
              <a:rPr lang="en-US" sz="1575">
                <a:solidFill>
                  <a:srgbClr val="895F3C"/>
                </a:solidFill>
                <a:latin typeface="Lato"/>
                <a:ea typeface="Lato"/>
                <a:cs typeface="Lato"/>
                <a:sym typeface="Lato"/>
              </a:rPr>
              <a:t>Correct the next detail</a:t>
            </a:r>
          </a:p>
        </p:txBody>
      </p:sp>
      <p:grpSp>
        <p:nvGrpSpPr>
          <p:cNvPr name="Group 40" id="40"/>
          <p:cNvGrpSpPr/>
          <p:nvPr/>
        </p:nvGrpSpPr>
        <p:grpSpPr>
          <a:xfrm rot="0">
            <a:off x="14084095" y="5401185"/>
            <a:ext cx="2686050" cy="1614488"/>
            <a:chOff x="0" y="0"/>
            <a:chExt cx="3581400" cy="2152650"/>
          </a:xfrm>
        </p:grpSpPr>
        <p:sp>
          <p:nvSpPr>
            <p:cNvPr name="Freeform 41" id="41"/>
            <p:cNvSpPr/>
            <p:nvPr/>
          </p:nvSpPr>
          <p:spPr>
            <a:xfrm flipH="false" flipV="false" rot="0">
              <a:off x="0" y="0"/>
              <a:ext cx="3581400" cy="2152650"/>
            </a:xfrm>
            <a:custGeom>
              <a:avLst/>
              <a:gdLst/>
              <a:ahLst/>
              <a:cxnLst/>
              <a:rect r="r" b="b" t="t" l="l"/>
              <a:pathLst>
                <a:path h="2152650" w="3581400">
                  <a:moveTo>
                    <a:pt x="0" y="307467"/>
                  </a:moveTo>
                  <a:cubicBezTo>
                    <a:pt x="0" y="137668"/>
                    <a:pt x="135506" y="0"/>
                    <a:pt x="302638" y="0"/>
                  </a:cubicBezTo>
                  <a:lnTo>
                    <a:pt x="3278762" y="0"/>
                  </a:lnTo>
                  <a:cubicBezTo>
                    <a:pt x="3445894" y="0"/>
                    <a:pt x="3581400" y="137668"/>
                    <a:pt x="3581400" y="307467"/>
                  </a:cubicBezTo>
                  <a:lnTo>
                    <a:pt x="3581400" y="1845183"/>
                  </a:lnTo>
                  <a:cubicBezTo>
                    <a:pt x="3581400" y="2014982"/>
                    <a:pt x="3445894" y="2152650"/>
                    <a:pt x="3278762" y="2152650"/>
                  </a:cubicBezTo>
                  <a:lnTo>
                    <a:pt x="302638" y="2152650"/>
                  </a:lnTo>
                  <a:cubicBezTo>
                    <a:pt x="135506" y="2152650"/>
                    <a:pt x="0" y="2014982"/>
                    <a:pt x="0" y="1845183"/>
                  </a:cubicBezTo>
                  <a:close/>
                </a:path>
              </a:pathLst>
            </a:custGeom>
            <a:solidFill>
              <a:srgbClr val="FFFDF8"/>
            </a:solidFill>
            <a:ln w="14288" cap="sq">
              <a:solidFill>
                <a:srgbClr val="EDCFAD"/>
              </a:solidFill>
              <a:prstDash val="solid"/>
              <a:miter/>
            </a:ln>
          </p:spPr>
        </p:sp>
      </p:grpSp>
      <p:grpSp>
        <p:nvGrpSpPr>
          <p:cNvPr name="Group 42" id="42"/>
          <p:cNvGrpSpPr/>
          <p:nvPr/>
        </p:nvGrpSpPr>
        <p:grpSpPr>
          <a:xfrm rot="0">
            <a:off x="14348414" y="5665504"/>
            <a:ext cx="428625" cy="428625"/>
            <a:chOff x="0" y="0"/>
            <a:chExt cx="571500" cy="571500"/>
          </a:xfrm>
        </p:grpSpPr>
        <p:sp>
          <p:nvSpPr>
            <p:cNvPr name="Freeform 43" id="43"/>
            <p:cNvSpPr/>
            <p:nvPr/>
          </p:nvSpPr>
          <p:spPr>
            <a:xfrm flipH="false" flipV="false" rot="0">
              <a:off x="0" y="0"/>
              <a:ext cx="571500" cy="571500"/>
            </a:xfrm>
            <a:custGeom>
              <a:avLst/>
              <a:gdLst/>
              <a:ahLst/>
              <a:cxnLst/>
              <a:rect r="r" b="b" t="t" l="l"/>
              <a:pathLst>
                <a:path h="571500" w="571500">
                  <a:moveTo>
                    <a:pt x="0" y="285750"/>
                  </a:moveTo>
                  <a:cubicBezTo>
                    <a:pt x="0" y="127889"/>
                    <a:pt x="127889" y="0"/>
                    <a:pt x="285750" y="0"/>
                  </a:cubicBezTo>
                  <a:cubicBezTo>
                    <a:pt x="443611" y="0"/>
                    <a:pt x="571500" y="127889"/>
                    <a:pt x="571500" y="285750"/>
                  </a:cubicBezTo>
                  <a:cubicBezTo>
                    <a:pt x="571500" y="443611"/>
                    <a:pt x="443611" y="571500"/>
                    <a:pt x="285750" y="571500"/>
                  </a:cubicBezTo>
                  <a:cubicBezTo>
                    <a:pt x="127889" y="571500"/>
                    <a:pt x="0" y="443611"/>
                    <a:pt x="0" y="285750"/>
                  </a:cubicBezTo>
                  <a:close/>
                </a:path>
              </a:pathLst>
            </a:custGeom>
            <a:solidFill>
              <a:srgbClr val="FF8500"/>
            </a:solidFill>
            <a:ln cap="sq">
              <a:noFill/>
              <a:prstDash val="solid"/>
              <a:miter/>
            </a:ln>
          </p:spPr>
        </p:sp>
        <p:sp>
          <p:nvSpPr>
            <p:cNvPr name="TextBox 44" id="44"/>
            <p:cNvSpPr txBox="true"/>
            <p:nvPr/>
          </p:nvSpPr>
          <p:spPr>
            <a:xfrm>
              <a:off x="0" y="0"/>
              <a:ext cx="571500" cy="571500"/>
            </a:xfrm>
            <a:prstGeom prst="rect">
              <a:avLst/>
            </a:prstGeom>
          </p:spPr>
          <p:txBody>
            <a:bodyPr anchor="ctr" rtlCol="false" tIns="50800" lIns="50800" bIns="50800" rIns="50800"/>
            <a:lstStyle/>
            <a:p>
              <a:pPr algn="ctr">
                <a:lnSpc>
                  <a:spcPts val="1889"/>
                </a:lnSpc>
              </a:pPr>
              <a:r>
                <a:rPr lang="en-US" sz="1575" b="true">
                  <a:solidFill>
                    <a:srgbClr val="FFF6E9"/>
                  </a:solidFill>
                  <a:latin typeface="Lato Bold"/>
                  <a:ea typeface="Lato Bold"/>
                  <a:cs typeface="Lato Bold"/>
                  <a:sym typeface="Lato Bold"/>
                </a:rPr>
                <a:t>5</a:t>
              </a:r>
            </a:p>
          </p:txBody>
        </p:sp>
      </p:grpSp>
      <p:sp>
        <p:nvSpPr>
          <p:cNvPr name="TextBox 45" id="45"/>
          <p:cNvSpPr txBox="true"/>
          <p:nvPr/>
        </p:nvSpPr>
        <p:spPr>
          <a:xfrm rot="0">
            <a:off x="14905626" y="5746467"/>
            <a:ext cx="1793084" cy="257175"/>
          </a:xfrm>
          <a:prstGeom prst="rect">
            <a:avLst/>
          </a:prstGeom>
        </p:spPr>
        <p:txBody>
          <a:bodyPr anchor="t" rtlCol="false" tIns="0" lIns="0" bIns="0" rIns="0">
            <a:spAutoFit/>
          </a:bodyPr>
          <a:lstStyle/>
          <a:p>
            <a:pPr algn="l">
              <a:lnSpc>
                <a:spcPts val="2001"/>
              </a:lnSpc>
            </a:pPr>
            <a:r>
              <a:rPr lang="en-US" sz="1668" b="true">
                <a:solidFill>
                  <a:srgbClr val="2D180B"/>
                </a:solidFill>
                <a:latin typeface="Lato Bold"/>
                <a:ea typeface="Lato Bold"/>
                <a:cs typeface="Lato Bold"/>
                <a:sym typeface="Lato Bold"/>
              </a:rPr>
              <a:t>Build confidence</a:t>
            </a:r>
          </a:p>
        </p:txBody>
      </p:sp>
      <p:sp>
        <p:nvSpPr>
          <p:cNvPr name="TextBox 46" id="46"/>
          <p:cNvSpPr txBox="true"/>
          <p:nvPr/>
        </p:nvSpPr>
        <p:spPr>
          <a:xfrm rot="0">
            <a:off x="14376989" y="6294154"/>
            <a:ext cx="2143125" cy="457200"/>
          </a:xfrm>
          <a:prstGeom prst="rect">
            <a:avLst/>
          </a:prstGeom>
        </p:spPr>
        <p:txBody>
          <a:bodyPr anchor="t" rtlCol="false" tIns="0" lIns="0" bIns="0" rIns="0">
            <a:spAutoFit/>
          </a:bodyPr>
          <a:lstStyle/>
          <a:p>
            <a:pPr algn="l">
              <a:lnSpc>
                <a:spcPts val="1889"/>
              </a:lnSpc>
            </a:pPr>
            <a:r>
              <a:rPr lang="en-US" sz="1575">
                <a:solidFill>
                  <a:srgbClr val="895F3C"/>
                </a:solidFill>
                <a:latin typeface="Lato"/>
                <a:ea typeface="Lato"/>
                <a:cs typeface="Lato"/>
                <a:sym typeface="Lato"/>
              </a:rPr>
              <a:t>A skill that stays</a:t>
            </a:r>
          </a:p>
        </p:txBody>
      </p:sp>
      <p:grpSp>
        <p:nvGrpSpPr>
          <p:cNvPr name="Group 47" id="47"/>
          <p:cNvGrpSpPr/>
          <p:nvPr/>
        </p:nvGrpSpPr>
        <p:grpSpPr>
          <a:xfrm rot="0">
            <a:off x="914400" y="8715375"/>
            <a:ext cx="1428750" cy="400050"/>
            <a:chOff x="0" y="0"/>
            <a:chExt cx="1905000" cy="533400"/>
          </a:xfrm>
        </p:grpSpPr>
        <p:sp>
          <p:nvSpPr>
            <p:cNvPr name="Freeform 48" id="48"/>
            <p:cNvSpPr/>
            <p:nvPr/>
          </p:nvSpPr>
          <p:spPr>
            <a:xfrm flipH="false" flipV="false" rot="0">
              <a:off x="0" y="0"/>
              <a:ext cx="1905000" cy="533400"/>
            </a:xfrm>
            <a:custGeom>
              <a:avLst/>
              <a:gdLst/>
              <a:ahLst/>
              <a:cxnLst/>
              <a:rect r="r" b="b" t="t" l="l"/>
              <a:pathLst>
                <a:path h="533400" w="1905000">
                  <a:moveTo>
                    <a:pt x="0" y="266700"/>
                  </a:moveTo>
                  <a:cubicBezTo>
                    <a:pt x="0" y="119380"/>
                    <a:pt x="119380" y="0"/>
                    <a:pt x="266700" y="0"/>
                  </a:cubicBezTo>
                  <a:lnTo>
                    <a:pt x="1638300" y="0"/>
                  </a:lnTo>
                  <a:cubicBezTo>
                    <a:pt x="1785620" y="0"/>
                    <a:pt x="1905000" y="119380"/>
                    <a:pt x="1905000" y="266700"/>
                  </a:cubicBezTo>
                  <a:cubicBezTo>
                    <a:pt x="1905000" y="414020"/>
                    <a:pt x="1785620" y="533400"/>
                    <a:pt x="1638300" y="533400"/>
                  </a:cubicBezTo>
                  <a:lnTo>
                    <a:pt x="266700" y="533400"/>
                  </a:lnTo>
                  <a:cubicBezTo>
                    <a:pt x="119380" y="533400"/>
                    <a:pt x="0" y="414020"/>
                    <a:pt x="0" y="266700"/>
                  </a:cubicBezTo>
                  <a:close/>
                </a:path>
              </a:pathLst>
            </a:custGeom>
            <a:solidFill>
              <a:srgbClr val="2D180B"/>
            </a:solidFill>
            <a:ln cap="sq">
              <a:noFill/>
              <a:prstDash val="solid"/>
              <a:miter/>
            </a:ln>
          </p:spPr>
        </p:sp>
        <p:sp>
          <p:nvSpPr>
            <p:cNvPr name="TextBox 49" id="49"/>
            <p:cNvSpPr txBox="true"/>
            <p:nvPr/>
          </p:nvSpPr>
          <p:spPr>
            <a:xfrm>
              <a:off x="0" y="0"/>
              <a:ext cx="1905000" cy="533400"/>
            </a:xfrm>
            <a:prstGeom prst="rect">
              <a:avLst/>
            </a:prstGeom>
          </p:spPr>
          <p:txBody>
            <a:bodyPr anchor="ctr" rtlCol="false" tIns="50800" lIns="50800" bIns="50800" rIns="50800"/>
            <a:lstStyle/>
            <a:p>
              <a:pPr algn="ctr">
                <a:lnSpc>
                  <a:spcPts val="1755"/>
                </a:lnSpc>
              </a:pPr>
              <a:r>
                <a:rPr lang="en-US" sz="1462" b="true">
                  <a:solidFill>
                    <a:srgbClr val="FFF6E9"/>
                  </a:solidFill>
                  <a:latin typeface="Lato Bold"/>
                  <a:ea typeface="Lato Bold"/>
                  <a:cs typeface="Lato Bold"/>
                  <a:sym typeface="Lato Bold"/>
                </a:rPr>
                <a:t>THE LOOP</a:t>
              </a:r>
            </a:p>
          </p:txBody>
        </p:sp>
      </p:grpSp>
      <p:sp>
        <p:nvSpPr>
          <p:cNvPr name="TextBox 50" id="50"/>
          <p:cNvSpPr txBox="true"/>
          <p:nvPr/>
        </p:nvSpPr>
        <p:spPr>
          <a:xfrm rot="0">
            <a:off x="2628900" y="8763000"/>
            <a:ext cx="11430000" cy="295275"/>
          </a:xfrm>
          <a:prstGeom prst="rect">
            <a:avLst/>
          </a:prstGeom>
        </p:spPr>
        <p:txBody>
          <a:bodyPr anchor="t" rtlCol="false" tIns="0" lIns="0" bIns="0" rIns="0">
            <a:spAutoFit/>
          </a:bodyPr>
          <a:lstStyle/>
          <a:p>
            <a:pPr algn="l">
              <a:lnSpc>
                <a:spcPts val="2025"/>
              </a:lnSpc>
            </a:pPr>
            <a:r>
              <a:rPr lang="en-US" sz="1687">
                <a:solidFill>
                  <a:srgbClr val="895F3C"/>
                </a:solidFill>
                <a:latin typeface="Lato"/>
                <a:ea typeface="Lato"/>
                <a:cs typeface="Lato"/>
                <a:sym typeface="Lato"/>
              </a:rPr>
              <a:t>The product keeps the learner moving without taking the work away from them.</a:t>
            </a:r>
          </a:p>
        </p:txBody>
      </p:sp>
      <p:sp>
        <p:nvSpPr>
          <p:cNvPr name="TextBox 51" id="51"/>
          <p:cNvSpPr txBox="true"/>
          <p:nvPr/>
        </p:nvSpPr>
        <p:spPr>
          <a:xfrm rot="0">
            <a:off x="914400" y="9744075"/>
            <a:ext cx="13144500" cy="257175"/>
          </a:xfrm>
          <a:prstGeom prst="rect">
            <a:avLst/>
          </a:prstGeom>
        </p:spPr>
        <p:txBody>
          <a:bodyPr anchor="t" rtlCol="false" tIns="0" lIns="0" bIns="0" rIns="0">
            <a:spAutoFit/>
          </a:bodyPr>
          <a:lstStyle/>
          <a:p>
            <a:pPr algn="l">
              <a:lnSpc>
                <a:spcPts val="1485"/>
              </a:lnSpc>
            </a:pPr>
            <a:r>
              <a:rPr lang="en-US" sz="1237">
                <a:solidFill>
                  <a:srgbClr val="7D5C42"/>
                </a:solidFill>
                <a:latin typeface="Lato"/>
                <a:ea typeface="Lato"/>
                <a:cs typeface="Lato"/>
                <a:sym typeface="Lato"/>
              </a:rPr>
              <a:t>Editable diagram · product hypothesis to validate in pilot</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sp>
        <p:nvSpPr>
          <p:cNvPr name="TextBox 3" id="3"/>
          <p:cNvSpPr txBox="true"/>
          <p:nvPr/>
        </p:nvSpPr>
        <p:spPr>
          <a:xfrm rot="0">
            <a:off x="932688" y="464251"/>
            <a:ext cx="822960" cy="355848"/>
          </a:xfrm>
          <a:prstGeom prst="rect">
            <a:avLst/>
          </a:prstGeom>
        </p:spPr>
        <p:txBody>
          <a:bodyPr anchor="t" rtlCol="false" tIns="0" lIns="0" bIns="0" rIns="0">
            <a:spAutoFit/>
          </a:bodyPr>
          <a:lstStyle/>
          <a:p>
            <a:pPr algn="l">
              <a:lnSpc>
                <a:spcPts val="2771"/>
              </a:lnSpc>
            </a:pPr>
            <a:r>
              <a:rPr lang="en-US" sz="2519" b="true">
                <a:solidFill>
                  <a:srgbClr val="F27C00"/>
                </a:solidFill>
                <a:latin typeface="Roboto Bold"/>
                <a:ea typeface="Roboto Bold"/>
                <a:cs typeface="Roboto Bold"/>
                <a:sym typeface="Roboto Bold"/>
              </a:rPr>
              <a:t>bataa</a:t>
            </a:r>
          </a:p>
        </p:txBody>
      </p:sp>
      <p:sp>
        <p:nvSpPr>
          <p:cNvPr name="Freeform 4" id="4"/>
          <p:cNvSpPr/>
          <p:nvPr/>
        </p:nvSpPr>
        <p:spPr>
          <a:xfrm flipH="false" flipV="false" rot="0">
            <a:off x="866775" y="857250"/>
            <a:ext cx="16554450" cy="219075"/>
          </a:xfrm>
          <a:custGeom>
            <a:avLst/>
            <a:gdLst/>
            <a:ahLst/>
            <a:cxnLst/>
            <a:rect r="r" b="b" t="t" l="l"/>
            <a:pathLst>
              <a:path h="219075" w="16554450">
                <a:moveTo>
                  <a:pt x="0" y="0"/>
                </a:moveTo>
                <a:lnTo>
                  <a:pt x="16554450" y="0"/>
                </a:lnTo>
                <a:lnTo>
                  <a:pt x="16554450" y="219075"/>
                </a:lnTo>
                <a:lnTo>
                  <a:pt x="0" y="219075"/>
                </a:lnTo>
                <a:lnTo>
                  <a:pt x="0" y="0"/>
                </a:lnTo>
                <a:close/>
              </a:path>
            </a:pathLst>
          </a:custGeom>
          <a:blipFill>
            <a:blip r:embed="rId4"/>
            <a:stretch>
              <a:fillRect l="0" t="0" r="0" b="0"/>
            </a:stretch>
          </a:blipFill>
        </p:spPr>
      </p:sp>
      <p:sp>
        <p:nvSpPr>
          <p:cNvPr name="TextBox 5" id="5"/>
          <p:cNvSpPr txBox="true"/>
          <p:nvPr/>
        </p:nvSpPr>
        <p:spPr>
          <a:xfrm rot="0">
            <a:off x="866775" y="1919859"/>
            <a:ext cx="11907012" cy="542925"/>
          </a:xfrm>
          <a:prstGeom prst="rect">
            <a:avLst/>
          </a:prstGeom>
        </p:spPr>
        <p:txBody>
          <a:bodyPr anchor="t" rtlCol="false" tIns="0" lIns="0" bIns="0" rIns="0">
            <a:spAutoFit/>
          </a:bodyPr>
          <a:lstStyle/>
          <a:p>
            <a:pPr algn="l">
              <a:lnSpc>
                <a:spcPts val="4286"/>
              </a:lnSpc>
            </a:pPr>
            <a:r>
              <a:rPr lang="en-US" sz="3571" b="true">
                <a:solidFill>
                  <a:srgbClr val="FFFFFF"/>
                </a:solidFill>
                <a:latin typeface="Roboto Bold"/>
                <a:ea typeface="Roboto Bold"/>
                <a:cs typeface="Roboto Bold"/>
                <a:sym typeface="Roboto Bold"/>
              </a:rPr>
              <a:t>Bataa sits between content and the moment of action</a:t>
            </a:r>
          </a:p>
        </p:txBody>
      </p:sp>
      <p:sp>
        <p:nvSpPr>
          <p:cNvPr name="TextBox 6" id="6"/>
          <p:cNvSpPr txBox="true"/>
          <p:nvPr/>
        </p:nvSpPr>
        <p:spPr>
          <a:xfrm rot="0">
            <a:off x="932688" y="2567732"/>
            <a:ext cx="8503920" cy="361950"/>
          </a:xfrm>
          <a:prstGeom prst="rect">
            <a:avLst/>
          </a:prstGeom>
        </p:spPr>
        <p:txBody>
          <a:bodyPr anchor="t" rtlCol="false" tIns="0" lIns="0" bIns="0" rIns="0">
            <a:spAutoFit/>
          </a:bodyPr>
          <a:lstStyle/>
          <a:p>
            <a:pPr algn="l">
              <a:lnSpc>
                <a:spcPts val="2846"/>
              </a:lnSpc>
            </a:pPr>
            <a:r>
              <a:rPr lang="en-US" sz="2371">
                <a:solidFill>
                  <a:srgbClr val="FFFFFF"/>
                </a:solidFill>
                <a:latin typeface="Roboto"/>
                <a:ea typeface="Roboto"/>
                <a:cs typeface="Roboto"/>
                <a:sym typeface="Roboto"/>
              </a:rPr>
              <a:t>A positioning hypothesis, not a claim that competitors lack AI.</a:t>
            </a:r>
          </a:p>
        </p:txBody>
      </p:sp>
      <p:sp>
        <p:nvSpPr>
          <p:cNvPr name="TextBox 7" id="7"/>
          <p:cNvSpPr txBox="true"/>
          <p:nvPr/>
        </p:nvSpPr>
        <p:spPr>
          <a:xfrm rot="0">
            <a:off x="1499616" y="3398383"/>
            <a:ext cx="2139696" cy="229255"/>
          </a:xfrm>
          <a:prstGeom prst="rect">
            <a:avLst/>
          </a:prstGeom>
        </p:spPr>
        <p:txBody>
          <a:bodyPr anchor="t" rtlCol="false" tIns="0" lIns="0" bIns="0" rIns="0">
            <a:spAutoFit/>
          </a:bodyPr>
          <a:lstStyle/>
          <a:p>
            <a:pPr algn="l">
              <a:lnSpc>
                <a:spcPts val="1706"/>
              </a:lnSpc>
            </a:pPr>
            <a:r>
              <a:rPr lang="en-US" sz="1551" b="true">
                <a:solidFill>
                  <a:srgbClr val="FFFFFF"/>
                </a:solidFill>
                <a:latin typeface="Roboto Bold"/>
                <a:ea typeface="Roboto Bold"/>
                <a:cs typeface="Roboto Bold"/>
                <a:sym typeface="Roboto Bold"/>
              </a:rPr>
              <a:t>GUIDANCE IN CONTEXT</a:t>
            </a:r>
          </a:p>
        </p:txBody>
      </p:sp>
      <p:sp>
        <p:nvSpPr>
          <p:cNvPr name="TextBox 8" id="8"/>
          <p:cNvSpPr txBox="true"/>
          <p:nvPr/>
        </p:nvSpPr>
        <p:spPr>
          <a:xfrm rot="0">
            <a:off x="1494663" y="7824877"/>
            <a:ext cx="896112" cy="418921"/>
          </a:xfrm>
          <a:prstGeom prst="rect">
            <a:avLst/>
          </a:prstGeom>
        </p:spPr>
        <p:txBody>
          <a:bodyPr anchor="t" rtlCol="false" tIns="0" lIns="0" bIns="0" rIns="0">
            <a:spAutoFit/>
          </a:bodyPr>
          <a:lstStyle/>
          <a:p>
            <a:pPr algn="ctr">
              <a:lnSpc>
                <a:spcPts val="1634"/>
              </a:lnSpc>
            </a:pPr>
            <a:r>
              <a:rPr lang="en-US" b="true" sz="1485">
                <a:solidFill>
                  <a:srgbClr val="FFFFFF"/>
                </a:solidFill>
                <a:latin typeface="Roboto Bold"/>
                <a:ea typeface="Roboto Bold"/>
                <a:cs typeface="Roboto Bold"/>
                <a:sym typeface="Roboto Bold"/>
              </a:rPr>
              <a:t>DAILY PRACTICE</a:t>
            </a:r>
          </a:p>
        </p:txBody>
      </p:sp>
      <p:sp>
        <p:nvSpPr>
          <p:cNvPr name="Freeform 9" id="9"/>
          <p:cNvSpPr/>
          <p:nvPr/>
        </p:nvSpPr>
        <p:spPr>
          <a:xfrm flipH="false" flipV="false" rot="0">
            <a:off x="2390775" y="3638550"/>
            <a:ext cx="228600" cy="4505325"/>
          </a:xfrm>
          <a:custGeom>
            <a:avLst/>
            <a:gdLst/>
            <a:ahLst/>
            <a:cxnLst/>
            <a:rect r="r" b="b" t="t" l="l"/>
            <a:pathLst>
              <a:path h="4505325" w="228600">
                <a:moveTo>
                  <a:pt x="0" y="0"/>
                </a:moveTo>
                <a:lnTo>
                  <a:pt x="228600" y="0"/>
                </a:lnTo>
                <a:lnTo>
                  <a:pt x="228600" y="4505325"/>
                </a:lnTo>
                <a:lnTo>
                  <a:pt x="0" y="4505325"/>
                </a:lnTo>
                <a:lnTo>
                  <a:pt x="0" y="0"/>
                </a:lnTo>
                <a:close/>
              </a:path>
            </a:pathLst>
          </a:custGeom>
          <a:blipFill>
            <a:blip r:embed="rId5"/>
            <a:stretch>
              <a:fillRect l="0" t="0" r="0" b="0"/>
            </a:stretch>
          </a:blipFill>
        </p:spPr>
      </p:sp>
      <p:sp>
        <p:nvSpPr>
          <p:cNvPr name="Freeform 10" id="10"/>
          <p:cNvSpPr/>
          <p:nvPr/>
        </p:nvSpPr>
        <p:spPr>
          <a:xfrm flipH="false" flipV="false" rot="0">
            <a:off x="2390775" y="7924800"/>
            <a:ext cx="13506450" cy="219075"/>
          </a:xfrm>
          <a:custGeom>
            <a:avLst/>
            <a:gdLst/>
            <a:ahLst/>
            <a:cxnLst/>
            <a:rect r="r" b="b" t="t" l="l"/>
            <a:pathLst>
              <a:path h="219075" w="13506450">
                <a:moveTo>
                  <a:pt x="0" y="0"/>
                </a:moveTo>
                <a:lnTo>
                  <a:pt x="13506450" y="0"/>
                </a:lnTo>
                <a:lnTo>
                  <a:pt x="13506450" y="219075"/>
                </a:lnTo>
                <a:lnTo>
                  <a:pt x="0" y="219075"/>
                </a:lnTo>
                <a:lnTo>
                  <a:pt x="0" y="0"/>
                </a:lnTo>
                <a:close/>
              </a:path>
            </a:pathLst>
          </a:custGeom>
          <a:blipFill>
            <a:blip r:embed="rId6"/>
            <a:stretch>
              <a:fillRect l="0" t="0" r="0" b="0"/>
            </a:stretch>
          </a:blipFill>
        </p:spPr>
      </p:sp>
      <p:sp>
        <p:nvSpPr>
          <p:cNvPr name="TextBox 11" id="11"/>
          <p:cNvSpPr txBox="true"/>
          <p:nvPr/>
        </p:nvSpPr>
        <p:spPr>
          <a:xfrm rot="0">
            <a:off x="16391689" y="8014543"/>
            <a:ext cx="420624" cy="229255"/>
          </a:xfrm>
          <a:prstGeom prst="rect">
            <a:avLst/>
          </a:prstGeom>
        </p:spPr>
        <p:txBody>
          <a:bodyPr anchor="t" rtlCol="false" tIns="0" lIns="0" bIns="0" rIns="0">
            <a:spAutoFit/>
          </a:bodyPr>
          <a:lstStyle/>
          <a:p>
            <a:pPr algn="ctr">
              <a:lnSpc>
                <a:spcPts val="1706"/>
              </a:lnSpc>
            </a:pPr>
            <a:r>
              <a:rPr lang="en-US" b="true" sz="1551">
                <a:solidFill>
                  <a:srgbClr val="FFFFFF"/>
                </a:solidFill>
                <a:latin typeface="Roboto Bold"/>
                <a:ea typeface="Roboto Bold"/>
                <a:cs typeface="Roboto Bold"/>
                <a:sym typeface="Roboto Bold"/>
              </a:rPr>
              <a:t>LOW</a:t>
            </a:r>
          </a:p>
        </p:txBody>
      </p:sp>
      <p:sp>
        <p:nvSpPr>
          <p:cNvPr name="TextBox 12" id="12"/>
          <p:cNvSpPr txBox="true"/>
          <p:nvPr/>
        </p:nvSpPr>
        <p:spPr>
          <a:xfrm rot="0">
            <a:off x="16336825" y="4056995"/>
            <a:ext cx="475488" cy="229255"/>
          </a:xfrm>
          <a:prstGeom prst="rect">
            <a:avLst/>
          </a:prstGeom>
        </p:spPr>
        <p:txBody>
          <a:bodyPr anchor="t" rtlCol="false" tIns="0" lIns="0" bIns="0" rIns="0">
            <a:spAutoFit/>
          </a:bodyPr>
          <a:lstStyle/>
          <a:p>
            <a:pPr algn="ctr">
              <a:lnSpc>
                <a:spcPts val="1706"/>
              </a:lnSpc>
            </a:pPr>
            <a:r>
              <a:rPr lang="en-US" b="true" sz="1551">
                <a:solidFill>
                  <a:srgbClr val="FFFFFF"/>
                </a:solidFill>
                <a:latin typeface="Roboto Bold"/>
                <a:ea typeface="Roboto Bold"/>
                <a:cs typeface="Roboto Bold"/>
                <a:sym typeface="Roboto Bold"/>
              </a:rPr>
              <a:t>HIGH</a:t>
            </a:r>
          </a:p>
        </p:txBody>
      </p:sp>
      <p:sp>
        <p:nvSpPr>
          <p:cNvPr name="Freeform 13" id="13"/>
          <p:cNvSpPr/>
          <p:nvPr/>
        </p:nvSpPr>
        <p:spPr>
          <a:xfrm flipH="false" flipV="false" rot="0">
            <a:off x="4352925" y="6638925"/>
            <a:ext cx="657225" cy="866775"/>
          </a:xfrm>
          <a:custGeom>
            <a:avLst/>
            <a:gdLst/>
            <a:ahLst/>
            <a:cxnLst/>
            <a:rect r="r" b="b" t="t" l="l"/>
            <a:pathLst>
              <a:path h="866775" w="657225">
                <a:moveTo>
                  <a:pt x="0" y="0"/>
                </a:moveTo>
                <a:lnTo>
                  <a:pt x="657225" y="0"/>
                </a:lnTo>
                <a:lnTo>
                  <a:pt x="657225" y="866775"/>
                </a:lnTo>
                <a:lnTo>
                  <a:pt x="0" y="866775"/>
                </a:lnTo>
                <a:lnTo>
                  <a:pt x="0" y="0"/>
                </a:lnTo>
                <a:close/>
              </a:path>
            </a:pathLst>
          </a:custGeom>
          <a:blipFill>
            <a:blip r:embed="rId7"/>
            <a:stretch>
              <a:fillRect l="0" t="0" r="0" b="0"/>
            </a:stretch>
          </a:blipFill>
        </p:spPr>
      </p:sp>
      <p:sp>
        <p:nvSpPr>
          <p:cNvPr name="TextBox 14" id="14"/>
          <p:cNvSpPr txBox="true"/>
          <p:nvPr/>
        </p:nvSpPr>
        <p:spPr>
          <a:xfrm rot="0">
            <a:off x="4041648" y="7472035"/>
            <a:ext cx="1335024" cy="229255"/>
          </a:xfrm>
          <a:prstGeom prst="rect">
            <a:avLst/>
          </a:prstGeom>
        </p:spPr>
        <p:txBody>
          <a:bodyPr anchor="t" rtlCol="false" tIns="0" lIns="0" bIns="0" rIns="0">
            <a:spAutoFit/>
          </a:bodyPr>
          <a:lstStyle/>
          <a:p>
            <a:pPr algn="ctr">
              <a:lnSpc>
                <a:spcPts val="1706"/>
              </a:lnSpc>
            </a:pPr>
            <a:r>
              <a:rPr lang="en-US" sz="1551">
                <a:solidFill>
                  <a:srgbClr val="FFFFFF"/>
                </a:solidFill>
                <a:latin typeface="Roboto"/>
                <a:ea typeface="Roboto"/>
                <a:cs typeface="Roboto"/>
                <a:sym typeface="Roboto"/>
              </a:rPr>
              <a:t>Khan Academy</a:t>
            </a:r>
          </a:p>
        </p:txBody>
      </p:sp>
      <p:sp>
        <p:nvSpPr>
          <p:cNvPr name="Freeform 15" id="15"/>
          <p:cNvSpPr/>
          <p:nvPr/>
        </p:nvSpPr>
        <p:spPr>
          <a:xfrm flipH="false" flipV="false" rot="0">
            <a:off x="5876925" y="5572125"/>
            <a:ext cx="657225" cy="857250"/>
          </a:xfrm>
          <a:custGeom>
            <a:avLst/>
            <a:gdLst/>
            <a:ahLst/>
            <a:cxnLst/>
            <a:rect r="r" b="b" t="t" l="l"/>
            <a:pathLst>
              <a:path h="857250" w="657225">
                <a:moveTo>
                  <a:pt x="0" y="0"/>
                </a:moveTo>
                <a:lnTo>
                  <a:pt x="657225" y="0"/>
                </a:lnTo>
                <a:lnTo>
                  <a:pt x="657225" y="857250"/>
                </a:lnTo>
                <a:lnTo>
                  <a:pt x="0" y="857250"/>
                </a:lnTo>
                <a:lnTo>
                  <a:pt x="0" y="0"/>
                </a:lnTo>
                <a:close/>
              </a:path>
            </a:pathLst>
          </a:custGeom>
          <a:blipFill>
            <a:blip r:embed="rId8"/>
            <a:stretch>
              <a:fillRect l="0" t="0" r="0" b="0"/>
            </a:stretch>
          </a:blipFill>
        </p:spPr>
      </p:sp>
      <p:sp>
        <p:nvSpPr>
          <p:cNvPr name="TextBox 16" id="16"/>
          <p:cNvSpPr txBox="true"/>
          <p:nvPr/>
        </p:nvSpPr>
        <p:spPr>
          <a:xfrm rot="0">
            <a:off x="5907024" y="6499949"/>
            <a:ext cx="621792" cy="218896"/>
          </a:xfrm>
          <a:prstGeom prst="rect">
            <a:avLst/>
          </a:prstGeom>
        </p:spPr>
        <p:txBody>
          <a:bodyPr anchor="t" rtlCol="false" tIns="0" lIns="0" bIns="0" rIns="0">
            <a:spAutoFit/>
          </a:bodyPr>
          <a:lstStyle/>
          <a:p>
            <a:pPr algn="ctr">
              <a:lnSpc>
                <a:spcPts val="1634"/>
              </a:lnSpc>
            </a:pPr>
            <a:r>
              <a:rPr lang="en-US" sz="1485">
                <a:solidFill>
                  <a:srgbClr val="FFFFFF"/>
                </a:solidFill>
                <a:latin typeface="Roboto"/>
                <a:ea typeface="Roboto"/>
                <a:cs typeface="Roboto"/>
                <a:sym typeface="Roboto"/>
              </a:rPr>
              <a:t>iSchool</a:t>
            </a:r>
          </a:p>
        </p:txBody>
      </p:sp>
      <p:sp>
        <p:nvSpPr>
          <p:cNvPr name="Freeform 17" id="17"/>
          <p:cNvSpPr/>
          <p:nvPr/>
        </p:nvSpPr>
        <p:spPr>
          <a:xfrm flipH="false" flipV="false" rot="0">
            <a:off x="7400925" y="6210300"/>
            <a:ext cx="876300" cy="866775"/>
          </a:xfrm>
          <a:custGeom>
            <a:avLst/>
            <a:gdLst/>
            <a:ahLst/>
            <a:cxnLst/>
            <a:rect r="r" b="b" t="t" l="l"/>
            <a:pathLst>
              <a:path h="866775" w="876300">
                <a:moveTo>
                  <a:pt x="0" y="0"/>
                </a:moveTo>
                <a:lnTo>
                  <a:pt x="876300" y="0"/>
                </a:lnTo>
                <a:lnTo>
                  <a:pt x="876300" y="866775"/>
                </a:lnTo>
                <a:lnTo>
                  <a:pt x="0" y="866775"/>
                </a:lnTo>
                <a:lnTo>
                  <a:pt x="0" y="0"/>
                </a:lnTo>
                <a:close/>
              </a:path>
            </a:pathLst>
          </a:custGeom>
          <a:blipFill>
            <a:blip r:embed="rId9"/>
            <a:stretch>
              <a:fillRect l="0" t="0" r="0" b="0"/>
            </a:stretch>
          </a:blipFill>
        </p:spPr>
      </p:sp>
      <p:sp>
        <p:nvSpPr>
          <p:cNvPr name="Freeform 18" id="18"/>
          <p:cNvSpPr/>
          <p:nvPr/>
        </p:nvSpPr>
        <p:spPr>
          <a:xfrm flipH="false" flipV="false" rot="0">
            <a:off x="12839700" y="4067175"/>
            <a:ext cx="876300" cy="866775"/>
          </a:xfrm>
          <a:custGeom>
            <a:avLst/>
            <a:gdLst/>
            <a:ahLst/>
            <a:cxnLst/>
            <a:rect r="r" b="b" t="t" l="l"/>
            <a:pathLst>
              <a:path h="866775" w="876300">
                <a:moveTo>
                  <a:pt x="0" y="0"/>
                </a:moveTo>
                <a:lnTo>
                  <a:pt x="876300" y="0"/>
                </a:lnTo>
                <a:lnTo>
                  <a:pt x="876300" y="866775"/>
                </a:lnTo>
                <a:lnTo>
                  <a:pt x="0" y="866775"/>
                </a:lnTo>
                <a:lnTo>
                  <a:pt x="0" y="0"/>
                </a:lnTo>
                <a:close/>
              </a:path>
            </a:pathLst>
          </a:custGeom>
          <a:blipFill>
            <a:blip r:embed="rId10"/>
            <a:stretch>
              <a:fillRect l="0" t="0" r="0" b="0"/>
            </a:stretch>
          </a:blipFill>
        </p:spPr>
      </p:sp>
      <p:sp>
        <p:nvSpPr>
          <p:cNvPr name="Freeform 19" id="19"/>
          <p:cNvSpPr/>
          <p:nvPr/>
        </p:nvSpPr>
        <p:spPr>
          <a:xfrm flipH="false" flipV="false" rot="0">
            <a:off x="12620625" y="1495425"/>
            <a:ext cx="5238750" cy="2152650"/>
          </a:xfrm>
          <a:custGeom>
            <a:avLst/>
            <a:gdLst/>
            <a:ahLst/>
            <a:cxnLst/>
            <a:rect r="r" b="b" t="t" l="l"/>
            <a:pathLst>
              <a:path h="2152650" w="5238750">
                <a:moveTo>
                  <a:pt x="0" y="0"/>
                </a:moveTo>
                <a:lnTo>
                  <a:pt x="5238750" y="0"/>
                </a:lnTo>
                <a:lnTo>
                  <a:pt x="5238750" y="2152650"/>
                </a:lnTo>
                <a:lnTo>
                  <a:pt x="0" y="2152650"/>
                </a:lnTo>
                <a:lnTo>
                  <a:pt x="0" y="0"/>
                </a:lnTo>
                <a:close/>
              </a:path>
            </a:pathLst>
          </a:custGeom>
          <a:blipFill>
            <a:blip r:embed="rId11"/>
            <a:stretch>
              <a:fillRect l="0" t="0" r="0" b="0"/>
            </a:stretch>
          </a:blipFill>
        </p:spPr>
      </p:sp>
      <p:sp>
        <p:nvSpPr>
          <p:cNvPr name="TextBox 20" id="20"/>
          <p:cNvSpPr txBox="true"/>
          <p:nvPr/>
        </p:nvSpPr>
        <p:spPr>
          <a:xfrm rot="0">
            <a:off x="13277088" y="2267903"/>
            <a:ext cx="4224528" cy="628233"/>
          </a:xfrm>
          <a:prstGeom prst="rect">
            <a:avLst/>
          </a:prstGeom>
        </p:spPr>
        <p:txBody>
          <a:bodyPr anchor="t" rtlCol="false" tIns="0" lIns="0" bIns="0" rIns="0">
            <a:spAutoFit/>
          </a:bodyPr>
          <a:lstStyle/>
          <a:p>
            <a:pPr algn="ctr">
              <a:lnSpc>
                <a:spcPts val="2438"/>
              </a:lnSpc>
            </a:pPr>
            <a:r>
              <a:rPr lang="en-US" sz="2217" b="true">
                <a:solidFill>
                  <a:srgbClr val="FFFFFF"/>
                </a:solidFill>
                <a:latin typeface="Roboto Bold"/>
                <a:ea typeface="Roboto Bold"/>
                <a:cs typeface="Roboto Bold"/>
                <a:sym typeface="Roboto Bold"/>
              </a:rPr>
              <a:t>Bataa combines daily practice with help inside the work.</a:t>
            </a:r>
          </a:p>
        </p:txBody>
      </p:sp>
      <p:sp>
        <p:nvSpPr>
          <p:cNvPr name="TextBox 21" id="21"/>
          <p:cNvSpPr txBox="true"/>
          <p:nvPr/>
        </p:nvSpPr>
        <p:spPr>
          <a:xfrm rot="0">
            <a:off x="17135856" y="501795"/>
            <a:ext cx="237744" cy="230088"/>
          </a:xfrm>
          <a:prstGeom prst="rect">
            <a:avLst/>
          </a:prstGeom>
        </p:spPr>
        <p:txBody>
          <a:bodyPr anchor="t" rtlCol="false" tIns="0" lIns="0" bIns="0" rIns="0">
            <a:spAutoFit/>
          </a:bodyPr>
          <a:lstStyle/>
          <a:p>
            <a:pPr algn="r">
              <a:lnSpc>
                <a:spcPts val="1778"/>
              </a:lnSpc>
            </a:pPr>
            <a:r>
              <a:rPr lang="en-US" b="true" sz="1617">
                <a:solidFill>
                  <a:srgbClr val="FFFFFF"/>
                </a:solidFill>
                <a:latin typeface="Roboto Bold"/>
                <a:ea typeface="Roboto Bold"/>
                <a:cs typeface="Roboto Bold"/>
                <a:sym typeface="Roboto Bold"/>
              </a:rPr>
              <a:t>10</a:t>
            </a:r>
          </a:p>
        </p:txBody>
      </p:sp>
      <p:sp>
        <p:nvSpPr>
          <p:cNvPr name="TextBox 22" id="22"/>
          <p:cNvSpPr txBox="true"/>
          <p:nvPr/>
        </p:nvSpPr>
        <p:spPr>
          <a:xfrm rot="0">
            <a:off x="3163824" y="508016"/>
            <a:ext cx="1115568" cy="208121"/>
          </a:xfrm>
          <a:prstGeom prst="rect">
            <a:avLst/>
          </a:prstGeom>
        </p:spPr>
        <p:txBody>
          <a:bodyPr anchor="t" rtlCol="false" tIns="0" lIns="0" bIns="0" rIns="0">
            <a:spAutoFit/>
          </a:bodyPr>
          <a:lstStyle/>
          <a:p>
            <a:pPr algn="l">
              <a:lnSpc>
                <a:spcPts val="1526"/>
              </a:lnSpc>
            </a:pPr>
            <a:r>
              <a:rPr lang="en-US" sz="1387" b="true">
                <a:solidFill>
                  <a:srgbClr val="FFFFFF"/>
                </a:solidFill>
                <a:latin typeface="Roboto Bold"/>
                <a:ea typeface="Roboto Bold"/>
                <a:cs typeface="Roboto Bold"/>
                <a:sym typeface="Roboto Bold"/>
              </a:rPr>
              <a:t>POSITIONING</a:t>
            </a:r>
          </a:p>
        </p:txBody>
      </p:sp>
      <p:sp>
        <p:nvSpPr>
          <p:cNvPr name="TextBox 23" id="23"/>
          <p:cNvSpPr txBox="true"/>
          <p:nvPr/>
        </p:nvSpPr>
        <p:spPr>
          <a:xfrm rot="0">
            <a:off x="7095744" y="7194286"/>
            <a:ext cx="1517904" cy="229255"/>
          </a:xfrm>
          <a:prstGeom prst="rect">
            <a:avLst/>
          </a:prstGeom>
        </p:spPr>
        <p:txBody>
          <a:bodyPr anchor="t" rtlCol="false" tIns="0" lIns="0" bIns="0" rIns="0">
            <a:spAutoFit/>
          </a:bodyPr>
          <a:lstStyle/>
          <a:p>
            <a:pPr algn="ctr">
              <a:lnSpc>
                <a:spcPts val="1706"/>
              </a:lnSpc>
            </a:pPr>
            <a:r>
              <a:rPr lang="en-US" sz="1551">
                <a:solidFill>
                  <a:srgbClr val="FFFFFF"/>
                </a:solidFill>
                <a:latin typeface="Roboto"/>
                <a:ea typeface="Roboto"/>
                <a:cs typeface="Roboto"/>
                <a:sym typeface="Roboto"/>
              </a:rPr>
              <a:t>Yanfaa / Nafham</a:t>
            </a:r>
          </a:p>
        </p:txBody>
      </p:sp>
      <p:sp>
        <p:nvSpPr>
          <p:cNvPr name="TextBox 24" id="24"/>
          <p:cNvSpPr txBox="true"/>
          <p:nvPr/>
        </p:nvSpPr>
        <p:spPr>
          <a:xfrm rot="0">
            <a:off x="13021056" y="4972294"/>
            <a:ext cx="512064" cy="229255"/>
          </a:xfrm>
          <a:prstGeom prst="rect">
            <a:avLst/>
          </a:prstGeom>
        </p:spPr>
        <p:txBody>
          <a:bodyPr anchor="t" rtlCol="false" tIns="0" lIns="0" bIns="0" rIns="0">
            <a:spAutoFit/>
          </a:bodyPr>
          <a:lstStyle/>
          <a:p>
            <a:pPr algn="ctr">
              <a:lnSpc>
                <a:spcPts val="1706"/>
              </a:lnSpc>
            </a:pPr>
            <a:r>
              <a:rPr lang="en-US" sz="1551">
                <a:solidFill>
                  <a:srgbClr val="FFFFFF"/>
                </a:solidFill>
                <a:latin typeface="Roboto"/>
                <a:ea typeface="Roboto"/>
                <a:cs typeface="Roboto"/>
                <a:sym typeface="Roboto"/>
              </a:rPr>
              <a:t>Bataa</a:t>
            </a:r>
          </a:p>
        </p:txBody>
      </p:sp>
      <p:sp>
        <p:nvSpPr>
          <p:cNvPr name="Freeform 25" id="25"/>
          <p:cNvSpPr/>
          <p:nvPr/>
        </p:nvSpPr>
        <p:spPr>
          <a:xfrm flipH="false" flipV="false" rot="0">
            <a:off x="2505075" y="6833146"/>
            <a:ext cx="13506450" cy="219075"/>
          </a:xfrm>
          <a:custGeom>
            <a:avLst/>
            <a:gdLst/>
            <a:ahLst/>
            <a:cxnLst/>
            <a:rect r="r" b="b" t="t" l="l"/>
            <a:pathLst>
              <a:path h="219075" w="13506450">
                <a:moveTo>
                  <a:pt x="0" y="0"/>
                </a:moveTo>
                <a:lnTo>
                  <a:pt x="13506450" y="0"/>
                </a:lnTo>
                <a:lnTo>
                  <a:pt x="13506450" y="219075"/>
                </a:lnTo>
                <a:lnTo>
                  <a:pt x="0" y="219075"/>
                </a:lnTo>
                <a:lnTo>
                  <a:pt x="0" y="0"/>
                </a:lnTo>
                <a:close/>
              </a:path>
            </a:pathLst>
          </a:custGeom>
          <a:blipFill>
            <a:blip r:embed="rId6"/>
            <a:stretch>
              <a:fillRect l="0" t="0" r="0" b="0"/>
            </a:stretch>
          </a:blipFill>
        </p:spPr>
      </p:sp>
      <p:sp>
        <p:nvSpPr>
          <p:cNvPr name="Freeform 26" id="26"/>
          <p:cNvSpPr/>
          <p:nvPr/>
        </p:nvSpPr>
        <p:spPr>
          <a:xfrm flipH="false" flipV="false" rot="0">
            <a:off x="2505075" y="5849249"/>
            <a:ext cx="13506450" cy="219075"/>
          </a:xfrm>
          <a:custGeom>
            <a:avLst/>
            <a:gdLst/>
            <a:ahLst/>
            <a:cxnLst/>
            <a:rect r="r" b="b" t="t" l="l"/>
            <a:pathLst>
              <a:path h="219075" w="13506450">
                <a:moveTo>
                  <a:pt x="0" y="0"/>
                </a:moveTo>
                <a:lnTo>
                  <a:pt x="13506450" y="0"/>
                </a:lnTo>
                <a:lnTo>
                  <a:pt x="13506450" y="219075"/>
                </a:lnTo>
                <a:lnTo>
                  <a:pt x="0" y="219075"/>
                </a:lnTo>
                <a:lnTo>
                  <a:pt x="0" y="0"/>
                </a:lnTo>
                <a:close/>
              </a:path>
            </a:pathLst>
          </a:custGeom>
          <a:blipFill>
            <a:blip r:embed="rId6"/>
            <a:stretch>
              <a:fillRect l="0" t="0" r="0" b="0"/>
            </a:stretch>
          </a:blipFill>
        </p:spPr>
      </p:sp>
      <p:sp>
        <p:nvSpPr>
          <p:cNvPr name="Freeform 27" id="27"/>
          <p:cNvSpPr/>
          <p:nvPr/>
        </p:nvSpPr>
        <p:spPr>
          <a:xfrm flipH="false" flipV="false" rot="0">
            <a:off x="2569464" y="4933950"/>
            <a:ext cx="13506450" cy="219075"/>
          </a:xfrm>
          <a:custGeom>
            <a:avLst/>
            <a:gdLst/>
            <a:ahLst/>
            <a:cxnLst/>
            <a:rect r="r" b="b" t="t" l="l"/>
            <a:pathLst>
              <a:path h="219075" w="13506450">
                <a:moveTo>
                  <a:pt x="0" y="0"/>
                </a:moveTo>
                <a:lnTo>
                  <a:pt x="13506450" y="0"/>
                </a:lnTo>
                <a:lnTo>
                  <a:pt x="13506450" y="219075"/>
                </a:lnTo>
                <a:lnTo>
                  <a:pt x="0" y="219075"/>
                </a:lnTo>
                <a:lnTo>
                  <a:pt x="0" y="0"/>
                </a:lnTo>
                <a:close/>
              </a:path>
            </a:pathLst>
          </a:custGeom>
          <a:blipFill>
            <a:blip r:embed="rId6"/>
            <a:stretch>
              <a:fillRect l="0" t="0" r="0" b="0"/>
            </a:stretch>
          </a:blipFill>
        </p:spPr>
      </p:sp>
      <p:sp>
        <p:nvSpPr>
          <p:cNvPr name="Freeform 28" id="28"/>
          <p:cNvSpPr/>
          <p:nvPr/>
        </p:nvSpPr>
        <p:spPr>
          <a:xfrm flipH="false" flipV="false" rot="0">
            <a:off x="2569464" y="4067175"/>
            <a:ext cx="13506450" cy="219075"/>
          </a:xfrm>
          <a:custGeom>
            <a:avLst/>
            <a:gdLst/>
            <a:ahLst/>
            <a:cxnLst/>
            <a:rect r="r" b="b" t="t" l="l"/>
            <a:pathLst>
              <a:path h="219075" w="13506450">
                <a:moveTo>
                  <a:pt x="0" y="0"/>
                </a:moveTo>
                <a:lnTo>
                  <a:pt x="13506450" y="0"/>
                </a:lnTo>
                <a:lnTo>
                  <a:pt x="13506450" y="219075"/>
                </a:lnTo>
                <a:lnTo>
                  <a:pt x="0" y="219075"/>
                </a:lnTo>
                <a:lnTo>
                  <a:pt x="0" y="0"/>
                </a:lnTo>
                <a:close/>
              </a:path>
            </a:pathLst>
          </a:custGeom>
          <a:blipFill>
            <a:blip r:embed="rId6"/>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p:cSld>
    <p:bg>
      <p:bgPr>
        <a:solidFill>
          <a:srgbClr val="FFF6E9"/>
        </a:solidFill>
      </p:bgPr>
    </p:bg>
    <p:spTree>
      <p:nvGrpSpPr>
        <p:cNvPr id="1" name=""/>
        <p:cNvGrpSpPr/>
        <p:nvPr/>
      </p:nvGrpSpPr>
      <p:grpSpPr>
        <a:xfrm>
          <a:off x="0" y="0"/>
          <a:ext cx="0" cy="0"/>
          <a:chOff x="0" y="0"/>
          <a:chExt cx="0" cy="0"/>
        </a:xfrm>
      </p:grpSpPr>
      <p:sp>
        <p:nvSpPr>
          <p:cNvPr name="TextBox 2" id="2"/>
          <p:cNvSpPr txBox="true"/>
          <p:nvPr/>
        </p:nvSpPr>
        <p:spPr>
          <a:xfrm rot="0">
            <a:off x="914400" y="390525"/>
            <a:ext cx="1857375" cy="466725"/>
          </a:xfrm>
          <a:prstGeom prst="rect">
            <a:avLst/>
          </a:prstGeom>
        </p:spPr>
        <p:txBody>
          <a:bodyPr anchor="t" rtlCol="false" tIns="0" lIns="0" bIns="0" rIns="0">
            <a:spAutoFit/>
          </a:bodyPr>
          <a:lstStyle/>
          <a:p>
            <a:pPr algn="l">
              <a:lnSpc>
                <a:spcPts val="3104"/>
              </a:lnSpc>
            </a:pPr>
            <a:r>
              <a:rPr lang="en-US" sz="2587" b="true">
                <a:solidFill>
                  <a:srgbClr val="FF8500"/>
                </a:solidFill>
                <a:latin typeface="Lato Bold"/>
                <a:ea typeface="Lato Bold"/>
                <a:cs typeface="Lato Bold"/>
                <a:sym typeface="Lato Bold"/>
              </a:rPr>
              <a:t>bataa</a:t>
            </a:r>
          </a:p>
        </p:txBody>
      </p:sp>
      <p:sp>
        <p:nvSpPr>
          <p:cNvPr name="TextBox 3" id="3"/>
          <p:cNvSpPr txBox="true"/>
          <p:nvPr/>
        </p:nvSpPr>
        <p:spPr>
          <a:xfrm rot="0">
            <a:off x="3171825" y="461963"/>
            <a:ext cx="6000750" cy="323850"/>
          </a:xfrm>
          <a:prstGeom prst="rect">
            <a:avLst/>
          </a:prstGeom>
        </p:spPr>
        <p:txBody>
          <a:bodyPr anchor="t" rtlCol="false" tIns="0" lIns="0" bIns="0" rIns="0">
            <a:spAutoFit/>
          </a:bodyPr>
          <a:lstStyle/>
          <a:p>
            <a:pPr algn="l">
              <a:lnSpc>
                <a:spcPts val="1620"/>
              </a:lnSpc>
            </a:pPr>
            <a:r>
              <a:rPr lang="en-US" sz="1350" b="true">
                <a:solidFill>
                  <a:srgbClr val="895F3C"/>
                </a:solidFill>
                <a:latin typeface="Lato Bold"/>
                <a:ea typeface="Lato Bold"/>
                <a:cs typeface="Lato Bold"/>
                <a:sym typeface="Lato Bold"/>
              </a:rPr>
              <a:t>BUSINESS MODEL</a:t>
            </a:r>
          </a:p>
        </p:txBody>
      </p:sp>
      <p:sp>
        <p:nvSpPr>
          <p:cNvPr name="TextBox 4" id="4"/>
          <p:cNvSpPr txBox="true"/>
          <p:nvPr/>
        </p:nvSpPr>
        <p:spPr>
          <a:xfrm rot="0">
            <a:off x="16859250" y="442912"/>
            <a:ext cx="514350" cy="238125"/>
          </a:xfrm>
          <a:prstGeom prst="rect">
            <a:avLst/>
          </a:prstGeom>
        </p:spPr>
        <p:txBody>
          <a:bodyPr anchor="t" rtlCol="false" tIns="0" lIns="0" bIns="0" rIns="0">
            <a:spAutoFit/>
          </a:bodyPr>
          <a:lstStyle/>
          <a:p>
            <a:pPr algn="r">
              <a:lnSpc>
                <a:spcPts val="1889"/>
              </a:lnSpc>
            </a:pPr>
            <a:r>
              <a:rPr lang="en-US" sz="1575" b="true">
                <a:solidFill>
                  <a:srgbClr val="2D180B"/>
                </a:solidFill>
                <a:latin typeface="Lato Bold"/>
                <a:ea typeface="Lato Bold"/>
                <a:cs typeface="Lato Bold"/>
                <a:sym typeface="Lato Bold"/>
              </a:rPr>
              <a:t>11</a:t>
            </a:r>
          </a:p>
        </p:txBody>
      </p:sp>
      <p:sp>
        <p:nvSpPr>
          <p:cNvPr name="AutoShape 5" id="5"/>
          <p:cNvSpPr/>
          <p:nvPr/>
        </p:nvSpPr>
        <p:spPr>
          <a:xfrm rot="3000">
            <a:off x="907256" y="981075"/>
            <a:ext cx="16473497" cy="0"/>
          </a:xfrm>
          <a:prstGeom prst="line">
            <a:avLst/>
          </a:prstGeom>
          <a:ln cap="rnd" w="9525">
            <a:solidFill>
              <a:srgbClr val="EDCFAD"/>
            </a:solidFill>
            <a:prstDash val="solid"/>
            <a:headEnd type="none" len="sm" w="sm"/>
            <a:tailEnd type="none" len="sm" w="sm"/>
          </a:ln>
        </p:spPr>
      </p:sp>
      <p:sp>
        <p:nvSpPr>
          <p:cNvPr name="TextBox 6" id="6"/>
          <p:cNvSpPr txBox="true"/>
          <p:nvPr/>
        </p:nvSpPr>
        <p:spPr>
          <a:xfrm rot="0">
            <a:off x="914400" y="1476375"/>
            <a:ext cx="12858750" cy="1181100"/>
          </a:xfrm>
          <a:prstGeom prst="rect">
            <a:avLst/>
          </a:prstGeom>
        </p:spPr>
        <p:txBody>
          <a:bodyPr anchor="t" rtlCol="false" tIns="0" lIns="0" bIns="0" rIns="0">
            <a:spAutoFit/>
          </a:bodyPr>
          <a:lstStyle/>
          <a:p>
            <a:pPr algn="l">
              <a:lnSpc>
                <a:spcPts val="6750"/>
              </a:lnSpc>
            </a:pPr>
            <a:r>
              <a:rPr lang="en-US" sz="5625" b="true">
                <a:solidFill>
                  <a:srgbClr val="2D180B"/>
                </a:solidFill>
                <a:latin typeface="Lato Bold"/>
                <a:ea typeface="Lato Bold"/>
                <a:cs typeface="Lato Bold"/>
                <a:sym typeface="Lato Bold"/>
              </a:rPr>
              <a:t>Start with one clear revenue engine</a:t>
            </a:r>
          </a:p>
        </p:txBody>
      </p:sp>
      <p:sp>
        <p:nvSpPr>
          <p:cNvPr name="TextBox 7" id="7"/>
          <p:cNvSpPr txBox="true"/>
          <p:nvPr/>
        </p:nvSpPr>
        <p:spPr>
          <a:xfrm rot="0">
            <a:off x="914400" y="2456281"/>
            <a:ext cx="11331820" cy="371475"/>
          </a:xfrm>
          <a:prstGeom prst="rect">
            <a:avLst/>
          </a:prstGeom>
        </p:spPr>
        <p:txBody>
          <a:bodyPr anchor="t" rtlCol="false" tIns="0" lIns="0" bIns="0" rIns="0">
            <a:spAutoFit/>
          </a:bodyPr>
          <a:lstStyle/>
          <a:p>
            <a:pPr algn="l">
              <a:lnSpc>
                <a:spcPts val="2925"/>
              </a:lnSpc>
            </a:pPr>
            <a:r>
              <a:rPr lang="en-US" sz="2437">
                <a:solidFill>
                  <a:srgbClr val="895F3C"/>
                </a:solidFill>
                <a:latin typeface="Lato"/>
                <a:ea typeface="Lato"/>
                <a:cs typeface="Lato"/>
                <a:sym typeface="Lato"/>
              </a:rPr>
              <a:t>Paid learning first. Optional AI usage and platform licensing expand the model later.</a:t>
            </a:r>
          </a:p>
        </p:txBody>
      </p:sp>
      <p:grpSp>
        <p:nvGrpSpPr>
          <p:cNvPr name="Group 8" id="8"/>
          <p:cNvGrpSpPr/>
          <p:nvPr/>
        </p:nvGrpSpPr>
        <p:grpSpPr>
          <a:xfrm rot="0">
            <a:off x="1050131" y="3707606"/>
            <a:ext cx="7443788" cy="4157662"/>
            <a:chOff x="0" y="0"/>
            <a:chExt cx="9925050" cy="5543550"/>
          </a:xfrm>
        </p:grpSpPr>
        <p:sp>
          <p:nvSpPr>
            <p:cNvPr name="Freeform 9" id="9"/>
            <p:cNvSpPr/>
            <p:nvPr/>
          </p:nvSpPr>
          <p:spPr>
            <a:xfrm flipH="false" flipV="false" rot="0">
              <a:off x="0" y="0"/>
              <a:ext cx="9925050" cy="5543550"/>
            </a:xfrm>
            <a:custGeom>
              <a:avLst/>
              <a:gdLst/>
              <a:ahLst/>
              <a:cxnLst/>
              <a:rect r="r" b="b" t="t" l="l"/>
              <a:pathLst>
                <a:path h="5543550" w="9925050">
                  <a:moveTo>
                    <a:pt x="0" y="458724"/>
                  </a:moveTo>
                  <a:cubicBezTo>
                    <a:pt x="0" y="205359"/>
                    <a:pt x="205359" y="0"/>
                    <a:pt x="458724" y="0"/>
                  </a:cubicBezTo>
                  <a:lnTo>
                    <a:pt x="9466326" y="0"/>
                  </a:lnTo>
                  <a:cubicBezTo>
                    <a:pt x="9719691" y="0"/>
                    <a:pt x="9925050" y="205359"/>
                    <a:pt x="9925050" y="458724"/>
                  </a:cubicBezTo>
                  <a:lnTo>
                    <a:pt x="9925050" y="5084826"/>
                  </a:lnTo>
                  <a:cubicBezTo>
                    <a:pt x="9925050" y="5338191"/>
                    <a:pt x="9719691" y="5543550"/>
                    <a:pt x="9466326" y="5543550"/>
                  </a:cubicBezTo>
                  <a:lnTo>
                    <a:pt x="458724" y="5543550"/>
                  </a:lnTo>
                  <a:cubicBezTo>
                    <a:pt x="205359" y="5543550"/>
                    <a:pt x="0" y="5338191"/>
                    <a:pt x="0" y="5084826"/>
                  </a:cubicBezTo>
                  <a:close/>
                </a:path>
              </a:pathLst>
            </a:custGeom>
            <a:solidFill>
              <a:srgbClr val="FF8500"/>
            </a:solidFill>
            <a:ln w="14288" cap="sq">
              <a:solidFill>
                <a:srgbClr val="FF8500"/>
              </a:solidFill>
              <a:prstDash val="solid"/>
              <a:miter/>
            </a:ln>
          </p:spPr>
        </p:sp>
      </p:grpSp>
      <p:grpSp>
        <p:nvGrpSpPr>
          <p:cNvPr name="Group 10" id="10"/>
          <p:cNvGrpSpPr/>
          <p:nvPr/>
        </p:nvGrpSpPr>
        <p:grpSpPr>
          <a:xfrm rot="0">
            <a:off x="1543050" y="4286250"/>
            <a:ext cx="2071688" cy="428625"/>
            <a:chOff x="0" y="0"/>
            <a:chExt cx="2762250" cy="571500"/>
          </a:xfrm>
        </p:grpSpPr>
        <p:sp>
          <p:nvSpPr>
            <p:cNvPr name="Freeform 11" id="11"/>
            <p:cNvSpPr/>
            <p:nvPr/>
          </p:nvSpPr>
          <p:spPr>
            <a:xfrm flipH="false" flipV="false" rot="0">
              <a:off x="0" y="0"/>
              <a:ext cx="2762250" cy="571500"/>
            </a:xfrm>
            <a:custGeom>
              <a:avLst/>
              <a:gdLst/>
              <a:ahLst/>
              <a:cxnLst/>
              <a:rect r="r" b="b" t="t" l="l"/>
              <a:pathLst>
                <a:path h="571500" w="2762250">
                  <a:moveTo>
                    <a:pt x="0" y="285750"/>
                  </a:moveTo>
                  <a:cubicBezTo>
                    <a:pt x="0" y="127889"/>
                    <a:pt x="127889" y="0"/>
                    <a:pt x="285750" y="0"/>
                  </a:cubicBezTo>
                  <a:lnTo>
                    <a:pt x="2476500" y="0"/>
                  </a:lnTo>
                  <a:cubicBezTo>
                    <a:pt x="2634361" y="0"/>
                    <a:pt x="2762250" y="127889"/>
                    <a:pt x="2762250" y="285750"/>
                  </a:cubicBezTo>
                  <a:cubicBezTo>
                    <a:pt x="2762250" y="443611"/>
                    <a:pt x="2634361" y="571500"/>
                    <a:pt x="2476500" y="571500"/>
                  </a:cubicBezTo>
                  <a:lnTo>
                    <a:pt x="285750" y="571500"/>
                  </a:lnTo>
                  <a:cubicBezTo>
                    <a:pt x="127889" y="571500"/>
                    <a:pt x="0" y="443611"/>
                    <a:pt x="0" y="285750"/>
                  </a:cubicBezTo>
                  <a:close/>
                </a:path>
              </a:pathLst>
            </a:custGeom>
            <a:solidFill>
              <a:srgbClr val="FFF6E9"/>
            </a:solidFill>
            <a:ln cap="sq">
              <a:noFill/>
              <a:prstDash val="solid"/>
              <a:miter/>
            </a:ln>
          </p:spPr>
        </p:sp>
        <p:sp>
          <p:nvSpPr>
            <p:cNvPr name="TextBox 12" id="12"/>
            <p:cNvSpPr txBox="true"/>
            <p:nvPr/>
          </p:nvSpPr>
          <p:spPr>
            <a:xfrm>
              <a:off x="0" y="0"/>
              <a:ext cx="2762250" cy="571500"/>
            </a:xfrm>
            <a:prstGeom prst="rect">
              <a:avLst/>
            </a:prstGeom>
          </p:spPr>
          <p:txBody>
            <a:bodyPr anchor="ctr" rtlCol="false" tIns="50800" lIns="50800" bIns="50800" rIns="50800"/>
            <a:lstStyle/>
            <a:p>
              <a:pPr algn="ctr">
                <a:lnSpc>
                  <a:spcPts val="1755"/>
                </a:lnSpc>
              </a:pPr>
              <a:r>
                <a:rPr lang="en-US" sz="1462" b="true">
                  <a:solidFill>
                    <a:srgbClr val="C45300"/>
                  </a:solidFill>
                  <a:latin typeface="Lato Bold"/>
                  <a:ea typeface="Lato Bold"/>
                  <a:cs typeface="Lato Bold"/>
                  <a:sym typeface="Lato Bold"/>
                </a:rPr>
                <a:t>LAUNCH PRIORITY</a:t>
              </a:r>
            </a:p>
          </p:txBody>
        </p:sp>
      </p:grpSp>
      <p:sp>
        <p:nvSpPr>
          <p:cNvPr name="TextBox 13" id="13"/>
          <p:cNvSpPr txBox="true"/>
          <p:nvPr/>
        </p:nvSpPr>
        <p:spPr>
          <a:xfrm rot="0">
            <a:off x="1543050" y="5076825"/>
            <a:ext cx="5143500" cy="752475"/>
          </a:xfrm>
          <a:prstGeom prst="rect">
            <a:avLst/>
          </a:prstGeom>
        </p:spPr>
        <p:txBody>
          <a:bodyPr anchor="t" rtlCol="false" tIns="0" lIns="0" bIns="0" rIns="0">
            <a:spAutoFit/>
          </a:bodyPr>
          <a:lstStyle/>
          <a:p>
            <a:pPr algn="l">
              <a:lnSpc>
                <a:spcPts val="5400"/>
              </a:lnSpc>
            </a:pPr>
            <a:r>
              <a:rPr lang="en-US" sz="4500" b="true">
                <a:solidFill>
                  <a:srgbClr val="2D180B"/>
                </a:solidFill>
                <a:latin typeface="Lato Bold"/>
                <a:ea typeface="Lato Bold"/>
                <a:cs typeface="Lato Bold"/>
                <a:sym typeface="Lato Bold"/>
              </a:rPr>
              <a:t>Course purchase</a:t>
            </a:r>
          </a:p>
        </p:txBody>
      </p:sp>
      <p:sp>
        <p:nvSpPr>
          <p:cNvPr name="TextBox 14" id="14"/>
          <p:cNvSpPr txBox="true"/>
          <p:nvPr/>
        </p:nvSpPr>
        <p:spPr>
          <a:xfrm rot="0">
            <a:off x="1571625" y="6134100"/>
            <a:ext cx="5572125" cy="895350"/>
          </a:xfrm>
          <a:prstGeom prst="rect">
            <a:avLst/>
          </a:prstGeom>
        </p:spPr>
        <p:txBody>
          <a:bodyPr anchor="t" rtlCol="false" tIns="0" lIns="0" bIns="0" rIns="0">
            <a:spAutoFit/>
          </a:bodyPr>
          <a:lstStyle/>
          <a:p>
            <a:pPr algn="l">
              <a:lnSpc>
                <a:spcPts val="2700"/>
              </a:lnSpc>
            </a:pPr>
            <a:r>
              <a:rPr lang="en-US" sz="2250">
                <a:solidFill>
                  <a:srgbClr val="2D180B"/>
                </a:solidFill>
                <a:latin typeface="Lato"/>
                <a:ea typeface="Lato"/>
                <a:cs typeface="Lato"/>
                <a:sym typeface="Lato"/>
              </a:rPr>
              <a:t>Learners pay for a structured path that turns practice into a finished skill.</a:t>
            </a:r>
          </a:p>
        </p:txBody>
      </p:sp>
      <p:grpSp>
        <p:nvGrpSpPr>
          <p:cNvPr name="Group 15" id="15"/>
          <p:cNvGrpSpPr/>
          <p:nvPr/>
        </p:nvGrpSpPr>
        <p:grpSpPr>
          <a:xfrm rot="0">
            <a:off x="9279731" y="3707606"/>
            <a:ext cx="3657600" cy="4157662"/>
            <a:chOff x="0" y="0"/>
            <a:chExt cx="4876800" cy="5543550"/>
          </a:xfrm>
        </p:grpSpPr>
        <p:sp>
          <p:nvSpPr>
            <p:cNvPr name="Freeform 16" id="16"/>
            <p:cNvSpPr/>
            <p:nvPr/>
          </p:nvSpPr>
          <p:spPr>
            <a:xfrm flipH="false" flipV="false" rot="0">
              <a:off x="0" y="0"/>
              <a:ext cx="4876800" cy="5543550"/>
            </a:xfrm>
            <a:custGeom>
              <a:avLst/>
              <a:gdLst/>
              <a:ahLst/>
              <a:cxnLst/>
              <a:rect r="r" b="b" t="t" l="l"/>
              <a:pathLst>
                <a:path h="5543550" w="4876800">
                  <a:moveTo>
                    <a:pt x="0" y="458978"/>
                  </a:moveTo>
                  <a:cubicBezTo>
                    <a:pt x="0" y="205486"/>
                    <a:pt x="205486" y="0"/>
                    <a:pt x="458978" y="0"/>
                  </a:cubicBezTo>
                  <a:lnTo>
                    <a:pt x="4417822" y="0"/>
                  </a:lnTo>
                  <a:cubicBezTo>
                    <a:pt x="4671314" y="0"/>
                    <a:pt x="4876800" y="205486"/>
                    <a:pt x="4876800" y="458978"/>
                  </a:cubicBezTo>
                  <a:lnTo>
                    <a:pt x="4876800" y="5084572"/>
                  </a:lnTo>
                  <a:cubicBezTo>
                    <a:pt x="4876800" y="5338064"/>
                    <a:pt x="4671314" y="5543550"/>
                    <a:pt x="4417822" y="5543550"/>
                  </a:cubicBezTo>
                  <a:lnTo>
                    <a:pt x="458978" y="5543550"/>
                  </a:lnTo>
                  <a:cubicBezTo>
                    <a:pt x="205486" y="5543550"/>
                    <a:pt x="0" y="5338064"/>
                    <a:pt x="0" y="5084572"/>
                  </a:cubicBezTo>
                  <a:close/>
                </a:path>
              </a:pathLst>
            </a:custGeom>
            <a:solidFill>
              <a:srgbClr val="FFFDF8"/>
            </a:solidFill>
            <a:ln w="14288" cap="sq">
              <a:solidFill>
                <a:srgbClr val="EDCFAD"/>
              </a:solidFill>
              <a:prstDash val="solid"/>
              <a:miter/>
            </a:ln>
          </p:spPr>
        </p:sp>
      </p:grpSp>
      <p:grpSp>
        <p:nvGrpSpPr>
          <p:cNvPr name="Group 17" id="17"/>
          <p:cNvGrpSpPr/>
          <p:nvPr/>
        </p:nvGrpSpPr>
        <p:grpSpPr>
          <a:xfrm rot="0">
            <a:off x="9744075" y="4286250"/>
            <a:ext cx="1357312" cy="400050"/>
            <a:chOff x="0" y="0"/>
            <a:chExt cx="1809750" cy="533400"/>
          </a:xfrm>
        </p:grpSpPr>
        <p:sp>
          <p:nvSpPr>
            <p:cNvPr name="Freeform 18" id="18"/>
            <p:cNvSpPr/>
            <p:nvPr/>
          </p:nvSpPr>
          <p:spPr>
            <a:xfrm flipH="false" flipV="false" rot="0">
              <a:off x="0" y="0"/>
              <a:ext cx="1809750" cy="533400"/>
            </a:xfrm>
            <a:custGeom>
              <a:avLst/>
              <a:gdLst/>
              <a:ahLst/>
              <a:cxnLst/>
              <a:rect r="r" b="b" t="t" l="l"/>
              <a:pathLst>
                <a:path h="533400" w="1809750">
                  <a:moveTo>
                    <a:pt x="0" y="266700"/>
                  </a:moveTo>
                  <a:cubicBezTo>
                    <a:pt x="0" y="119380"/>
                    <a:pt x="119380" y="0"/>
                    <a:pt x="266700" y="0"/>
                  </a:cubicBezTo>
                  <a:lnTo>
                    <a:pt x="1543050" y="0"/>
                  </a:lnTo>
                  <a:cubicBezTo>
                    <a:pt x="1690370" y="0"/>
                    <a:pt x="1809750" y="119380"/>
                    <a:pt x="1809750" y="266700"/>
                  </a:cubicBezTo>
                  <a:cubicBezTo>
                    <a:pt x="1809750" y="414020"/>
                    <a:pt x="1690370" y="533400"/>
                    <a:pt x="1543050" y="533400"/>
                  </a:cubicBezTo>
                  <a:lnTo>
                    <a:pt x="266700" y="533400"/>
                  </a:lnTo>
                  <a:cubicBezTo>
                    <a:pt x="119380" y="533400"/>
                    <a:pt x="0" y="414020"/>
                    <a:pt x="0" y="266700"/>
                  </a:cubicBezTo>
                  <a:close/>
                </a:path>
              </a:pathLst>
            </a:custGeom>
            <a:solidFill>
              <a:srgbClr val="FBEAD4"/>
            </a:solidFill>
            <a:ln cap="sq">
              <a:noFill/>
              <a:prstDash val="solid"/>
              <a:miter/>
            </a:ln>
          </p:spPr>
        </p:sp>
        <p:sp>
          <p:nvSpPr>
            <p:cNvPr name="TextBox 19" id="19"/>
            <p:cNvSpPr txBox="true"/>
            <p:nvPr/>
          </p:nvSpPr>
          <p:spPr>
            <a:xfrm>
              <a:off x="0" y="0"/>
              <a:ext cx="1809750" cy="533400"/>
            </a:xfrm>
            <a:prstGeom prst="rect">
              <a:avLst/>
            </a:prstGeom>
          </p:spPr>
          <p:txBody>
            <a:bodyPr anchor="ctr" rtlCol="false" tIns="50800" lIns="50800" bIns="50800" rIns="50800"/>
            <a:lstStyle/>
            <a:p>
              <a:pPr algn="ctr">
                <a:lnSpc>
                  <a:spcPts val="1755"/>
                </a:lnSpc>
              </a:pPr>
              <a:r>
                <a:rPr lang="en-US" sz="1462" b="true">
                  <a:solidFill>
                    <a:srgbClr val="895F3C"/>
                  </a:solidFill>
                  <a:latin typeface="Lato Bold"/>
                  <a:ea typeface="Lato Bold"/>
                  <a:cs typeface="Lato Bold"/>
                  <a:sym typeface="Lato Bold"/>
                </a:rPr>
                <a:t>OPTIONAL</a:t>
              </a:r>
            </a:p>
          </p:txBody>
        </p:sp>
      </p:grpSp>
      <p:sp>
        <p:nvSpPr>
          <p:cNvPr name="TextBox 20" id="20"/>
          <p:cNvSpPr txBox="true"/>
          <p:nvPr/>
        </p:nvSpPr>
        <p:spPr>
          <a:xfrm rot="0">
            <a:off x="9744075" y="5057775"/>
            <a:ext cx="2571750" cy="542925"/>
          </a:xfrm>
          <a:prstGeom prst="rect">
            <a:avLst/>
          </a:prstGeom>
        </p:spPr>
        <p:txBody>
          <a:bodyPr anchor="t" rtlCol="false" tIns="0" lIns="0" bIns="0" rIns="0">
            <a:spAutoFit/>
          </a:bodyPr>
          <a:lstStyle/>
          <a:p>
            <a:pPr algn="l">
              <a:lnSpc>
                <a:spcPts val="3779"/>
              </a:lnSpc>
            </a:pPr>
            <a:r>
              <a:rPr lang="en-US" sz="3150" b="true">
                <a:solidFill>
                  <a:srgbClr val="2D180B"/>
                </a:solidFill>
                <a:latin typeface="Lato Bold"/>
                <a:ea typeface="Lato Bold"/>
                <a:cs typeface="Lato Bold"/>
                <a:sym typeface="Lato Bold"/>
              </a:rPr>
              <a:t>AI tokens</a:t>
            </a:r>
          </a:p>
        </p:txBody>
      </p:sp>
      <p:sp>
        <p:nvSpPr>
          <p:cNvPr name="TextBox 21" id="21"/>
          <p:cNvSpPr txBox="true"/>
          <p:nvPr/>
        </p:nvSpPr>
        <p:spPr>
          <a:xfrm rot="0">
            <a:off x="9744075" y="6000750"/>
            <a:ext cx="2500312" cy="1028700"/>
          </a:xfrm>
          <a:prstGeom prst="rect">
            <a:avLst/>
          </a:prstGeom>
        </p:spPr>
        <p:txBody>
          <a:bodyPr anchor="t" rtlCol="false" tIns="0" lIns="0" bIns="0" rIns="0">
            <a:spAutoFit/>
          </a:bodyPr>
          <a:lstStyle/>
          <a:p>
            <a:pPr algn="l">
              <a:lnSpc>
                <a:spcPts val="2295"/>
              </a:lnSpc>
            </a:pPr>
            <a:r>
              <a:rPr lang="en-US" sz="1912">
                <a:solidFill>
                  <a:srgbClr val="895F3C"/>
                </a:solidFill>
                <a:latin typeface="Lato"/>
                <a:ea typeface="Lato"/>
                <a:cs typeface="Lato"/>
                <a:sym typeface="Lato"/>
              </a:rPr>
              <a:t>Extra attempts, deeper explanations, or advanced model usage.</a:t>
            </a:r>
          </a:p>
        </p:txBody>
      </p:sp>
      <p:grpSp>
        <p:nvGrpSpPr>
          <p:cNvPr name="Group 22" id="22"/>
          <p:cNvGrpSpPr/>
          <p:nvPr/>
        </p:nvGrpSpPr>
        <p:grpSpPr>
          <a:xfrm rot="0">
            <a:off x="13494544" y="3707606"/>
            <a:ext cx="3729038" cy="4157662"/>
            <a:chOff x="0" y="0"/>
            <a:chExt cx="4972050" cy="5543550"/>
          </a:xfrm>
        </p:grpSpPr>
        <p:sp>
          <p:nvSpPr>
            <p:cNvPr name="Freeform 23" id="23"/>
            <p:cNvSpPr/>
            <p:nvPr/>
          </p:nvSpPr>
          <p:spPr>
            <a:xfrm flipH="false" flipV="false" rot="0">
              <a:off x="0" y="0"/>
              <a:ext cx="4972050" cy="5543550"/>
            </a:xfrm>
            <a:custGeom>
              <a:avLst/>
              <a:gdLst/>
              <a:ahLst/>
              <a:cxnLst/>
              <a:rect r="r" b="b" t="t" l="l"/>
              <a:pathLst>
                <a:path h="5543550" w="4972050">
                  <a:moveTo>
                    <a:pt x="0" y="458978"/>
                  </a:moveTo>
                  <a:cubicBezTo>
                    <a:pt x="0" y="205486"/>
                    <a:pt x="205486" y="0"/>
                    <a:pt x="458978" y="0"/>
                  </a:cubicBezTo>
                  <a:lnTo>
                    <a:pt x="4513072" y="0"/>
                  </a:lnTo>
                  <a:cubicBezTo>
                    <a:pt x="4766564" y="0"/>
                    <a:pt x="4972050" y="205486"/>
                    <a:pt x="4972050" y="458978"/>
                  </a:cubicBezTo>
                  <a:lnTo>
                    <a:pt x="4972050" y="5084572"/>
                  </a:lnTo>
                  <a:cubicBezTo>
                    <a:pt x="4972050" y="5338064"/>
                    <a:pt x="4766564" y="5543550"/>
                    <a:pt x="4513072" y="5543550"/>
                  </a:cubicBezTo>
                  <a:lnTo>
                    <a:pt x="458978" y="5543550"/>
                  </a:lnTo>
                  <a:cubicBezTo>
                    <a:pt x="205486" y="5543550"/>
                    <a:pt x="0" y="5338064"/>
                    <a:pt x="0" y="5084572"/>
                  </a:cubicBezTo>
                  <a:close/>
                </a:path>
              </a:pathLst>
            </a:custGeom>
            <a:solidFill>
              <a:srgbClr val="FFFDF8"/>
            </a:solidFill>
            <a:ln w="14288" cap="sq">
              <a:solidFill>
                <a:srgbClr val="EDCFAD"/>
              </a:solidFill>
              <a:prstDash val="solid"/>
              <a:miter/>
            </a:ln>
          </p:spPr>
        </p:sp>
      </p:grpSp>
      <p:grpSp>
        <p:nvGrpSpPr>
          <p:cNvPr name="Group 24" id="24"/>
          <p:cNvGrpSpPr/>
          <p:nvPr/>
        </p:nvGrpSpPr>
        <p:grpSpPr>
          <a:xfrm rot="0">
            <a:off x="13944600" y="4286250"/>
            <a:ext cx="1071562" cy="400050"/>
            <a:chOff x="0" y="0"/>
            <a:chExt cx="1428750" cy="533400"/>
          </a:xfrm>
        </p:grpSpPr>
        <p:sp>
          <p:nvSpPr>
            <p:cNvPr name="Freeform 25" id="25"/>
            <p:cNvSpPr/>
            <p:nvPr/>
          </p:nvSpPr>
          <p:spPr>
            <a:xfrm flipH="false" flipV="false" rot="0">
              <a:off x="0" y="0"/>
              <a:ext cx="1428750" cy="533400"/>
            </a:xfrm>
            <a:custGeom>
              <a:avLst/>
              <a:gdLst/>
              <a:ahLst/>
              <a:cxnLst/>
              <a:rect r="r" b="b" t="t" l="l"/>
              <a:pathLst>
                <a:path h="533400" w="1428750">
                  <a:moveTo>
                    <a:pt x="0" y="266700"/>
                  </a:moveTo>
                  <a:cubicBezTo>
                    <a:pt x="0" y="119380"/>
                    <a:pt x="119380" y="0"/>
                    <a:pt x="266700" y="0"/>
                  </a:cubicBezTo>
                  <a:lnTo>
                    <a:pt x="1162050" y="0"/>
                  </a:lnTo>
                  <a:cubicBezTo>
                    <a:pt x="1309370" y="0"/>
                    <a:pt x="1428750" y="119380"/>
                    <a:pt x="1428750" y="266700"/>
                  </a:cubicBezTo>
                  <a:cubicBezTo>
                    <a:pt x="1428750" y="414020"/>
                    <a:pt x="1309370" y="533400"/>
                    <a:pt x="1162050" y="533400"/>
                  </a:cubicBezTo>
                  <a:lnTo>
                    <a:pt x="266700" y="533400"/>
                  </a:lnTo>
                  <a:cubicBezTo>
                    <a:pt x="119380" y="533400"/>
                    <a:pt x="0" y="414020"/>
                    <a:pt x="0" y="266700"/>
                  </a:cubicBezTo>
                  <a:close/>
                </a:path>
              </a:pathLst>
            </a:custGeom>
            <a:solidFill>
              <a:srgbClr val="DFF2E5"/>
            </a:solidFill>
            <a:ln cap="sq">
              <a:noFill/>
              <a:prstDash val="solid"/>
              <a:miter/>
            </a:ln>
          </p:spPr>
        </p:sp>
        <p:sp>
          <p:nvSpPr>
            <p:cNvPr name="TextBox 26" id="26"/>
            <p:cNvSpPr txBox="true"/>
            <p:nvPr/>
          </p:nvSpPr>
          <p:spPr>
            <a:xfrm>
              <a:off x="0" y="0"/>
              <a:ext cx="1428750" cy="533400"/>
            </a:xfrm>
            <a:prstGeom prst="rect">
              <a:avLst/>
            </a:prstGeom>
          </p:spPr>
          <p:txBody>
            <a:bodyPr anchor="ctr" rtlCol="false" tIns="50800" lIns="50800" bIns="50800" rIns="50800"/>
            <a:lstStyle/>
            <a:p>
              <a:pPr algn="ctr">
                <a:lnSpc>
                  <a:spcPts val="1755"/>
                </a:lnSpc>
              </a:pPr>
              <a:r>
                <a:rPr lang="en-US" sz="1462" b="true">
                  <a:solidFill>
                    <a:srgbClr val="2E9B62"/>
                  </a:solidFill>
                  <a:latin typeface="Lato Bold"/>
                  <a:ea typeface="Lato Bold"/>
                  <a:cs typeface="Lato Bold"/>
                  <a:sym typeface="Lato Bold"/>
                </a:rPr>
                <a:t>LATER</a:t>
              </a:r>
            </a:p>
          </p:txBody>
        </p:sp>
      </p:grpSp>
      <p:sp>
        <p:nvSpPr>
          <p:cNvPr name="TextBox 27" id="27"/>
          <p:cNvSpPr txBox="true"/>
          <p:nvPr/>
        </p:nvSpPr>
        <p:spPr>
          <a:xfrm rot="0">
            <a:off x="13944600" y="5057775"/>
            <a:ext cx="2714625" cy="542925"/>
          </a:xfrm>
          <a:prstGeom prst="rect">
            <a:avLst/>
          </a:prstGeom>
        </p:spPr>
        <p:txBody>
          <a:bodyPr anchor="t" rtlCol="false" tIns="0" lIns="0" bIns="0" rIns="0">
            <a:spAutoFit/>
          </a:bodyPr>
          <a:lstStyle/>
          <a:p>
            <a:pPr algn="l">
              <a:lnSpc>
                <a:spcPts val="3779"/>
              </a:lnSpc>
            </a:pPr>
            <a:r>
              <a:rPr lang="en-US" sz="3150" b="true">
                <a:solidFill>
                  <a:srgbClr val="2D180B"/>
                </a:solidFill>
                <a:latin typeface="Lato Bold"/>
                <a:ea typeface="Lato Bold"/>
                <a:cs typeface="Lato Bold"/>
                <a:sym typeface="Lato Bold"/>
              </a:rPr>
              <a:t>Platform fees</a:t>
            </a:r>
          </a:p>
        </p:txBody>
      </p:sp>
      <p:sp>
        <p:nvSpPr>
          <p:cNvPr name="TextBox 28" id="28"/>
          <p:cNvSpPr txBox="true"/>
          <p:nvPr/>
        </p:nvSpPr>
        <p:spPr>
          <a:xfrm rot="0">
            <a:off x="13944600" y="6000750"/>
            <a:ext cx="2571750" cy="1028700"/>
          </a:xfrm>
          <a:prstGeom prst="rect">
            <a:avLst/>
          </a:prstGeom>
        </p:spPr>
        <p:txBody>
          <a:bodyPr anchor="t" rtlCol="false" tIns="0" lIns="0" bIns="0" rIns="0">
            <a:spAutoFit/>
          </a:bodyPr>
          <a:lstStyle/>
          <a:p>
            <a:pPr algn="l">
              <a:lnSpc>
                <a:spcPts val="2295"/>
              </a:lnSpc>
            </a:pPr>
            <a:r>
              <a:rPr lang="en-US" sz="1912">
                <a:solidFill>
                  <a:srgbClr val="895F3C"/>
                </a:solidFill>
                <a:latin typeface="Lato"/>
                <a:ea typeface="Lato"/>
                <a:cs typeface="Lato"/>
                <a:sym typeface="Lato"/>
              </a:rPr>
              <a:t>Commission from creator and institution courses.</a:t>
            </a:r>
          </a:p>
        </p:txBody>
      </p:sp>
      <p:sp>
        <p:nvSpPr>
          <p:cNvPr name="TextBox 29" id="29"/>
          <p:cNvSpPr txBox="true"/>
          <p:nvPr/>
        </p:nvSpPr>
        <p:spPr>
          <a:xfrm rot="0">
            <a:off x="1057275" y="8629650"/>
            <a:ext cx="10858500" cy="400050"/>
          </a:xfrm>
          <a:prstGeom prst="rect">
            <a:avLst/>
          </a:prstGeom>
        </p:spPr>
        <p:txBody>
          <a:bodyPr anchor="t" rtlCol="false" tIns="0" lIns="0" bIns="0" rIns="0">
            <a:spAutoFit/>
          </a:bodyPr>
          <a:lstStyle/>
          <a:p>
            <a:pPr algn="l">
              <a:lnSpc>
                <a:spcPts val="2970"/>
              </a:lnSpc>
            </a:pPr>
            <a:r>
              <a:rPr lang="en-US" sz="2475" b="true">
                <a:solidFill>
                  <a:srgbClr val="2D180B"/>
                </a:solidFill>
                <a:latin typeface="Lato Bold"/>
                <a:ea typeface="Lato Bold"/>
                <a:cs typeface="Lato Bold"/>
                <a:sym typeface="Lato Bold"/>
              </a:rPr>
              <a:t>Keep the first story simple: one learner pays for one useful outcome.</a:t>
            </a:r>
          </a:p>
        </p:txBody>
      </p:sp>
      <p:sp>
        <p:nvSpPr>
          <p:cNvPr name="TextBox 30" id="30"/>
          <p:cNvSpPr txBox="true"/>
          <p:nvPr/>
        </p:nvSpPr>
        <p:spPr>
          <a:xfrm rot="0">
            <a:off x="914400" y="9744075"/>
            <a:ext cx="13144500" cy="257175"/>
          </a:xfrm>
          <a:prstGeom prst="rect">
            <a:avLst/>
          </a:prstGeom>
        </p:spPr>
        <p:txBody>
          <a:bodyPr anchor="t" rtlCol="false" tIns="0" lIns="0" bIns="0" rIns="0">
            <a:spAutoFit/>
          </a:bodyPr>
          <a:lstStyle/>
          <a:p>
            <a:pPr algn="l">
              <a:lnSpc>
                <a:spcPts val="1485"/>
              </a:lnSpc>
            </a:pPr>
            <a:r>
              <a:rPr lang="en-US" sz="1237">
                <a:solidFill>
                  <a:srgbClr val="7D5C42"/>
                </a:solidFill>
                <a:latin typeface="Lato"/>
                <a:ea typeface="Lato"/>
                <a:cs typeface="Lato"/>
                <a:sym typeface="Lato"/>
              </a:rPr>
              <a:t>Business model · planned streams, launch priority shown</a:t>
            </a:r>
          </a:p>
        </p:txBody>
      </p:sp>
    </p:spTree>
  </p:cSld>
  <p:clrMapOvr>
    <a:masterClrMapping/>
  </p:clrMapOvr>
</p:sld>
</file>

<file path=ppt/slides/slide12.xml><?xml version="1.0" encoding="utf-8"?>
<p:sld xmlns:p="http://schemas.openxmlformats.org/presentationml/2006/main" xmlns:a="http://schemas.openxmlformats.org/drawingml/2006/main">
  <p:cSld>
    <p:bg>
      <p:bgPr>
        <a:solidFill>
          <a:srgbClr val="2B1910"/>
        </a:solidFill>
      </p:bgPr>
    </p:bg>
    <p:spTree>
      <p:nvGrpSpPr>
        <p:cNvPr id="1" name=""/>
        <p:cNvGrpSpPr/>
        <p:nvPr/>
      </p:nvGrpSpPr>
      <p:grpSpPr>
        <a:xfrm>
          <a:off x="0" y="0"/>
          <a:ext cx="0" cy="0"/>
          <a:chOff x="0" y="0"/>
          <a:chExt cx="0" cy="0"/>
        </a:xfrm>
      </p:grpSpPr>
      <p:sp>
        <p:nvSpPr>
          <p:cNvPr name="TextBox 2" id="2"/>
          <p:cNvSpPr txBox="true"/>
          <p:nvPr/>
        </p:nvSpPr>
        <p:spPr>
          <a:xfrm rot="0">
            <a:off x="914400" y="390525"/>
            <a:ext cx="1857375" cy="466725"/>
          </a:xfrm>
          <a:prstGeom prst="rect">
            <a:avLst/>
          </a:prstGeom>
        </p:spPr>
        <p:txBody>
          <a:bodyPr anchor="t" rtlCol="false" tIns="0" lIns="0" bIns="0" rIns="0">
            <a:spAutoFit/>
          </a:bodyPr>
          <a:lstStyle/>
          <a:p>
            <a:pPr algn="l">
              <a:lnSpc>
                <a:spcPts val="3104"/>
              </a:lnSpc>
            </a:pPr>
            <a:r>
              <a:rPr lang="en-US" sz="2587" b="true">
                <a:solidFill>
                  <a:srgbClr val="FF8500"/>
                </a:solidFill>
                <a:latin typeface="Lato Bold"/>
                <a:ea typeface="Lato Bold"/>
                <a:cs typeface="Lato Bold"/>
                <a:sym typeface="Lato Bold"/>
              </a:rPr>
              <a:t>bataa</a:t>
            </a:r>
          </a:p>
        </p:txBody>
      </p:sp>
      <p:sp>
        <p:nvSpPr>
          <p:cNvPr name="TextBox 3" id="3"/>
          <p:cNvSpPr txBox="true"/>
          <p:nvPr/>
        </p:nvSpPr>
        <p:spPr>
          <a:xfrm rot="0">
            <a:off x="3171825" y="461963"/>
            <a:ext cx="6000750" cy="323850"/>
          </a:xfrm>
          <a:prstGeom prst="rect">
            <a:avLst/>
          </a:prstGeom>
        </p:spPr>
        <p:txBody>
          <a:bodyPr anchor="t" rtlCol="false" tIns="0" lIns="0" bIns="0" rIns="0">
            <a:spAutoFit/>
          </a:bodyPr>
          <a:lstStyle/>
          <a:p>
            <a:pPr algn="l">
              <a:lnSpc>
                <a:spcPts val="1620"/>
              </a:lnSpc>
            </a:pPr>
            <a:r>
              <a:rPr lang="en-US" sz="1350" b="true">
                <a:solidFill>
                  <a:srgbClr val="D7BDA9"/>
                </a:solidFill>
                <a:latin typeface="Lato Bold"/>
                <a:ea typeface="Lato Bold"/>
                <a:cs typeface="Lato Bold"/>
                <a:sym typeface="Lato Bold"/>
              </a:rPr>
              <a:t>PLATFORM EXPANSION</a:t>
            </a:r>
          </a:p>
        </p:txBody>
      </p:sp>
      <p:sp>
        <p:nvSpPr>
          <p:cNvPr name="TextBox 4" id="4"/>
          <p:cNvSpPr txBox="true"/>
          <p:nvPr/>
        </p:nvSpPr>
        <p:spPr>
          <a:xfrm rot="0">
            <a:off x="16859250" y="442912"/>
            <a:ext cx="514350" cy="238125"/>
          </a:xfrm>
          <a:prstGeom prst="rect">
            <a:avLst/>
          </a:prstGeom>
        </p:spPr>
        <p:txBody>
          <a:bodyPr anchor="t" rtlCol="false" tIns="0" lIns="0" bIns="0" rIns="0">
            <a:spAutoFit/>
          </a:bodyPr>
          <a:lstStyle/>
          <a:p>
            <a:pPr algn="r">
              <a:lnSpc>
                <a:spcPts val="1889"/>
              </a:lnSpc>
            </a:pPr>
            <a:r>
              <a:rPr lang="en-US" sz="1575" b="true">
                <a:solidFill>
                  <a:srgbClr val="FFF6E9"/>
                </a:solidFill>
                <a:latin typeface="Lato Bold"/>
                <a:ea typeface="Lato Bold"/>
                <a:cs typeface="Lato Bold"/>
                <a:sym typeface="Lato Bold"/>
              </a:rPr>
              <a:t>12</a:t>
            </a:r>
          </a:p>
        </p:txBody>
      </p:sp>
      <p:sp>
        <p:nvSpPr>
          <p:cNvPr name="AutoShape 5" id="5"/>
          <p:cNvSpPr/>
          <p:nvPr/>
        </p:nvSpPr>
        <p:spPr>
          <a:xfrm rot="3000">
            <a:off x="907256" y="981075"/>
            <a:ext cx="16473497" cy="0"/>
          </a:xfrm>
          <a:prstGeom prst="line">
            <a:avLst/>
          </a:prstGeom>
          <a:ln cap="rnd" w="9525">
            <a:solidFill>
              <a:srgbClr val="5D3B27"/>
            </a:solidFill>
            <a:prstDash val="solid"/>
            <a:headEnd type="none" len="sm" w="sm"/>
            <a:tailEnd type="none" len="sm" w="sm"/>
          </a:ln>
        </p:spPr>
      </p:sp>
      <p:sp>
        <p:nvSpPr>
          <p:cNvPr name="TextBox 6" id="6"/>
          <p:cNvSpPr txBox="true"/>
          <p:nvPr/>
        </p:nvSpPr>
        <p:spPr>
          <a:xfrm rot="0">
            <a:off x="914400" y="1778794"/>
            <a:ext cx="13516926" cy="590550"/>
          </a:xfrm>
          <a:prstGeom prst="rect">
            <a:avLst/>
          </a:prstGeom>
        </p:spPr>
        <p:txBody>
          <a:bodyPr anchor="t" rtlCol="false" tIns="0" lIns="0" bIns="0" rIns="0">
            <a:spAutoFit/>
          </a:bodyPr>
          <a:lstStyle/>
          <a:p>
            <a:pPr algn="l">
              <a:lnSpc>
                <a:spcPts val="4612"/>
              </a:lnSpc>
            </a:pPr>
            <a:r>
              <a:rPr lang="en-US" sz="3843" b="true">
                <a:solidFill>
                  <a:srgbClr val="FFF6E9"/>
                </a:solidFill>
                <a:latin typeface="Lato Bold"/>
                <a:ea typeface="Lato Bold"/>
                <a:cs typeface="Lato Bold"/>
                <a:sym typeface="Lato Bold"/>
              </a:rPr>
              <a:t>The same learning engine can serve creators and institutions</a:t>
            </a:r>
          </a:p>
        </p:txBody>
      </p:sp>
      <p:sp>
        <p:nvSpPr>
          <p:cNvPr name="TextBox 7" id="7"/>
          <p:cNvSpPr txBox="true"/>
          <p:nvPr/>
        </p:nvSpPr>
        <p:spPr>
          <a:xfrm rot="0">
            <a:off x="1028700" y="2559844"/>
            <a:ext cx="10429875" cy="742950"/>
          </a:xfrm>
          <a:prstGeom prst="rect">
            <a:avLst/>
          </a:prstGeom>
        </p:spPr>
        <p:txBody>
          <a:bodyPr anchor="t" rtlCol="false" tIns="0" lIns="0" bIns="0" rIns="0">
            <a:spAutoFit/>
          </a:bodyPr>
          <a:lstStyle/>
          <a:p>
            <a:pPr algn="l">
              <a:lnSpc>
                <a:spcPts val="2925"/>
              </a:lnSpc>
            </a:pPr>
            <a:r>
              <a:rPr lang="en-US" sz="2437">
                <a:solidFill>
                  <a:srgbClr val="E3CDBB"/>
                </a:solidFill>
                <a:latin typeface="Lato"/>
                <a:ea typeface="Lato"/>
                <a:cs typeface="Lato"/>
                <a:sym typeface="Lato"/>
              </a:rPr>
              <a:t>Bataa can become the infrastructure behind guided practice, not only a destination app.</a:t>
            </a:r>
          </a:p>
        </p:txBody>
      </p:sp>
      <p:grpSp>
        <p:nvGrpSpPr>
          <p:cNvPr name="Group 8" id="8"/>
          <p:cNvGrpSpPr/>
          <p:nvPr/>
        </p:nvGrpSpPr>
        <p:grpSpPr>
          <a:xfrm rot="0">
            <a:off x="1221581" y="4493419"/>
            <a:ext cx="4300538" cy="2014538"/>
            <a:chOff x="0" y="0"/>
            <a:chExt cx="5734050" cy="2686050"/>
          </a:xfrm>
        </p:grpSpPr>
        <p:sp>
          <p:nvSpPr>
            <p:cNvPr name="Freeform 9" id="9"/>
            <p:cNvSpPr/>
            <p:nvPr/>
          </p:nvSpPr>
          <p:spPr>
            <a:xfrm flipH="false" flipV="false" rot="0">
              <a:off x="0" y="0"/>
              <a:ext cx="5734050" cy="2686050"/>
            </a:xfrm>
            <a:custGeom>
              <a:avLst/>
              <a:gdLst/>
              <a:ahLst/>
              <a:cxnLst/>
              <a:rect r="r" b="b" t="t" l="l"/>
              <a:pathLst>
                <a:path h="2686050" w="5734050">
                  <a:moveTo>
                    <a:pt x="0" y="306959"/>
                  </a:moveTo>
                  <a:cubicBezTo>
                    <a:pt x="0" y="137414"/>
                    <a:pt x="137414" y="0"/>
                    <a:pt x="306959" y="0"/>
                  </a:cubicBezTo>
                  <a:lnTo>
                    <a:pt x="5427091" y="0"/>
                  </a:lnTo>
                  <a:cubicBezTo>
                    <a:pt x="5596636" y="0"/>
                    <a:pt x="5734050" y="137414"/>
                    <a:pt x="5734050" y="306959"/>
                  </a:cubicBezTo>
                  <a:lnTo>
                    <a:pt x="5734050" y="2379091"/>
                  </a:lnTo>
                  <a:cubicBezTo>
                    <a:pt x="5734050" y="2548636"/>
                    <a:pt x="5596636" y="2686050"/>
                    <a:pt x="5427091" y="2686050"/>
                  </a:cubicBezTo>
                  <a:lnTo>
                    <a:pt x="306959" y="2686050"/>
                  </a:lnTo>
                  <a:cubicBezTo>
                    <a:pt x="137414" y="2686050"/>
                    <a:pt x="0" y="2548636"/>
                    <a:pt x="0" y="2379091"/>
                  </a:cubicBezTo>
                  <a:close/>
                </a:path>
              </a:pathLst>
            </a:custGeom>
            <a:solidFill>
              <a:srgbClr val="FBEAD4"/>
            </a:solidFill>
            <a:ln w="14288" cap="sq">
              <a:solidFill>
                <a:srgbClr val="FBEAD4"/>
              </a:solidFill>
              <a:prstDash val="solid"/>
              <a:miter/>
            </a:ln>
          </p:spPr>
        </p:sp>
      </p:grpSp>
      <p:sp>
        <p:nvSpPr>
          <p:cNvPr name="TextBox 10" id="10"/>
          <p:cNvSpPr txBox="true"/>
          <p:nvPr/>
        </p:nvSpPr>
        <p:spPr>
          <a:xfrm rot="0">
            <a:off x="1543050" y="4848225"/>
            <a:ext cx="3657600" cy="338137"/>
          </a:xfrm>
          <a:prstGeom prst="rect">
            <a:avLst/>
          </a:prstGeom>
        </p:spPr>
        <p:txBody>
          <a:bodyPr anchor="t" rtlCol="false" tIns="0" lIns="0" bIns="0" rIns="0">
            <a:spAutoFit/>
          </a:bodyPr>
          <a:lstStyle/>
          <a:p>
            <a:pPr algn="l">
              <a:lnSpc>
                <a:spcPts val="1620"/>
              </a:lnSpc>
            </a:pPr>
            <a:r>
              <a:rPr lang="en-US" sz="1350" b="true">
                <a:solidFill>
                  <a:srgbClr val="2D180B"/>
                </a:solidFill>
                <a:latin typeface="Lato Bold"/>
                <a:ea typeface="Lato Bold"/>
                <a:cs typeface="Lato Bold"/>
                <a:sym typeface="Lato Bold"/>
              </a:rPr>
              <a:t>CREATORS + INSTITUTIONS</a:t>
            </a:r>
          </a:p>
        </p:txBody>
      </p:sp>
      <p:sp>
        <p:nvSpPr>
          <p:cNvPr name="TextBox 11" id="11"/>
          <p:cNvSpPr txBox="true"/>
          <p:nvPr/>
        </p:nvSpPr>
        <p:spPr>
          <a:xfrm rot="0">
            <a:off x="1543050" y="5386388"/>
            <a:ext cx="3657600" cy="885825"/>
          </a:xfrm>
          <a:prstGeom prst="rect">
            <a:avLst/>
          </a:prstGeom>
        </p:spPr>
        <p:txBody>
          <a:bodyPr anchor="t" rtlCol="false" tIns="0" lIns="0" bIns="0" rIns="0">
            <a:spAutoFit/>
          </a:bodyPr>
          <a:lstStyle/>
          <a:p>
            <a:pPr algn="l">
              <a:lnSpc>
                <a:spcPts val="2970"/>
              </a:lnSpc>
            </a:pPr>
            <a:r>
              <a:rPr lang="en-US" sz="2475" b="true">
                <a:solidFill>
                  <a:srgbClr val="2D180B"/>
                </a:solidFill>
                <a:latin typeface="Lato Bold"/>
                <a:ea typeface="Lato Bold"/>
                <a:cs typeface="Lato Bold"/>
                <a:sym typeface="Lato Bold"/>
              </a:rPr>
              <a:t>Publish a course or training path</a:t>
            </a:r>
          </a:p>
        </p:txBody>
      </p:sp>
      <p:grpSp>
        <p:nvGrpSpPr>
          <p:cNvPr name="Group 12" id="12"/>
          <p:cNvGrpSpPr/>
          <p:nvPr/>
        </p:nvGrpSpPr>
        <p:grpSpPr>
          <a:xfrm rot="0">
            <a:off x="6993731" y="4064794"/>
            <a:ext cx="4443412" cy="2871788"/>
            <a:chOff x="0" y="0"/>
            <a:chExt cx="5924550" cy="3829050"/>
          </a:xfrm>
        </p:grpSpPr>
        <p:sp>
          <p:nvSpPr>
            <p:cNvPr name="Freeform 13" id="13"/>
            <p:cNvSpPr/>
            <p:nvPr/>
          </p:nvSpPr>
          <p:spPr>
            <a:xfrm flipH="false" flipV="false" rot="0">
              <a:off x="0" y="0"/>
              <a:ext cx="5924550" cy="3829050"/>
            </a:xfrm>
            <a:custGeom>
              <a:avLst/>
              <a:gdLst/>
              <a:ahLst/>
              <a:cxnLst/>
              <a:rect r="r" b="b" t="t" l="l"/>
              <a:pathLst>
                <a:path h="3829050" w="5924550">
                  <a:moveTo>
                    <a:pt x="0" y="306324"/>
                  </a:moveTo>
                  <a:cubicBezTo>
                    <a:pt x="0" y="137160"/>
                    <a:pt x="137160" y="0"/>
                    <a:pt x="306324" y="0"/>
                  </a:cubicBezTo>
                  <a:lnTo>
                    <a:pt x="5618226" y="0"/>
                  </a:lnTo>
                  <a:cubicBezTo>
                    <a:pt x="5787390" y="0"/>
                    <a:pt x="5924550" y="137160"/>
                    <a:pt x="5924550" y="306324"/>
                  </a:cubicBezTo>
                  <a:lnTo>
                    <a:pt x="5924550" y="3522726"/>
                  </a:lnTo>
                  <a:cubicBezTo>
                    <a:pt x="5924550" y="3691890"/>
                    <a:pt x="5787390" y="3829050"/>
                    <a:pt x="5618226" y="3829050"/>
                  </a:cubicBezTo>
                  <a:lnTo>
                    <a:pt x="306324" y="3829050"/>
                  </a:lnTo>
                  <a:cubicBezTo>
                    <a:pt x="137160" y="3829050"/>
                    <a:pt x="0" y="3691890"/>
                    <a:pt x="0" y="3522726"/>
                  </a:cubicBezTo>
                  <a:close/>
                </a:path>
              </a:pathLst>
            </a:custGeom>
            <a:solidFill>
              <a:srgbClr val="FF8500"/>
            </a:solidFill>
            <a:ln w="14288" cap="sq">
              <a:solidFill>
                <a:srgbClr val="FF8500"/>
              </a:solidFill>
              <a:prstDash val="solid"/>
              <a:miter/>
            </a:ln>
          </p:spPr>
        </p:sp>
      </p:grpSp>
      <p:sp>
        <p:nvSpPr>
          <p:cNvPr name="TextBox 14" id="14"/>
          <p:cNvSpPr txBox="true"/>
          <p:nvPr/>
        </p:nvSpPr>
        <p:spPr>
          <a:xfrm rot="0">
            <a:off x="7315200" y="4419600"/>
            <a:ext cx="3800475" cy="338137"/>
          </a:xfrm>
          <a:prstGeom prst="rect">
            <a:avLst/>
          </a:prstGeom>
        </p:spPr>
        <p:txBody>
          <a:bodyPr anchor="t" rtlCol="false" tIns="0" lIns="0" bIns="0" rIns="0">
            <a:spAutoFit/>
          </a:bodyPr>
          <a:lstStyle/>
          <a:p>
            <a:pPr algn="l">
              <a:lnSpc>
                <a:spcPts val="1620"/>
              </a:lnSpc>
            </a:pPr>
            <a:r>
              <a:rPr lang="en-US" sz="1350" b="true">
                <a:solidFill>
                  <a:srgbClr val="2D180B"/>
                </a:solidFill>
                <a:latin typeface="Lato Bold"/>
                <a:ea typeface="Lato Bold"/>
                <a:cs typeface="Lato Bold"/>
                <a:sym typeface="Lato Bold"/>
              </a:rPr>
              <a:t>BATAA ENGINE</a:t>
            </a:r>
          </a:p>
        </p:txBody>
      </p:sp>
      <p:sp>
        <p:nvSpPr>
          <p:cNvPr name="TextBox 15" id="15"/>
          <p:cNvSpPr txBox="true"/>
          <p:nvPr/>
        </p:nvSpPr>
        <p:spPr>
          <a:xfrm rot="0">
            <a:off x="7315200" y="4957762"/>
            <a:ext cx="3800475" cy="1743075"/>
          </a:xfrm>
          <a:prstGeom prst="rect">
            <a:avLst/>
          </a:prstGeom>
        </p:spPr>
        <p:txBody>
          <a:bodyPr anchor="t" rtlCol="false" tIns="0" lIns="0" bIns="0" rIns="0">
            <a:spAutoFit/>
          </a:bodyPr>
          <a:lstStyle/>
          <a:p>
            <a:pPr algn="l">
              <a:lnSpc>
                <a:spcPts val="2970"/>
              </a:lnSpc>
            </a:pPr>
            <a:r>
              <a:rPr lang="en-US" sz="2475" b="true">
                <a:solidFill>
                  <a:srgbClr val="2D180B"/>
                </a:solidFill>
                <a:latin typeface="Lato Bold"/>
                <a:ea typeface="Lato Bold"/>
                <a:cs typeface="Lato Bold"/>
                <a:sym typeface="Lato Bold"/>
              </a:rPr>
              <a:t>Guided tasks, feedback, progress, AI context</a:t>
            </a:r>
          </a:p>
        </p:txBody>
      </p:sp>
      <p:grpSp>
        <p:nvGrpSpPr>
          <p:cNvPr name="Group 16" id="16"/>
          <p:cNvGrpSpPr/>
          <p:nvPr/>
        </p:nvGrpSpPr>
        <p:grpSpPr>
          <a:xfrm rot="0">
            <a:off x="12851606" y="3493294"/>
            <a:ext cx="4014788" cy="2014538"/>
            <a:chOff x="0" y="0"/>
            <a:chExt cx="5353050" cy="2686050"/>
          </a:xfrm>
        </p:grpSpPr>
        <p:sp>
          <p:nvSpPr>
            <p:cNvPr name="Freeform 17" id="17"/>
            <p:cNvSpPr/>
            <p:nvPr/>
          </p:nvSpPr>
          <p:spPr>
            <a:xfrm flipH="false" flipV="false" rot="0">
              <a:off x="0" y="0"/>
              <a:ext cx="5353050" cy="2686050"/>
            </a:xfrm>
            <a:custGeom>
              <a:avLst/>
              <a:gdLst/>
              <a:ahLst/>
              <a:cxnLst/>
              <a:rect r="r" b="b" t="t" l="l"/>
              <a:pathLst>
                <a:path h="2686050" w="5353050">
                  <a:moveTo>
                    <a:pt x="0" y="306959"/>
                  </a:moveTo>
                  <a:cubicBezTo>
                    <a:pt x="0" y="137414"/>
                    <a:pt x="137414" y="0"/>
                    <a:pt x="306959" y="0"/>
                  </a:cubicBezTo>
                  <a:lnTo>
                    <a:pt x="5046091" y="0"/>
                  </a:lnTo>
                  <a:cubicBezTo>
                    <a:pt x="5215636" y="0"/>
                    <a:pt x="5353050" y="137414"/>
                    <a:pt x="5353050" y="306959"/>
                  </a:cubicBezTo>
                  <a:lnTo>
                    <a:pt x="5353050" y="2379091"/>
                  </a:lnTo>
                  <a:cubicBezTo>
                    <a:pt x="5353050" y="2548636"/>
                    <a:pt x="5215636" y="2686050"/>
                    <a:pt x="5046091" y="2686050"/>
                  </a:cubicBezTo>
                  <a:lnTo>
                    <a:pt x="306959" y="2686050"/>
                  </a:lnTo>
                  <a:cubicBezTo>
                    <a:pt x="137414" y="2686050"/>
                    <a:pt x="0" y="2548636"/>
                    <a:pt x="0" y="2379091"/>
                  </a:cubicBezTo>
                  <a:close/>
                </a:path>
              </a:pathLst>
            </a:custGeom>
            <a:solidFill>
              <a:srgbClr val="FBEAD4"/>
            </a:solidFill>
            <a:ln w="14288" cap="sq">
              <a:solidFill>
                <a:srgbClr val="FBEAD4"/>
              </a:solidFill>
              <a:prstDash val="solid"/>
              <a:miter/>
            </a:ln>
          </p:spPr>
        </p:sp>
      </p:grpSp>
      <p:sp>
        <p:nvSpPr>
          <p:cNvPr name="TextBox 18" id="18"/>
          <p:cNvSpPr txBox="true"/>
          <p:nvPr/>
        </p:nvSpPr>
        <p:spPr>
          <a:xfrm rot="0">
            <a:off x="13173075" y="3848100"/>
            <a:ext cx="3371850" cy="338137"/>
          </a:xfrm>
          <a:prstGeom prst="rect">
            <a:avLst/>
          </a:prstGeom>
        </p:spPr>
        <p:txBody>
          <a:bodyPr anchor="t" rtlCol="false" tIns="0" lIns="0" bIns="0" rIns="0">
            <a:spAutoFit/>
          </a:bodyPr>
          <a:lstStyle/>
          <a:p>
            <a:pPr algn="l">
              <a:lnSpc>
                <a:spcPts val="1620"/>
              </a:lnSpc>
            </a:pPr>
            <a:r>
              <a:rPr lang="en-US" sz="1350" b="true">
                <a:solidFill>
                  <a:srgbClr val="2D180B"/>
                </a:solidFill>
                <a:latin typeface="Lato Bold"/>
                <a:ea typeface="Lato Bold"/>
                <a:cs typeface="Lato Bold"/>
                <a:sym typeface="Lato Bold"/>
              </a:rPr>
              <a:t>LEARNERS</a:t>
            </a:r>
          </a:p>
        </p:txBody>
      </p:sp>
      <p:sp>
        <p:nvSpPr>
          <p:cNvPr name="TextBox 19" id="19"/>
          <p:cNvSpPr txBox="true"/>
          <p:nvPr/>
        </p:nvSpPr>
        <p:spPr>
          <a:xfrm rot="0">
            <a:off x="13173075" y="4386262"/>
            <a:ext cx="3371850" cy="885825"/>
          </a:xfrm>
          <a:prstGeom prst="rect">
            <a:avLst/>
          </a:prstGeom>
        </p:spPr>
        <p:txBody>
          <a:bodyPr anchor="t" rtlCol="false" tIns="0" lIns="0" bIns="0" rIns="0">
            <a:spAutoFit/>
          </a:bodyPr>
          <a:lstStyle/>
          <a:p>
            <a:pPr algn="l">
              <a:lnSpc>
                <a:spcPts val="2970"/>
              </a:lnSpc>
            </a:pPr>
            <a:r>
              <a:rPr lang="en-US" sz="2475" b="true">
                <a:solidFill>
                  <a:srgbClr val="2D180B"/>
                </a:solidFill>
                <a:latin typeface="Lato Bold"/>
                <a:ea typeface="Lato Bold"/>
                <a:cs typeface="Lato Bold"/>
                <a:sym typeface="Lato Bold"/>
              </a:rPr>
              <a:t>Buy, practice, and finish the skill</a:t>
            </a:r>
          </a:p>
        </p:txBody>
      </p:sp>
      <p:sp>
        <p:nvSpPr>
          <p:cNvPr name="AutoShape 20" id="20"/>
          <p:cNvSpPr/>
          <p:nvPr/>
        </p:nvSpPr>
        <p:spPr>
          <a:xfrm flipV="true">
            <a:off x="11372735" y="4514825"/>
            <a:ext cx="1543281" cy="971600"/>
          </a:xfrm>
          <a:prstGeom prst="line">
            <a:avLst/>
          </a:prstGeom>
          <a:ln cap="rnd" w="28575">
            <a:solidFill>
              <a:srgbClr val="FFD5A3"/>
            </a:solidFill>
            <a:prstDash val="solid"/>
            <a:headEnd type="none" len="sm" w="sm"/>
            <a:tailEnd type="none" len="sm" w="sm"/>
          </a:ln>
        </p:spPr>
      </p:sp>
      <p:sp>
        <p:nvSpPr>
          <p:cNvPr name="AutoShape 21" id="21"/>
          <p:cNvSpPr/>
          <p:nvPr/>
        </p:nvSpPr>
        <p:spPr>
          <a:xfrm rot="3131040">
            <a:off x="10932633" y="6415088"/>
            <a:ext cx="2423493" cy="0"/>
          </a:xfrm>
          <a:prstGeom prst="line">
            <a:avLst/>
          </a:prstGeom>
          <a:ln cap="rnd" w="28575">
            <a:solidFill>
              <a:srgbClr val="FFD5A3"/>
            </a:solidFill>
            <a:prstDash val="solid"/>
            <a:headEnd type="none" len="sm" w="sm"/>
            <a:tailEnd type="none" len="sm" w="sm"/>
          </a:ln>
        </p:spPr>
      </p:sp>
      <p:grpSp>
        <p:nvGrpSpPr>
          <p:cNvPr name="Group 22" id="22"/>
          <p:cNvGrpSpPr/>
          <p:nvPr/>
        </p:nvGrpSpPr>
        <p:grpSpPr>
          <a:xfrm rot="0">
            <a:off x="12851606" y="6350794"/>
            <a:ext cx="4014788" cy="2014538"/>
            <a:chOff x="0" y="0"/>
            <a:chExt cx="5353050" cy="2686050"/>
          </a:xfrm>
        </p:grpSpPr>
        <p:sp>
          <p:nvSpPr>
            <p:cNvPr name="Freeform 23" id="23"/>
            <p:cNvSpPr/>
            <p:nvPr/>
          </p:nvSpPr>
          <p:spPr>
            <a:xfrm flipH="false" flipV="false" rot="0">
              <a:off x="0" y="0"/>
              <a:ext cx="5353050" cy="2686050"/>
            </a:xfrm>
            <a:custGeom>
              <a:avLst/>
              <a:gdLst/>
              <a:ahLst/>
              <a:cxnLst/>
              <a:rect r="r" b="b" t="t" l="l"/>
              <a:pathLst>
                <a:path h="2686050" w="5353050">
                  <a:moveTo>
                    <a:pt x="0" y="306959"/>
                  </a:moveTo>
                  <a:cubicBezTo>
                    <a:pt x="0" y="137414"/>
                    <a:pt x="137414" y="0"/>
                    <a:pt x="306959" y="0"/>
                  </a:cubicBezTo>
                  <a:lnTo>
                    <a:pt x="5046091" y="0"/>
                  </a:lnTo>
                  <a:cubicBezTo>
                    <a:pt x="5215636" y="0"/>
                    <a:pt x="5353050" y="137414"/>
                    <a:pt x="5353050" y="306959"/>
                  </a:cubicBezTo>
                  <a:lnTo>
                    <a:pt x="5353050" y="2379091"/>
                  </a:lnTo>
                  <a:cubicBezTo>
                    <a:pt x="5353050" y="2548636"/>
                    <a:pt x="5215636" y="2686050"/>
                    <a:pt x="5046091" y="2686050"/>
                  </a:cubicBezTo>
                  <a:lnTo>
                    <a:pt x="306959" y="2686050"/>
                  </a:lnTo>
                  <a:cubicBezTo>
                    <a:pt x="137414" y="2686050"/>
                    <a:pt x="0" y="2548636"/>
                    <a:pt x="0" y="2379091"/>
                  </a:cubicBezTo>
                  <a:close/>
                </a:path>
              </a:pathLst>
            </a:custGeom>
            <a:solidFill>
              <a:srgbClr val="BBA9E4"/>
            </a:solidFill>
            <a:ln w="14288" cap="sq">
              <a:solidFill>
                <a:srgbClr val="BBA9E4"/>
              </a:solidFill>
              <a:prstDash val="solid"/>
              <a:miter/>
            </a:ln>
          </p:spPr>
        </p:sp>
      </p:grpSp>
      <p:sp>
        <p:nvSpPr>
          <p:cNvPr name="TextBox 24" id="24"/>
          <p:cNvSpPr txBox="true"/>
          <p:nvPr/>
        </p:nvSpPr>
        <p:spPr>
          <a:xfrm rot="0">
            <a:off x="13173075" y="6705600"/>
            <a:ext cx="3371850" cy="338137"/>
          </a:xfrm>
          <a:prstGeom prst="rect">
            <a:avLst/>
          </a:prstGeom>
        </p:spPr>
        <p:txBody>
          <a:bodyPr anchor="t" rtlCol="false" tIns="0" lIns="0" bIns="0" rIns="0">
            <a:spAutoFit/>
          </a:bodyPr>
          <a:lstStyle/>
          <a:p>
            <a:pPr algn="l">
              <a:lnSpc>
                <a:spcPts val="1620"/>
              </a:lnSpc>
            </a:pPr>
            <a:r>
              <a:rPr lang="en-US" sz="1350" b="true">
                <a:solidFill>
                  <a:srgbClr val="2D180B"/>
                </a:solidFill>
                <a:latin typeface="Lato Bold"/>
                <a:ea typeface="Lato Bold"/>
                <a:cs typeface="Lato Bold"/>
                <a:sym typeface="Lato Bold"/>
              </a:rPr>
              <a:t>IDE / PRODUCT API</a:t>
            </a:r>
          </a:p>
        </p:txBody>
      </p:sp>
      <p:sp>
        <p:nvSpPr>
          <p:cNvPr name="TextBox 25" id="25"/>
          <p:cNvSpPr txBox="true"/>
          <p:nvPr/>
        </p:nvSpPr>
        <p:spPr>
          <a:xfrm rot="0">
            <a:off x="13173075" y="7243762"/>
            <a:ext cx="3371850" cy="885825"/>
          </a:xfrm>
          <a:prstGeom prst="rect">
            <a:avLst/>
          </a:prstGeom>
        </p:spPr>
        <p:txBody>
          <a:bodyPr anchor="t" rtlCol="false" tIns="0" lIns="0" bIns="0" rIns="0">
            <a:spAutoFit/>
          </a:bodyPr>
          <a:lstStyle/>
          <a:p>
            <a:pPr algn="l">
              <a:lnSpc>
                <a:spcPts val="2970"/>
              </a:lnSpc>
            </a:pPr>
            <a:r>
              <a:rPr lang="en-US" sz="2475" b="true">
                <a:solidFill>
                  <a:srgbClr val="2D180B"/>
                </a:solidFill>
                <a:latin typeface="Lato Bold"/>
                <a:ea typeface="Lato Bold"/>
                <a:cs typeface="Lato Bold"/>
                <a:sym typeface="Lato Bold"/>
              </a:rPr>
              <a:t>Bring the tutor into another workflow</a:t>
            </a:r>
          </a:p>
        </p:txBody>
      </p:sp>
      <p:sp>
        <p:nvSpPr>
          <p:cNvPr name="AutoShape 26" id="26"/>
          <p:cNvSpPr/>
          <p:nvPr/>
        </p:nvSpPr>
        <p:spPr>
          <a:xfrm>
            <a:off x="5485867" y="5500688"/>
            <a:ext cx="1544107" cy="0"/>
          </a:xfrm>
          <a:prstGeom prst="line">
            <a:avLst/>
          </a:prstGeom>
          <a:ln cap="rnd" w="28575">
            <a:solidFill>
              <a:srgbClr val="FFD5A3"/>
            </a:solidFill>
            <a:prstDash val="solid"/>
            <a:headEnd type="none" len="sm" w="sm"/>
            <a:tailEnd type="none" len="sm" w="sm"/>
          </a:ln>
        </p:spPr>
      </p:sp>
      <p:grpSp>
        <p:nvGrpSpPr>
          <p:cNvPr name="Group 27" id="27"/>
          <p:cNvGrpSpPr/>
          <p:nvPr/>
        </p:nvGrpSpPr>
        <p:grpSpPr>
          <a:xfrm rot="0">
            <a:off x="971550" y="9001125"/>
            <a:ext cx="2357438" cy="400050"/>
            <a:chOff x="0" y="0"/>
            <a:chExt cx="3143250" cy="533400"/>
          </a:xfrm>
        </p:grpSpPr>
        <p:sp>
          <p:nvSpPr>
            <p:cNvPr name="Freeform 28" id="28"/>
            <p:cNvSpPr/>
            <p:nvPr/>
          </p:nvSpPr>
          <p:spPr>
            <a:xfrm flipH="false" flipV="false" rot="0">
              <a:off x="0" y="0"/>
              <a:ext cx="3143250" cy="533400"/>
            </a:xfrm>
            <a:custGeom>
              <a:avLst/>
              <a:gdLst/>
              <a:ahLst/>
              <a:cxnLst/>
              <a:rect r="r" b="b" t="t" l="l"/>
              <a:pathLst>
                <a:path h="533400" w="3143250">
                  <a:moveTo>
                    <a:pt x="0" y="266700"/>
                  </a:moveTo>
                  <a:cubicBezTo>
                    <a:pt x="0" y="119380"/>
                    <a:pt x="119380" y="0"/>
                    <a:pt x="266700" y="0"/>
                  </a:cubicBezTo>
                  <a:lnTo>
                    <a:pt x="2876550" y="0"/>
                  </a:lnTo>
                  <a:cubicBezTo>
                    <a:pt x="3023870" y="0"/>
                    <a:pt x="3143250" y="119380"/>
                    <a:pt x="3143250" y="266700"/>
                  </a:cubicBezTo>
                  <a:cubicBezTo>
                    <a:pt x="3143250" y="414020"/>
                    <a:pt x="3023870" y="533400"/>
                    <a:pt x="2876550" y="533400"/>
                  </a:cubicBezTo>
                  <a:lnTo>
                    <a:pt x="266700" y="533400"/>
                  </a:lnTo>
                  <a:cubicBezTo>
                    <a:pt x="119380" y="533400"/>
                    <a:pt x="0" y="414020"/>
                    <a:pt x="0" y="266700"/>
                  </a:cubicBezTo>
                  <a:close/>
                </a:path>
              </a:pathLst>
            </a:custGeom>
            <a:solidFill>
              <a:srgbClr val="FF8500"/>
            </a:solidFill>
            <a:ln cap="sq">
              <a:noFill/>
              <a:prstDash val="solid"/>
              <a:miter/>
            </a:ln>
          </p:spPr>
        </p:sp>
        <p:sp>
          <p:nvSpPr>
            <p:cNvPr name="TextBox 29" id="29"/>
            <p:cNvSpPr txBox="true"/>
            <p:nvPr/>
          </p:nvSpPr>
          <p:spPr>
            <a:xfrm>
              <a:off x="0" y="0"/>
              <a:ext cx="3143250" cy="533400"/>
            </a:xfrm>
            <a:prstGeom prst="rect">
              <a:avLst/>
            </a:prstGeom>
          </p:spPr>
          <p:txBody>
            <a:bodyPr anchor="ctr" rtlCol="false" tIns="50800" lIns="50800" bIns="50800" rIns="50800"/>
            <a:lstStyle/>
            <a:p>
              <a:pPr algn="ctr">
                <a:lnSpc>
                  <a:spcPts val="1733"/>
                </a:lnSpc>
              </a:pPr>
              <a:r>
                <a:rPr lang="en-US" sz="1444" b="true">
                  <a:solidFill>
                    <a:srgbClr val="FFFFFF"/>
                  </a:solidFill>
                  <a:latin typeface="Lato Bold"/>
                  <a:ea typeface="Lato Bold"/>
                  <a:cs typeface="Lato Bold"/>
                  <a:sym typeface="Lato Bold"/>
                </a:rPr>
                <a:t>PLANNED EXPANSION</a:t>
              </a:r>
            </a:p>
          </p:txBody>
        </p:sp>
      </p:grpSp>
      <p:sp>
        <p:nvSpPr>
          <p:cNvPr name="TextBox 30" id="30"/>
          <p:cNvSpPr txBox="true"/>
          <p:nvPr/>
        </p:nvSpPr>
        <p:spPr>
          <a:xfrm rot="0">
            <a:off x="3600450" y="9058275"/>
            <a:ext cx="11144250" cy="285750"/>
          </a:xfrm>
          <a:prstGeom prst="rect">
            <a:avLst/>
          </a:prstGeom>
        </p:spPr>
        <p:txBody>
          <a:bodyPr anchor="t" rtlCol="false" tIns="0" lIns="0" bIns="0" rIns="0">
            <a:spAutoFit/>
          </a:bodyPr>
          <a:lstStyle/>
          <a:p>
            <a:pPr algn="l">
              <a:lnSpc>
                <a:spcPts val="1889"/>
              </a:lnSpc>
            </a:pPr>
            <a:r>
              <a:rPr lang="en-US" sz="1575">
                <a:solidFill>
                  <a:srgbClr val="D8BBA4"/>
                </a:solidFill>
                <a:latin typeface="Lato"/>
                <a:ea typeface="Lato"/>
                <a:cs typeface="Lato"/>
                <a:sym typeface="Lato"/>
              </a:rPr>
              <a:t>Commission on course sales plus API licensing for organizations and tools.</a:t>
            </a:r>
          </a:p>
        </p:txBody>
      </p:sp>
      <p:sp>
        <p:nvSpPr>
          <p:cNvPr name="TextBox 31" id="31"/>
          <p:cNvSpPr txBox="true"/>
          <p:nvPr/>
        </p:nvSpPr>
        <p:spPr>
          <a:xfrm rot="0">
            <a:off x="914400" y="9744075"/>
            <a:ext cx="13144500" cy="257175"/>
          </a:xfrm>
          <a:prstGeom prst="rect">
            <a:avLst/>
          </a:prstGeom>
        </p:spPr>
        <p:txBody>
          <a:bodyPr anchor="t" rtlCol="false" tIns="0" lIns="0" bIns="0" rIns="0">
            <a:spAutoFit/>
          </a:bodyPr>
          <a:lstStyle/>
          <a:p>
            <a:pPr algn="l">
              <a:lnSpc>
                <a:spcPts val="1485"/>
              </a:lnSpc>
            </a:pPr>
            <a:r>
              <a:rPr lang="en-US" sz="1237">
                <a:solidFill>
                  <a:srgbClr val="C9A98C"/>
                </a:solidFill>
                <a:latin typeface="Lato"/>
                <a:ea typeface="Lato"/>
                <a:cs typeface="Lato"/>
                <a:sym typeface="Lato"/>
              </a:rPr>
              <a:t>Platform architecture · future revenue paths</a:t>
            </a:r>
          </a:p>
        </p:txBody>
      </p:sp>
    </p:spTree>
  </p:cSld>
  <p:clrMapOvr>
    <a:masterClrMapping/>
  </p:clrMapOvr>
</p:sld>
</file>

<file path=ppt/slides/slide13.xml><?xml version="1.0" encoding="utf-8"?>
<p:sld xmlns:p="http://schemas.openxmlformats.org/presentationml/2006/main" xmlns:a="http://schemas.openxmlformats.org/drawingml/2006/main">
  <p:cSld>
    <p:bg>
      <p:bgPr>
        <a:solidFill>
          <a:srgbClr val="1B100B"/>
        </a:solidFill>
      </p:bgPr>
    </p:bg>
    <p:spTree>
      <p:nvGrpSpPr>
        <p:cNvPr id="1" name=""/>
        <p:cNvGrpSpPr/>
        <p:nvPr/>
      </p:nvGrpSpPr>
      <p:grpSpPr>
        <a:xfrm>
          <a:off x="0" y="0"/>
          <a:ext cx="0" cy="0"/>
          <a:chOff x="0" y="0"/>
          <a:chExt cx="0" cy="0"/>
        </a:xfrm>
      </p:grpSpPr>
      <p:sp>
        <p:nvSpPr>
          <p:cNvPr name="TextBox 2" id="2"/>
          <p:cNvSpPr txBox="true"/>
          <p:nvPr/>
        </p:nvSpPr>
        <p:spPr>
          <a:xfrm rot="0">
            <a:off x="914400" y="390525"/>
            <a:ext cx="1857375" cy="466725"/>
          </a:xfrm>
          <a:prstGeom prst="rect">
            <a:avLst/>
          </a:prstGeom>
        </p:spPr>
        <p:txBody>
          <a:bodyPr anchor="t" rtlCol="false" tIns="0" lIns="0" bIns="0" rIns="0">
            <a:spAutoFit/>
          </a:bodyPr>
          <a:lstStyle/>
          <a:p>
            <a:pPr algn="l">
              <a:lnSpc>
                <a:spcPts val="3104"/>
              </a:lnSpc>
            </a:pPr>
            <a:r>
              <a:rPr lang="en-US" sz="2587" b="true">
                <a:solidFill>
                  <a:srgbClr val="FF8500"/>
                </a:solidFill>
                <a:latin typeface="Lato Bold"/>
                <a:ea typeface="Lato Bold"/>
                <a:cs typeface="Lato Bold"/>
                <a:sym typeface="Lato Bold"/>
              </a:rPr>
              <a:t>bataa</a:t>
            </a:r>
          </a:p>
        </p:txBody>
      </p:sp>
      <p:sp>
        <p:nvSpPr>
          <p:cNvPr name="TextBox 3" id="3"/>
          <p:cNvSpPr txBox="true"/>
          <p:nvPr/>
        </p:nvSpPr>
        <p:spPr>
          <a:xfrm rot="0">
            <a:off x="3171825" y="461963"/>
            <a:ext cx="6000750" cy="323850"/>
          </a:xfrm>
          <a:prstGeom prst="rect">
            <a:avLst/>
          </a:prstGeom>
        </p:spPr>
        <p:txBody>
          <a:bodyPr anchor="t" rtlCol="false" tIns="0" lIns="0" bIns="0" rIns="0">
            <a:spAutoFit/>
          </a:bodyPr>
          <a:lstStyle/>
          <a:p>
            <a:pPr algn="l">
              <a:lnSpc>
                <a:spcPts val="1620"/>
              </a:lnSpc>
            </a:pPr>
            <a:r>
              <a:rPr lang="en-US" sz="1350" b="true">
                <a:solidFill>
                  <a:srgbClr val="D7BDA9"/>
                </a:solidFill>
                <a:latin typeface="Lato Bold"/>
                <a:ea typeface="Lato Bold"/>
                <a:cs typeface="Lato Bold"/>
                <a:sym typeface="Lato Bold"/>
              </a:rPr>
              <a:t>TEAM</a:t>
            </a:r>
          </a:p>
        </p:txBody>
      </p:sp>
      <p:sp>
        <p:nvSpPr>
          <p:cNvPr name="TextBox 4" id="4"/>
          <p:cNvSpPr txBox="true"/>
          <p:nvPr/>
        </p:nvSpPr>
        <p:spPr>
          <a:xfrm rot="0">
            <a:off x="16859250" y="442912"/>
            <a:ext cx="514350" cy="238125"/>
          </a:xfrm>
          <a:prstGeom prst="rect">
            <a:avLst/>
          </a:prstGeom>
        </p:spPr>
        <p:txBody>
          <a:bodyPr anchor="t" rtlCol="false" tIns="0" lIns="0" bIns="0" rIns="0">
            <a:spAutoFit/>
          </a:bodyPr>
          <a:lstStyle/>
          <a:p>
            <a:pPr algn="r">
              <a:lnSpc>
                <a:spcPts val="1889"/>
              </a:lnSpc>
            </a:pPr>
            <a:r>
              <a:rPr lang="en-US" sz="1575" b="true">
                <a:solidFill>
                  <a:srgbClr val="FFF6E9"/>
                </a:solidFill>
                <a:latin typeface="Lato Bold"/>
                <a:ea typeface="Lato Bold"/>
                <a:cs typeface="Lato Bold"/>
                <a:sym typeface="Lato Bold"/>
              </a:rPr>
              <a:t>13</a:t>
            </a:r>
          </a:p>
        </p:txBody>
      </p:sp>
      <p:sp>
        <p:nvSpPr>
          <p:cNvPr name="AutoShape 5" id="5"/>
          <p:cNvSpPr/>
          <p:nvPr/>
        </p:nvSpPr>
        <p:spPr>
          <a:xfrm rot="3000">
            <a:off x="907256" y="981075"/>
            <a:ext cx="16473497" cy="0"/>
          </a:xfrm>
          <a:prstGeom prst="line">
            <a:avLst/>
          </a:prstGeom>
          <a:ln cap="rnd" w="9525">
            <a:solidFill>
              <a:srgbClr val="5D3B27"/>
            </a:solidFill>
            <a:prstDash val="solid"/>
            <a:headEnd type="none" len="sm" w="sm"/>
            <a:tailEnd type="none" len="sm" w="sm"/>
          </a:ln>
        </p:spPr>
      </p:sp>
      <p:sp>
        <p:nvSpPr>
          <p:cNvPr name="TextBox 6" id="6"/>
          <p:cNvSpPr txBox="true"/>
          <p:nvPr/>
        </p:nvSpPr>
        <p:spPr>
          <a:xfrm rot="0">
            <a:off x="914400" y="1476375"/>
            <a:ext cx="12858750" cy="1181100"/>
          </a:xfrm>
          <a:prstGeom prst="rect">
            <a:avLst/>
          </a:prstGeom>
        </p:spPr>
        <p:txBody>
          <a:bodyPr anchor="t" rtlCol="false" tIns="0" lIns="0" bIns="0" rIns="0">
            <a:spAutoFit/>
          </a:bodyPr>
          <a:lstStyle/>
          <a:p>
            <a:pPr algn="l">
              <a:lnSpc>
                <a:spcPts val="6750"/>
              </a:lnSpc>
            </a:pPr>
            <a:r>
              <a:rPr lang="en-US" sz="5625" b="true">
                <a:solidFill>
                  <a:srgbClr val="FFF6E9"/>
                </a:solidFill>
                <a:latin typeface="Lato Bold"/>
                <a:ea typeface="Lato Bold"/>
                <a:cs typeface="Lato Bold"/>
                <a:sym typeface="Lato Bold"/>
              </a:rPr>
              <a:t>The team built the core surfaces</a:t>
            </a:r>
          </a:p>
        </p:txBody>
      </p:sp>
      <p:sp>
        <p:nvSpPr>
          <p:cNvPr name="TextBox 7" id="7"/>
          <p:cNvSpPr txBox="true"/>
          <p:nvPr/>
        </p:nvSpPr>
        <p:spPr>
          <a:xfrm rot="0">
            <a:off x="957262" y="2455069"/>
            <a:ext cx="10429875" cy="742950"/>
          </a:xfrm>
          <a:prstGeom prst="rect">
            <a:avLst/>
          </a:prstGeom>
        </p:spPr>
        <p:txBody>
          <a:bodyPr anchor="t" rtlCol="false" tIns="0" lIns="0" bIns="0" rIns="0">
            <a:spAutoFit/>
          </a:bodyPr>
          <a:lstStyle/>
          <a:p>
            <a:pPr algn="l">
              <a:lnSpc>
                <a:spcPts val="2970"/>
              </a:lnSpc>
            </a:pPr>
            <a:r>
              <a:rPr lang="en-US" sz="2475">
                <a:solidFill>
                  <a:srgbClr val="E3CDBB"/>
                </a:solidFill>
                <a:latin typeface="Lato"/>
                <a:ea typeface="Lato"/>
                <a:cs typeface="Lato"/>
                <a:sym typeface="Lato"/>
              </a:rPr>
              <a:t>The product is split across the places where the learner meets Bataa.</a:t>
            </a:r>
          </a:p>
        </p:txBody>
      </p:sp>
      <p:grpSp>
        <p:nvGrpSpPr>
          <p:cNvPr name="Group 8" id="8"/>
          <p:cNvGrpSpPr/>
          <p:nvPr/>
        </p:nvGrpSpPr>
        <p:grpSpPr>
          <a:xfrm rot="0">
            <a:off x="992981" y="4064794"/>
            <a:ext cx="4943475" cy="3729038"/>
            <a:chOff x="0" y="0"/>
            <a:chExt cx="6591300" cy="4972050"/>
          </a:xfrm>
        </p:grpSpPr>
        <p:sp>
          <p:nvSpPr>
            <p:cNvPr name="Freeform 9" id="9"/>
            <p:cNvSpPr/>
            <p:nvPr/>
          </p:nvSpPr>
          <p:spPr>
            <a:xfrm flipH="false" flipV="false" rot="0">
              <a:off x="0" y="0"/>
              <a:ext cx="6591300" cy="4972050"/>
            </a:xfrm>
            <a:custGeom>
              <a:avLst/>
              <a:gdLst/>
              <a:ahLst/>
              <a:cxnLst/>
              <a:rect r="r" b="b" t="t" l="l"/>
              <a:pathLst>
                <a:path h="4972050" w="6591300">
                  <a:moveTo>
                    <a:pt x="0" y="305943"/>
                  </a:moveTo>
                  <a:cubicBezTo>
                    <a:pt x="0" y="137033"/>
                    <a:pt x="137033" y="0"/>
                    <a:pt x="305943" y="0"/>
                  </a:cubicBezTo>
                  <a:lnTo>
                    <a:pt x="6285357" y="0"/>
                  </a:lnTo>
                  <a:cubicBezTo>
                    <a:pt x="6454267" y="0"/>
                    <a:pt x="6591300" y="137033"/>
                    <a:pt x="6591300" y="305943"/>
                  </a:cubicBezTo>
                  <a:lnTo>
                    <a:pt x="6591300" y="4666107"/>
                  </a:lnTo>
                  <a:cubicBezTo>
                    <a:pt x="6591300" y="4835144"/>
                    <a:pt x="6454267" y="4972050"/>
                    <a:pt x="6285357" y="4972050"/>
                  </a:cubicBezTo>
                  <a:lnTo>
                    <a:pt x="305943" y="4972050"/>
                  </a:lnTo>
                  <a:cubicBezTo>
                    <a:pt x="137033" y="4972050"/>
                    <a:pt x="0" y="4835017"/>
                    <a:pt x="0" y="4666107"/>
                  </a:cubicBezTo>
                  <a:close/>
                </a:path>
              </a:pathLst>
            </a:custGeom>
            <a:solidFill>
              <a:srgbClr val="2B1910"/>
            </a:solidFill>
            <a:ln w="14288" cap="sq">
              <a:solidFill>
                <a:srgbClr val="5D3B27"/>
              </a:solidFill>
              <a:prstDash val="solid"/>
              <a:miter/>
            </a:ln>
          </p:spPr>
        </p:sp>
      </p:grpSp>
      <p:grpSp>
        <p:nvGrpSpPr>
          <p:cNvPr name="Group 10" id="10"/>
          <p:cNvGrpSpPr/>
          <p:nvPr/>
        </p:nvGrpSpPr>
        <p:grpSpPr>
          <a:xfrm rot="0">
            <a:off x="1371600" y="4500562"/>
            <a:ext cx="714375" cy="714375"/>
            <a:chOff x="0" y="0"/>
            <a:chExt cx="952500" cy="952500"/>
          </a:xfrm>
        </p:grpSpPr>
        <p:sp>
          <p:nvSpPr>
            <p:cNvPr name="Freeform 11" id="11"/>
            <p:cNvSpPr/>
            <p:nvPr/>
          </p:nvSpPr>
          <p:spPr>
            <a:xfrm flipH="false" flipV="false" rot="0">
              <a:off x="0" y="0"/>
              <a:ext cx="952500" cy="952500"/>
            </a:xfrm>
            <a:custGeom>
              <a:avLst/>
              <a:gdLst/>
              <a:ahLst/>
              <a:cxnLst/>
              <a:rect r="r" b="b" t="t" l="l"/>
              <a:pathLst>
                <a:path h="952500" w="952500">
                  <a:moveTo>
                    <a:pt x="0" y="476250"/>
                  </a:moveTo>
                  <a:cubicBezTo>
                    <a:pt x="0" y="213233"/>
                    <a:pt x="213233" y="0"/>
                    <a:pt x="476250" y="0"/>
                  </a:cubicBezTo>
                  <a:cubicBezTo>
                    <a:pt x="739267" y="0"/>
                    <a:pt x="952500" y="213233"/>
                    <a:pt x="952500" y="476250"/>
                  </a:cubicBezTo>
                  <a:cubicBezTo>
                    <a:pt x="952500" y="739267"/>
                    <a:pt x="739267" y="952500"/>
                    <a:pt x="476250" y="952500"/>
                  </a:cubicBezTo>
                  <a:cubicBezTo>
                    <a:pt x="213233" y="952500"/>
                    <a:pt x="0" y="739267"/>
                    <a:pt x="0" y="476250"/>
                  </a:cubicBezTo>
                  <a:close/>
                </a:path>
              </a:pathLst>
            </a:custGeom>
            <a:solidFill>
              <a:srgbClr val="FF8500"/>
            </a:solidFill>
            <a:ln cap="sq">
              <a:noFill/>
              <a:prstDash val="solid"/>
              <a:miter/>
            </a:ln>
          </p:spPr>
        </p:sp>
        <p:sp>
          <p:nvSpPr>
            <p:cNvPr name="TextBox 12" id="12"/>
            <p:cNvSpPr txBox="true"/>
            <p:nvPr/>
          </p:nvSpPr>
          <p:spPr>
            <a:xfrm>
              <a:off x="0" y="-9525"/>
              <a:ext cx="952500" cy="962025"/>
            </a:xfrm>
            <a:prstGeom prst="rect">
              <a:avLst/>
            </a:prstGeom>
          </p:spPr>
          <p:txBody>
            <a:bodyPr anchor="ctr" rtlCol="false" tIns="50800" lIns="50800" bIns="50800" rIns="50800"/>
            <a:lstStyle/>
            <a:p>
              <a:pPr algn="ctr">
                <a:lnSpc>
                  <a:spcPts val="2700"/>
                </a:lnSpc>
              </a:pPr>
              <a:r>
                <a:rPr lang="en-US" sz="2250" b="true">
                  <a:solidFill>
                    <a:srgbClr val="FFF6E9"/>
                  </a:solidFill>
                  <a:latin typeface="Lato Bold"/>
                  <a:ea typeface="Lato Bold"/>
                  <a:cs typeface="Lato Bold"/>
                  <a:sym typeface="Lato Bold"/>
                </a:rPr>
                <a:t>1</a:t>
              </a:r>
            </a:p>
          </p:txBody>
        </p:sp>
      </p:grpSp>
      <p:sp>
        <p:nvSpPr>
          <p:cNvPr name="TextBox 13" id="13"/>
          <p:cNvSpPr txBox="true"/>
          <p:nvPr/>
        </p:nvSpPr>
        <p:spPr>
          <a:xfrm rot="0">
            <a:off x="2343150" y="4543425"/>
            <a:ext cx="3143250" cy="400050"/>
          </a:xfrm>
          <a:prstGeom prst="rect">
            <a:avLst/>
          </a:prstGeom>
        </p:spPr>
        <p:txBody>
          <a:bodyPr anchor="t" rtlCol="false" tIns="0" lIns="0" bIns="0" rIns="0">
            <a:spAutoFit/>
          </a:bodyPr>
          <a:lstStyle/>
          <a:p>
            <a:pPr algn="l">
              <a:lnSpc>
                <a:spcPts val="2835"/>
              </a:lnSpc>
            </a:pPr>
            <a:r>
              <a:rPr lang="en-US" sz="2362" b="true">
                <a:solidFill>
                  <a:srgbClr val="FFF6E9"/>
                </a:solidFill>
                <a:latin typeface="Lato Bold"/>
                <a:ea typeface="Lato Bold"/>
                <a:cs typeface="Lato Bold"/>
                <a:sym typeface="Lato Bold"/>
              </a:rPr>
              <a:t>Abdelrahman Mohsen</a:t>
            </a:r>
          </a:p>
        </p:txBody>
      </p:sp>
      <p:sp>
        <p:nvSpPr>
          <p:cNvPr name="TextBox 14" id="14"/>
          <p:cNvSpPr txBox="true"/>
          <p:nvPr/>
        </p:nvSpPr>
        <p:spPr>
          <a:xfrm rot="0">
            <a:off x="2343150" y="5062537"/>
            <a:ext cx="3143250" cy="295275"/>
          </a:xfrm>
          <a:prstGeom prst="rect">
            <a:avLst/>
          </a:prstGeom>
        </p:spPr>
        <p:txBody>
          <a:bodyPr anchor="t" rtlCol="false" tIns="0" lIns="0" bIns="0" rIns="0">
            <a:spAutoFit/>
          </a:bodyPr>
          <a:lstStyle/>
          <a:p>
            <a:pPr algn="l">
              <a:lnSpc>
                <a:spcPts val="1620"/>
              </a:lnSpc>
            </a:pPr>
            <a:r>
              <a:rPr lang="en-US" sz="1350" b="true">
                <a:solidFill>
                  <a:srgbClr val="FF8500"/>
                </a:solidFill>
                <a:latin typeface="Lato Bold"/>
                <a:ea typeface="Lato Bold"/>
                <a:cs typeface="Lato Bold"/>
                <a:sym typeface="Lato Bold"/>
              </a:rPr>
              <a:t>DESKTOP APP</a:t>
            </a:r>
          </a:p>
        </p:txBody>
      </p:sp>
      <p:sp>
        <p:nvSpPr>
          <p:cNvPr name="TextBox 15" id="15"/>
          <p:cNvSpPr txBox="true"/>
          <p:nvPr/>
        </p:nvSpPr>
        <p:spPr>
          <a:xfrm rot="0">
            <a:off x="1165649" y="5715000"/>
            <a:ext cx="4598140" cy="1085850"/>
          </a:xfrm>
          <a:prstGeom prst="rect">
            <a:avLst/>
          </a:prstGeom>
        </p:spPr>
        <p:txBody>
          <a:bodyPr anchor="t" rtlCol="false" tIns="0" lIns="0" bIns="0" rIns="0">
            <a:spAutoFit/>
          </a:bodyPr>
          <a:lstStyle/>
          <a:p>
            <a:pPr algn="l">
              <a:lnSpc>
                <a:spcPts val="2894"/>
              </a:lnSpc>
            </a:pPr>
            <a:r>
              <a:rPr lang="en-US" sz="2412">
                <a:solidFill>
                  <a:srgbClr val="D8BBA4"/>
                </a:solidFill>
                <a:latin typeface="Lato"/>
                <a:ea typeface="Lato"/>
                <a:cs typeface="Lato"/>
                <a:sym typeface="Lato"/>
              </a:rPr>
              <a:t>Builds the guided workspace where the AI can meet the learner inside real software.</a:t>
            </a:r>
          </a:p>
        </p:txBody>
      </p:sp>
      <p:grpSp>
        <p:nvGrpSpPr>
          <p:cNvPr name="Group 16" id="16"/>
          <p:cNvGrpSpPr/>
          <p:nvPr/>
        </p:nvGrpSpPr>
        <p:grpSpPr>
          <a:xfrm rot="0">
            <a:off x="6565106" y="4064794"/>
            <a:ext cx="4943475" cy="3729038"/>
            <a:chOff x="0" y="0"/>
            <a:chExt cx="6591300" cy="4972050"/>
          </a:xfrm>
        </p:grpSpPr>
        <p:sp>
          <p:nvSpPr>
            <p:cNvPr name="Freeform 17" id="17"/>
            <p:cNvSpPr/>
            <p:nvPr/>
          </p:nvSpPr>
          <p:spPr>
            <a:xfrm flipH="false" flipV="false" rot="0">
              <a:off x="0" y="0"/>
              <a:ext cx="6591300" cy="4972050"/>
            </a:xfrm>
            <a:custGeom>
              <a:avLst/>
              <a:gdLst/>
              <a:ahLst/>
              <a:cxnLst/>
              <a:rect r="r" b="b" t="t" l="l"/>
              <a:pathLst>
                <a:path h="4972050" w="6591300">
                  <a:moveTo>
                    <a:pt x="0" y="305943"/>
                  </a:moveTo>
                  <a:cubicBezTo>
                    <a:pt x="0" y="137033"/>
                    <a:pt x="137033" y="0"/>
                    <a:pt x="305943" y="0"/>
                  </a:cubicBezTo>
                  <a:lnTo>
                    <a:pt x="6285357" y="0"/>
                  </a:lnTo>
                  <a:cubicBezTo>
                    <a:pt x="6454267" y="0"/>
                    <a:pt x="6591300" y="137033"/>
                    <a:pt x="6591300" y="305943"/>
                  </a:cubicBezTo>
                  <a:lnTo>
                    <a:pt x="6591300" y="4666107"/>
                  </a:lnTo>
                  <a:cubicBezTo>
                    <a:pt x="6591300" y="4835144"/>
                    <a:pt x="6454267" y="4972050"/>
                    <a:pt x="6285357" y="4972050"/>
                  </a:cubicBezTo>
                  <a:lnTo>
                    <a:pt x="305943" y="4972050"/>
                  </a:lnTo>
                  <a:cubicBezTo>
                    <a:pt x="137033" y="4972050"/>
                    <a:pt x="0" y="4835017"/>
                    <a:pt x="0" y="4666107"/>
                  </a:cubicBezTo>
                  <a:close/>
                </a:path>
              </a:pathLst>
            </a:custGeom>
            <a:solidFill>
              <a:srgbClr val="2B1910"/>
            </a:solidFill>
            <a:ln w="14288" cap="sq">
              <a:solidFill>
                <a:srgbClr val="5D3B27"/>
              </a:solidFill>
              <a:prstDash val="solid"/>
              <a:miter/>
            </a:ln>
          </p:spPr>
        </p:sp>
      </p:grpSp>
      <p:grpSp>
        <p:nvGrpSpPr>
          <p:cNvPr name="Group 18" id="18"/>
          <p:cNvGrpSpPr/>
          <p:nvPr/>
        </p:nvGrpSpPr>
        <p:grpSpPr>
          <a:xfrm rot="0">
            <a:off x="6943725" y="4500562"/>
            <a:ext cx="714375" cy="714375"/>
            <a:chOff x="0" y="0"/>
            <a:chExt cx="952500" cy="952500"/>
          </a:xfrm>
        </p:grpSpPr>
        <p:sp>
          <p:nvSpPr>
            <p:cNvPr name="Freeform 19" id="19"/>
            <p:cNvSpPr/>
            <p:nvPr/>
          </p:nvSpPr>
          <p:spPr>
            <a:xfrm flipH="false" flipV="false" rot="0">
              <a:off x="0" y="0"/>
              <a:ext cx="952500" cy="952500"/>
            </a:xfrm>
            <a:custGeom>
              <a:avLst/>
              <a:gdLst/>
              <a:ahLst/>
              <a:cxnLst/>
              <a:rect r="r" b="b" t="t" l="l"/>
              <a:pathLst>
                <a:path h="952500" w="952500">
                  <a:moveTo>
                    <a:pt x="0" y="476250"/>
                  </a:moveTo>
                  <a:cubicBezTo>
                    <a:pt x="0" y="213233"/>
                    <a:pt x="213233" y="0"/>
                    <a:pt x="476250" y="0"/>
                  </a:cubicBezTo>
                  <a:cubicBezTo>
                    <a:pt x="739267" y="0"/>
                    <a:pt x="952500" y="213233"/>
                    <a:pt x="952500" y="476250"/>
                  </a:cubicBezTo>
                  <a:cubicBezTo>
                    <a:pt x="952500" y="739267"/>
                    <a:pt x="739267" y="952500"/>
                    <a:pt x="476250" y="952500"/>
                  </a:cubicBezTo>
                  <a:cubicBezTo>
                    <a:pt x="213233" y="952500"/>
                    <a:pt x="0" y="739267"/>
                    <a:pt x="0" y="476250"/>
                  </a:cubicBezTo>
                  <a:close/>
                </a:path>
              </a:pathLst>
            </a:custGeom>
            <a:solidFill>
              <a:srgbClr val="6E5BAA"/>
            </a:solidFill>
            <a:ln cap="sq">
              <a:noFill/>
              <a:prstDash val="solid"/>
              <a:miter/>
            </a:ln>
          </p:spPr>
        </p:sp>
        <p:sp>
          <p:nvSpPr>
            <p:cNvPr name="TextBox 20" id="20"/>
            <p:cNvSpPr txBox="true"/>
            <p:nvPr/>
          </p:nvSpPr>
          <p:spPr>
            <a:xfrm>
              <a:off x="0" y="-9525"/>
              <a:ext cx="952500" cy="962025"/>
            </a:xfrm>
            <a:prstGeom prst="rect">
              <a:avLst/>
            </a:prstGeom>
          </p:spPr>
          <p:txBody>
            <a:bodyPr anchor="ctr" rtlCol="false" tIns="50800" lIns="50800" bIns="50800" rIns="50800"/>
            <a:lstStyle/>
            <a:p>
              <a:pPr algn="ctr">
                <a:lnSpc>
                  <a:spcPts val="2700"/>
                </a:lnSpc>
              </a:pPr>
              <a:r>
                <a:rPr lang="en-US" sz="2250" b="true">
                  <a:solidFill>
                    <a:srgbClr val="FFF6E9"/>
                  </a:solidFill>
                  <a:latin typeface="Lato Bold"/>
                  <a:ea typeface="Lato Bold"/>
                  <a:cs typeface="Lato Bold"/>
                  <a:sym typeface="Lato Bold"/>
                </a:rPr>
                <a:t>2</a:t>
              </a:r>
            </a:p>
          </p:txBody>
        </p:sp>
      </p:grpSp>
      <p:sp>
        <p:nvSpPr>
          <p:cNvPr name="TextBox 21" id="21"/>
          <p:cNvSpPr txBox="true"/>
          <p:nvPr/>
        </p:nvSpPr>
        <p:spPr>
          <a:xfrm rot="0">
            <a:off x="7915275" y="4543425"/>
            <a:ext cx="3143250" cy="352425"/>
          </a:xfrm>
          <a:prstGeom prst="rect">
            <a:avLst/>
          </a:prstGeom>
        </p:spPr>
        <p:txBody>
          <a:bodyPr anchor="t" rtlCol="false" tIns="0" lIns="0" bIns="0" rIns="0">
            <a:spAutoFit/>
          </a:bodyPr>
          <a:lstStyle/>
          <a:p>
            <a:pPr algn="l">
              <a:lnSpc>
                <a:spcPts val="2835"/>
              </a:lnSpc>
            </a:pPr>
            <a:r>
              <a:rPr lang="en-US" sz="2362" b="true">
                <a:solidFill>
                  <a:srgbClr val="FFF6E9"/>
                </a:solidFill>
                <a:latin typeface="Lato Bold"/>
                <a:ea typeface="Lato Bold"/>
                <a:cs typeface="Lato Bold"/>
                <a:sym typeface="Lato Bold"/>
              </a:rPr>
              <a:t>Yousef Mohamed</a:t>
            </a:r>
          </a:p>
        </p:txBody>
      </p:sp>
      <p:sp>
        <p:nvSpPr>
          <p:cNvPr name="TextBox 22" id="22"/>
          <p:cNvSpPr txBox="true"/>
          <p:nvPr/>
        </p:nvSpPr>
        <p:spPr>
          <a:xfrm rot="0">
            <a:off x="7915275" y="5062537"/>
            <a:ext cx="3143250" cy="209550"/>
          </a:xfrm>
          <a:prstGeom prst="rect">
            <a:avLst/>
          </a:prstGeom>
        </p:spPr>
        <p:txBody>
          <a:bodyPr anchor="t" rtlCol="false" tIns="0" lIns="0" bIns="0" rIns="0">
            <a:spAutoFit/>
          </a:bodyPr>
          <a:lstStyle/>
          <a:p>
            <a:pPr algn="l">
              <a:lnSpc>
                <a:spcPts val="1620"/>
              </a:lnSpc>
            </a:pPr>
            <a:r>
              <a:rPr lang="en-US" sz="1350" b="true">
                <a:solidFill>
                  <a:srgbClr val="6E5BAA"/>
                </a:solidFill>
                <a:latin typeface="Lato Bold"/>
                <a:ea typeface="Lato Bold"/>
                <a:cs typeface="Lato Bold"/>
                <a:sym typeface="Lato Bold"/>
              </a:rPr>
              <a:t>Web/Mobile app developer </a:t>
            </a:r>
          </a:p>
        </p:txBody>
      </p:sp>
      <p:sp>
        <p:nvSpPr>
          <p:cNvPr name="TextBox 23" id="23"/>
          <p:cNvSpPr txBox="true"/>
          <p:nvPr/>
        </p:nvSpPr>
        <p:spPr>
          <a:xfrm rot="0">
            <a:off x="6943725" y="5757862"/>
            <a:ext cx="4305617" cy="1085850"/>
          </a:xfrm>
          <a:prstGeom prst="rect">
            <a:avLst/>
          </a:prstGeom>
        </p:spPr>
        <p:txBody>
          <a:bodyPr anchor="t" rtlCol="false" tIns="0" lIns="0" bIns="0" rIns="0">
            <a:spAutoFit/>
          </a:bodyPr>
          <a:lstStyle/>
          <a:p>
            <a:pPr algn="l">
              <a:lnSpc>
                <a:spcPts val="2894"/>
              </a:lnSpc>
            </a:pPr>
            <a:r>
              <a:rPr lang="en-US" sz="2412">
                <a:solidFill>
                  <a:srgbClr val="D8BBA4"/>
                </a:solidFill>
                <a:latin typeface="Lato"/>
                <a:ea typeface="Lato"/>
                <a:cs typeface="Lato"/>
                <a:sym typeface="Lato"/>
              </a:rPr>
              <a:t>Builds the daily lesson loop for small, approachable practice sessions.</a:t>
            </a:r>
          </a:p>
        </p:txBody>
      </p:sp>
      <p:grpSp>
        <p:nvGrpSpPr>
          <p:cNvPr name="Group 24" id="24"/>
          <p:cNvGrpSpPr/>
          <p:nvPr/>
        </p:nvGrpSpPr>
        <p:grpSpPr>
          <a:xfrm rot="0">
            <a:off x="12137231" y="4064794"/>
            <a:ext cx="4943475" cy="3729038"/>
            <a:chOff x="0" y="0"/>
            <a:chExt cx="6591300" cy="4972050"/>
          </a:xfrm>
        </p:grpSpPr>
        <p:sp>
          <p:nvSpPr>
            <p:cNvPr name="Freeform 25" id="25"/>
            <p:cNvSpPr/>
            <p:nvPr/>
          </p:nvSpPr>
          <p:spPr>
            <a:xfrm flipH="false" flipV="false" rot="0">
              <a:off x="0" y="0"/>
              <a:ext cx="6591300" cy="4972050"/>
            </a:xfrm>
            <a:custGeom>
              <a:avLst/>
              <a:gdLst/>
              <a:ahLst/>
              <a:cxnLst/>
              <a:rect r="r" b="b" t="t" l="l"/>
              <a:pathLst>
                <a:path h="4972050" w="6591300">
                  <a:moveTo>
                    <a:pt x="0" y="305943"/>
                  </a:moveTo>
                  <a:cubicBezTo>
                    <a:pt x="0" y="137033"/>
                    <a:pt x="137033" y="0"/>
                    <a:pt x="305943" y="0"/>
                  </a:cubicBezTo>
                  <a:lnTo>
                    <a:pt x="6285357" y="0"/>
                  </a:lnTo>
                  <a:cubicBezTo>
                    <a:pt x="6454267" y="0"/>
                    <a:pt x="6591300" y="137033"/>
                    <a:pt x="6591300" y="305943"/>
                  </a:cubicBezTo>
                  <a:lnTo>
                    <a:pt x="6591300" y="4666107"/>
                  </a:lnTo>
                  <a:cubicBezTo>
                    <a:pt x="6591300" y="4835144"/>
                    <a:pt x="6454267" y="4972050"/>
                    <a:pt x="6285357" y="4972050"/>
                  </a:cubicBezTo>
                  <a:lnTo>
                    <a:pt x="305943" y="4972050"/>
                  </a:lnTo>
                  <a:cubicBezTo>
                    <a:pt x="137033" y="4972050"/>
                    <a:pt x="0" y="4835017"/>
                    <a:pt x="0" y="4666107"/>
                  </a:cubicBezTo>
                  <a:close/>
                </a:path>
              </a:pathLst>
            </a:custGeom>
            <a:solidFill>
              <a:srgbClr val="2B1910"/>
            </a:solidFill>
            <a:ln w="14288" cap="sq">
              <a:solidFill>
                <a:srgbClr val="5D3B27"/>
              </a:solidFill>
              <a:prstDash val="solid"/>
              <a:miter/>
            </a:ln>
          </p:spPr>
        </p:sp>
      </p:grpSp>
      <p:grpSp>
        <p:nvGrpSpPr>
          <p:cNvPr name="Group 26" id="26"/>
          <p:cNvGrpSpPr/>
          <p:nvPr/>
        </p:nvGrpSpPr>
        <p:grpSpPr>
          <a:xfrm rot="0">
            <a:off x="12515850" y="4500562"/>
            <a:ext cx="714375" cy="714375"/>
            <a:chOff x="0" y="0"/>
            <a:chExt cx="952500" cy="952500"/>
          </a:xfrm>
        </p:grpSpPr>
        <p:sp>
          <p:nvSpPr>
            <p:cNvPr name="Freeform 27" id="27"/>
            <p:cNvSpPr/>
            <p:nvPr/>
          </p:nvSpPr>
          <p:spPr>
            <a:xfrm flipH="false" flipV="false" rot="0">
              <a:off x="0" y="0"/>
              <a:ext cx="952500" cy="952500"/>
            </a:xfrm>
            <a:custGeom>
              <a:avLst/>
              <a:gdLst/>
              <a:ahLst/>
              <a:cxnLst/>
              <a:rect r="r" b="b" t="t" l="l"/>
              <a:pathLst>
                <a:path h="952500" w="952500">
                  <a:moveTo>
                    <a:pt x="0" y="476250"/>
                  </a:moveTo>
                  <a:cubicBezTo>
                    <a:pt x="0" y="213233"/>
                    <a:pt x="213233" y="0"/>
                    <a:pt x="476250" y="0"/>
                  </a:cubicBezTo>
                  <a:cubicBezTo>
                    <a:pt x="739267" y="0"/>
                    <a:pt x="952500" y="213233"/>
                    <a:pt x="952500" y="476250"/>
                  </a:cubicBezTo>
                  <a:cubicBezTo>
                    <a:pt x="952500" y="739267"/>
                    <a:pt x="739267" y="952500"/>
                    <a:pt x="476250" y="952500"/>
                  </a:cubicBezTo>
                  <a:cubicBezTo>
                    <a:pt x="213233" y="952500"/>
                    <a:pt x="0" y="739267"/>
                    <a:pt x="0" y="476250"/>
                  </a:cubicBezTo>
                  <a:close/>
                </a:path>
              </a:pathLst>
            </a:custGeom>
            <a:solidFill>
              <a:srgbClr val="2E9B62"/>
            </a:solidFill>
            <a:ln cap="sq">
              <a:noFill/>
              <a:prstDash val="solid"/>
              <a:miter/>
            </a:ln>
          </p:spPr>
        </p:sp>
        <p:sp>
          <p:nvSpPr>
            <p:cNvPr name="TextBox 28" id="28"/>
            <p:cNvSpPr txBox="true"/>
            <p:nvPr/>
          </p:nvSpPr>
          <p:spPr>
            <a:xfrm>
              <a:off x="0" y="-9525"/>
              <a:ext cx="952500" cy="962025"/>
            </a:xfrm>
            <a:prstGeom prst="rect">
              <a:avLst/>
            </a:prstGeom>
          </p:spPr>
          <p:txBody>
            <a:bodyPr anchor="ctr" rtlCol="false" tIns="50800" lIns="50800" bIns="50800" rIns="50800"/>
            <a:lstStyle/>
            <a:p>
              <a:pPr algn="ctr">
                <a:lnSpc>
                  <a:spcPts val="2700"/>
                </a:lnSpc>
              </a:pPr>
              <a:r>
                <a:rPr lang="en-US" sz="2250" b="true">
                  <a:solidFill>
                    <a:srgbClr val="FFF6E9"/>
                  </a:solidFill>
                  <a:latin typeface="Lato Bold"/>
                  <a:ea typeface="Lato Bold"/>
                  <a:cs typeface="Lato Bold"/>
                  <a:sym typeface="Lato Bold"/>
                </a:rPr>
                <a:t>3</a:t>
              </a:r>
            </a:p>
          </p:txBody>
        </p:sp>
      </p:grpSp>
      <p:sp>
        <p:nvSpPr>
          <p:cNvPr name="TextBox 29" id="29"/>
          <p:cNvSpPr txBox="true"/>
          <p:nvPr/>
        </p:nvSpPr>
        <p:spPr>
          <a:xfrm rot="0">
            <a:off x="13487400" y="4543425"/>
            <a:ext cx="3143250" cy="352425"/>
          </a:xfrm>
          <a:prstGeom prst="rect">
            <a:avLst/>
          </a:prstGeom>
        </p:spPr>
        <p:txBody>
          <a:bodyPr anchor="t" rtlCol="false" tIns="0" lIns="0" bIns="0" rIns="0">
            <a:spAutoFit/>
          </a:bodyPr>
          <a:lstStyle/>
          <a:p>
            <a:pPr algn="l">
              <a:lnSpc>
                <a:spcPts val="2835"/>
              </a:lnSpc>
            </a:pPr>
            <a:r>
              <a:rPr lang="en-US" sz="2362" b="true">
                <a:solidFill>
                  <a:srgbClr val="FFF6E9"/>
                </a:solidFill>
                <a:latin typeface="Lato Bold"/>
                <a:ea typeface="Lato Bold"/>
                <a:cs typeface="Lato Bold"/>
                <a:sym typeface="Lato Bold"/>
              </a:rPr>
              <a:t>Mostafa Kamal</a:t>
            </a:r>
          </a:p>
        </p:txBody>
      </p:sp>
      <p:sp>
        <p:nvSpPr>
          <p:cNvPr name="TextBox 30" id="30"/>
          <p:cNvSpPr txBox="true"/>
          <p:nvPr/>
        </p:nvSpPr>
        <p:spPr>
          <a:xfrm rot="0">
            <a:off x="13487400" y="5062537"/>
            <a:ext cx="3143250" cy="209550"/>
          </a:xfrm>
          <a:prstGeom prst="rect">
            <a:avLst/>
          </a:prstGeom>
        </p:spPr>
        <p:txBody>
          <a:bodyPr anchor="t" rtlCol="false" tIns="0" lIns="0" bIns="0" rIns="0">
            <a:spAutoFit/>
          </a:bodyPr>
          <a:lstStyle/>
          <a:p>
            <a:pPr algn="l">
              <a:lnSpc>
                <a:spcPts val="1620"/>
              </a:lnSpc>
            </a:pPr>
            <a:r>
              <a:rPr lang="en-US" sz="1350" b="true">
                <a:solidFill>
                  <a:srgbClr val="2E9B62"/>
                </a:solidFill>
                <a:latin typeface="Lato Bold"/>
                <a:ea typeface="Lato Bold"/>
                <a:cs typeface="Lato Bold"/>
                <a:sym typeface="Lato Bold"/>
              </a:rPr>
              <a:t>Web app assistant developer</a:t>
            </a:r>
          </a:p>
        </p:txBody>
      </p:sp>
      <p:sp>
        <p:nvSpPr>
          <p:cNvPr name="TextBox 31" id="31"/>
          <p:cNvSpPr txBox="true"/>
          <p:nvPr/>
        </p:nvSpPr>
        <p:spPr>
          <a:xfrm rot="0">
            <a:off x="12515850" y="5715000"/>
            <a:ext cx="4343400" cy="1085850"/>
          </a:xfrm>
          <a:prstGeom prst="rect">
            <a:avLst/>
          </a:prstGeom>
        </p:spPr>
        <p:txBody>
          <a:bodyPr anchor="t" rtlCol="false" tIns="0" lIns="0" bIns="0" rIns="0">
            <a:spAutoFit/>
          </a:bodyPr>
          <a:lstStyle/>
          <a:p>
            <a:pPr algn="l">
              <a:lnSpc>
                <a:spcPts val="2894"/>
              </a:lnSpc>
            </a:pPr>
            <a:r>
              <a:rPr lang="en-US" sz="2412">
                <a:solidFill>
                  <a:srgbClr val="D8BBA4"/>
                </a:solidFill>
                <a:latin typeface="Lato"/>
                <a:ea typeface="Lato"/>
                <a:cs typeface="Lato"/>
                <a:sym typeface="Lato"/>
              </a:rPr>
              <a:t>Shapes the public story, visual identity, and first touchpoint for Bataa.</a:t>
            </a:r>
          </a:p>
        </p:txBody>
      </p:sp>
      <p:sp>
        <p:nvSpPr>
          <p:cNvPr name="TextBox 32" id="32"/>
          <p:cNvSpPr txBox="true"/>
          <p:nvPr/>
        </p:nvSpPr>
        <p:spPr>
          <a:xfrm rot="0">
            <a:off x="914400" y="9744075"/>
            <a:ext cx="13144500" cy="257175"/>
          </a:xfrm>
          <a:prstGeom prst="rect">
            <a:avLst/>
          </a:prstGeom>
        </p:spPr>
        <p:txBody>
          <a:bodyPr anchor="t" rtlCol="false" tIns="0" lIns="0" bIns="0" rIns="0">
            <a:spAutoFit/>
          </a:bodyPr>
          <a:lstStyle/>
          <a:p>
            <a:pPr algn="l">
              <a:lnSpc>
                <a:spcPts val="1485"/>
              </a:lnSpc>
            </a:pPr>
            <a:r>
              <a:rPr lang="en-US" sz="1237">
                <a:solidFill>
                  <a:srgbClr val="C9A98C"/>
                </a:solidFill>
                <a:latin typeface="Lato"/>
                <a:ea typeface="Lato"/>
                <a:cs typeface="Lato"/>
                <a:sym typeface="Lato"/>
              </a:rPr>
              <a:t>Team roles · supplied in the Bataa brief</a:t>
            </a:r>
          </a:p>
        </p:txBody>
      </p:sp>
    </p:spTree>
  </p:cSld>
  <p:clrMapOvr>
    <a:masterClrMapping/>
  </p:clrMapOvr>
</p:sld>
</file>

<file path=ppt/slides/slide14.xml><?xml version="1.0" encoding="utf-8"?>
<p:sld xmlns:p="http://schemas.openxmlformats.org/presentationml/2006/main" xmlns:a="http://schemas.openxmlformats.org/drawingml/2006/main">
  <p:cSld>
    <p:bg>
      <p:bgPr>
        <a:solidFill>
          <a:srgbClr val="FFF6E9"/>
        </a:solidFill>
      </p:bgPr>
    </p:bg>
    <p:spTree>
      <p:nvGrpSpPr>
        <p:cNvPr id="1" name=""/>
        <p:cNvGrpSpPr/>
        <p:nvPr/>
      </p:nvGrpSpPr>
      <p:grpSpPr>
        <a:xfrm>
          <a:off x="0" y="0"/>
          <a:ext cx="0" cy="0"/>
          <a:chOff x="0" y="0"/>
          <a:chExt cx="0" cy="0"/>
        </a:xfrm>
      </p:grpSpPr>
      <p:sp>
        <p:nvSpPr>
          <p:cNvPr name="TextBox 2" id="2"/>
          <p:cNvSpPr txBox="true"/>
          <p:nvPr/>
        </p:nvSpPr>
        <p:spPr>
          <a:xfrm rot="0">
            <a:off x="914400" y="390525"/>
            <a:ext cx="1857375" cy="466725"/>
          </a:xfrm>
          <a:prstGeom prst="rect">
            <a:avLst/>
          </a:prstGeom>
        </p:spPr>
        <p:txBody>
          <a:bodyPr anchor="t" rtlCol="false" tIns="0" lIns="0" bIns="0" rIns="0">
            <a:spAutoFit/>
          </a:bodyPr>
          <a:lstStyle/>
          <a:p>
            <a:pPr algn="l">
              <a:lnSpc>
                <a:spcPts val="3104"/>
              </a:lnSpc>
            </a:pPr>
            <a:r>
              <a:rPr lang="en-US" sz="2587" b="true">
                <a:solidFill>
                  <a:srgbClr val="FF8500"/>
                </a:solidFill>
                <a:latin typeface="Lato Bold"/>
                <a:ea typeface="Lato Bold"/>
                <a:cs typeface="Lato Bold"/>
                <a:sym typeface="Lato Bold"/>
              </a:rPr>
              <a:t>bataa</a:t>
            </a:r>
          </a:p>
        </p:txBody>
      </p:sp>
      <p:sp>
        <p:nvSpPr>
          <p:cNvPr name="TextBox 3" id="3"/>
          <p:cNvSpPr txBox="true"/>
          <p:nvPr/>
        </p:nvSpPr>
        <p:spPr>
          <a:xfrm rot="0">
            <a:off x="3171825" y="461963"/>
            <a:ext cx="6000750" cy="323850"/>
          </a:xfrm>
          <a:prstGeom prst="rect">
            <a:avLst/>
          </a:prstGeom>
        </p:spPr>
        <p:txBody>
          <a:bodyPr anchor="t" rtlCol="false" tIns="0" lIns="0" bIns="0" rIns="0">
            <a:spAutoFit/>
          </a:bodyPr>
          <a:lstStyle/>
          <a:p>
            <a:pPr algn="l">
              <a:lnSpc>
                <a:spcPts val="1620"/>
              </a:lnSpc>
            </a:pPr>
            <a:r>
              <a:rPr lang="en-US" sz="1350" b="true">
                <a:solidFill>
                  <a:srgbClr val="D7BDA9"/>
                </a:solidFill>
                <a:latin typeface="Lato Bold"/>
                <a:ea typeface="Lato Bold"/>
                <a:cs typeface="Lato Bold"/>
                <a:sym typeface="Lato Bold"/>
              </a:rPr>
              <a:t>NEXT MILESTONE</a:t>
            </a:r>
          </a:p>
        </p:txBody>
      </p:sp>
      <p:sp>
        <p:nvSpPr>
          <p:cNvPr name="TextBox 4" id="4"/>
          <p:cNvSpPr txBox="true"/>
          <p:nvPr/>
        </p:nvSpPr>
        <p:spPr>
          <a:xfrm rot="0">
            <a:off x="16859250" y="442912"/>
            <a:ext cx="514350" cy="342900"/>
          </a:xfrm>
          <a:prstGeom prst="rect">
            <a:avLst/>
          </a:prstGeom>
        </p:spPr>
        <p:txBody>
          <a:bodyPr anchor="t" rtlCol="false" tIns="0" lIns="0" bIns="0" rIns="0">
            <a:spAutoFit/>
          </a:bodyPr>
          <a:lstStyle/>
          <a:p>
            <a:pPr algn="r">
              <a:lnSpc>
                <a:spcPts val="1889"/>
              </a:lnSpc>
            </a:pPr>
            <a:r>
              <a:rPr lang="en-US" sz="1575" b="true">
                <a:solidFill>
                  <a:srgbClr val="FFF6E9"/>
                </a:solidFill>
                <a:latin typeface="Lato Bold"/>
                <a:ea typeface="Lato Bold"/>
                <a:cs typeface="Lato Bold"/>
                <a:sym typeface="Lato Bold"/>
              </a:rPr>
              <a:t>16</a:t>
            </a:r>
          </a:p>
        </p:txBody>
      </p:sp>
      <p:sp>
        <p:nvSpPr>
          <p:cNvPr name="AutoShape 5" id="5"/>
          <p:cNvSpPr/>
          <p:nvPr/>
        </p:nvSpPr>
        <p:spPr>
          <a:xfrm rot="3000">
            <a:off x="907256" y="981075"/>
            <a:ext cx="16473497" cy="0"/>
          </a:xfrm>
          <a:prstGeom prst="line">
            <a:avLst/>
          </a:prstGeom>
          <a:ln cap="rnd" w="9525">
            <a:solidFill>
              <a:srgbClr val="5D3B27"/>
            </a:solidFill>
            <a:prstDash val="solid"/>
            <a:headEnd type="none" len="sm" w="sm"/>
            <a:tailEnd type="none" len="sm" w="sm"/>
          </a:ln>
        </p:spPr>
      </p:sp>
      <p:sp>
        <p:nvSpPr>
          <p:cNvPr name="TextBox 6" id="6"/>
          <p:cNvSpPr txBox="true"/>
          <p:nvPr/>
        </p:nvSpPr>
        <p:spPr>
          <a:xfrm rot="0">
            <a:off x="914400" y="1590675"/>
            <a:ext cx="11102269" cy="895350"/>
          </a:xfrm>
          <a:prstGeom prst="rect">
            <a:avLst/>
          </a:prstGeom>
        </p:spPr>
        <p:txBody>
          <a:bodyPr anchor="t" rtlCol="false" tIns="0" lIns="0" bIns="0" rIns="0">
            <a:spAutoFit/>
          </a:bodyPr>
          <a:lstStyle/>
          <a:p>
            <a:pPr algn="l">
              <a:lnSpc>
                <a:spcPts val="7038"/>
              </a:lnSpc>
            </a:pPr>
            <a:r>
              <a:rPr lang="en-US" sz="5865" b="true">
                <a:solidFill>
                  <a:srgbClr val="2D180B"/>
                </a:solidFill>
                <a:latin typeface="Lato Bold"/>
                <a:ea typeface="Lato Bold"/>
                <a:cs typeface="Lato Bold"/>
                <a:sym typeface="Lato Bold"/>
              </a:rPr>
              <a:t>The next milestone is a real pilot.</a:t>
            </a:r>
          </a:p>
        </p:txBody>
      </p:sp>
      <p:sp>
        <p:nvSpPr>
          <p:cNvPr name="TextBox 7" id="7"/>
          <p:cNvSpPr txBox="true"/>
          <p:nvPr/>
        </p:nvSpPr>
        <p:spPr>
          <a:xfrm rot="0">
            <a:off x="971550" y="2928938"/>
            <a:ext cx="9802176" cy="361950"/>
          </a:xfrm>
          <a:prstGeom prst="rect">
            <a:avLst/>
          </a:prstGeom>
        </p:spPr>
        <p:txBody>
          <a:bodyPr anchor="t" rtlCol="false" tIns="0" lIns="0" bIns="0" rIns="0">
            <a:spAutoFit/>
          </a:bodyPr>
          <a:lstStyle/>
          <a:p>
            <a:pPr algn="l">
              <a:lnSpc>
                <a:spcPts val="2896"/>
              </a:lnSpc>
            </a:pPr>
            <a:r>
              <a:rPr lang="en-US" sz="2413">
                <a:solidFill>
                  <a:srgbClr val="2D180B"/>
                </a:solidFill>
                <a:latin typeface="Lato"/>
                <a:ea typeface="Lato"/>
                <a:cs typeface="Lato"/>
                <a:sym typeface="Lato"/>
              </a:rPr>
              <a:t>Prove that one doable action can become a habit and a finished skill.</a:t>
            </a:r>
          </a:p>
        </p:txBody>
      </p:sp>
      <p:grpSp>
        <p:nvGrpSpPr>
          <p:cNvPr name="Group 8" id="8"/>
          <p:cNvGrpSpPr/>
          <p:nvPr/>
        </p:nvGrpSpPr>
        <p:grpSpPr>
          <a:xfrm rot="0">
            <a:off x="992981" y="4564856"/>
            <a:ext cx="9872662" cy="3371850"/>
            <a:chOff x="0" y="0"/>
            <a:chExt cx="13163550" cy="4495800"/>
          </a:xfrm>
        </p:grpSpPr>
        <p:sp>
          <p:nvSpPr>
            <p:cNvPr name="Freeform 9" id="9"/>
            <p:cNvSpPr/>
            <p:nvPr/>
          </p:nvSpPr>
          <p:spPr>
            <a:xfrm flipH="false" flipV="false" rot="0">
              <a:off x="0" y="0"/>
              <a:ext cx="13163423" cy="4495800"/>
            </a:xfrm>
            <a:custGeom>
              <a:avLst/>
              <a:gdLst/>
              <a:ahLst/>
              <a:cxnLst/>
              <a:rect r="r" b="b" t="t" l="l"/>
              <a:pathLst>
                <a:path h="4495800" w="13163423">
                  <a:moveTo>
                    <a:pt x="0" y="459105"/>
                  </a:moveTo>
                  <a:cubicBezTo>
                    <a:pt x="0" y="205613"/>
                    <a:pt x="205613" y="0"/>
                    <a:pt x="459105" y="0"/>
                  </a:cubicBezTo>
                  <a:lnTo>
                    <a:pt x="12704318" y="0"/>
                  </a:lnTo>
                  <a:cubicBezTo>
                    <a:pt x="12957937" y="0"/>
                    <a:pt x="13163423" y="205613"/>
                    <a:pt x="13163423" y="459105"/>
                  </a:cubicBezTo>
                  <a:lnTo>
                    <a:pt x="13163423" y="4036695"/>
                  </a:lnTo>
                  <a:cubicBezTo>
                    <a:pt x="13163423" y="4290314"/>
                    <a:pt x="12957810" y="4495800"/>
                    <a:pt x="12704318" y="4495800"/>
                  </a:cubicBezTo>
                  <a:lnTo>
                    <a:pt x="459105" y="4495800"/>
                  </a:lnTo>
                  <a:cubicBezTo>
                    <a:pt x="205613" y="4495800"/>
                    <a:pt x="0" y="4290187"/>
                    <a:pt x="0" y="4036695"/>
                  </a:cubicBezTo>
                  <a:close/>
                </a:path>
              </a:pathLst>
            </a:custGeom>
            <a:solidFill>
              <a:srgbClr val="F78A17"/>
            </a:solidFill>
            <a:ln w="14288" cap="sq">
              <a:solidFill>
                <a:srgbClr val="FFB557"/>
              </a:solidFill>
              <a:prstDash val="solid"/>
              <a:miter/>
            </a:ln>
          </p:spPr>
        </p:sp>
      </p:grpSp>
      <p:grpSp>
        <p:nvGrpSpPr>
          <p:cNvPr name="Group 10" id="10"/>
          <p:cNvGrpSpPr/>
          <p:nvPr/>
        </p:nvGrpSpPr>
        <p:grpSpPr>
          <a:xfrm rot="0">
            <a:off x="1428750" y="4972050"/>
            <a:ext cx="457200" cy="457200"/>
            <a:chOff x="0" y="0"/>
            <a:chExt cx="609600" cy="609600"/>
          </a:xfrm>
        </p:grpSpPr>
        <p:sp>
          <p:nvSpPr>
            <p:cNvPr name="Freeform 11" id="11"/>
            <p:cNvSpPr/>
            <p:nvPr/>
          </p:nvSpPr>
          <p:spPr>
            <a:xfrm flipH="false" flipV="false" rot="0">
              <a:off x="0" y="0"/>
              <a:ext cx="609600" cy="609600"/>
            </a:xfrm>
            <a:custGeom>
              <a:avLst/>
              <a:gdLst/>
              <a:ahLst/>
              <a:cxnLst/>
              <a:rect r="r" b="b" t="t" l="l"/>
              <a:pathLst>
                <a:path h="609600" w="609600">
                  <a:moveTo>
                    <a:pt x="0" y="304800"/>
                  </a:moveTo>
                  <a:cubicBezTo>
                    <a:pt x="0" y="136525"/>
                    <a:pt x="136525" y="0"/>
                    <a:pt x="304800" y="0"/>
                  </a:cubicBezTo>
                  <a:cubicBezTo>
                    <a:pt x="473075" y="0"/>
                    <a:pt x="609600" y="136525"/>
                    <a:pt x="609600" y="304800"/>
                  </a:cubicBezTo>
                  <a:cubicBezTo>
                    <a:pt x="609600" y="473075"/>
                    <a:pt x="473075" y="609600"/>
                    <a:pt x="304800" y="609600"/>
                  </a:cubicBezTo>
                  <a:cubicBezTo>
                    <a:pt x="136525" y="609600"/>
                    <a:pt x="0" y="473075"/>
                    <a:pt x="0" y="304800"/>
                  </a:cubicBezTo>
                  <a:close/>
                </a:path>
              </a:pathLst>
            </a:custGeom>
            <a:solidFill>
              <a:srgbClr val="FFF6E9"/>
            </a:solidFill>
            <a:ln cap="sq">
              <a:noFill/>
              <a:prstDash val="solid"/>
              <a:miter/>
            </a:ln>
          </p:spPr>
        </p:sp>
        <p:sp>
          <p:nvSpPr>
            <p:cNvPr name="TextBox 12" id="12"/>
            <p:cNvSpPr txBox="true"/>
            <p:nvPr/>
          </p:nvSpPr>
          <p:spPr>
            <a:xfrm>
              <a:off x="0" y="-9525"/>
              <a:ext cx="609600" cy="619125"/>
            </a:xfrm>
            <a:prstGeom prst="rect">
              <a:avLst/>
            </a:prstGeom>
          </p:spPr>
          <p:txBody>
            <a:bodyPr anchor="ctr" rtlCol="false" tIns="50800" lIns="50800" bIns="50800" rIns="50800"/>
            <a:lstStyle/>
            <a:p>
              <a:pPr algn="ctr">
                <a:lnSpc>
                  <a:spcPts val="1620"/>
                </a:lnSpc>
              </a:pPr>
              <a:r>
                <a:rPr lang="en-US" sz="1350" b="true">
                  <a:solidFill>
                    <a:srgbClr val="C45300"/>
                  </a:solidFill>
                  <a:latin typeface="Lato Bold"/>
                  <a:ea typeface="Lato Bold"/>
                  <a:cs typeface="Lato Bold"/>
                  <a:sym typeface="Lato Bold"/>
                </a:rPr>
                <a:t>01</a:t>
              </a:r>
            </a:p>
          </p:txBody>
        </p:sp>
      </p:grpSp>
      <p:sp>
        <p:nvSpPr>
          <p:cNvPr name="TextBox 13" id="13"/>
          <p:cNvSpPr txBox="true"/>
          <p:nvPr/>
        </p:nvSpPr>
        <p:spPr>
          <a:xfrm rot="0">
            <a:off x="2143125" y="4986338"/>
            <a:ext cx="3429000" cy="314325"/>
          </a:xfrm>
          <a:prstGeom prst="rect">
            <a:avLst/>
          </a:prstGeom>
        </p:spPr>
        <p:txBody>
          <a:bodyPr anchor="t" rtlCol="false" tIns="0" lIns="0" bIns="0" rIns="0">
            <a:spAutoFit/>
          </a:bodyPr>
          <a:lstStyle/>
          <a:p>
            <a:pPr algn="l">
              <a:lnSpc>
                <a:spcPts val="2474"/>
              </a:lnSpc>
            </a:pPr>
            <a:r>
              <a:rPr lang="en-US" sz="2062" b="true">
                <a:solidFill>
                  <a:srgbClr val="2D180B"/>
                </a:solidFill>
                <a:latin typeface="Lato Bold"/>
                <a:ea typeface="Lato Bold"/>
                <a:cs typeface="Lato Bold"/>
                <a:sym typeface="Lato Bold"/>
              </a:rPr>
              <a:t>Beginner mobile path</a:t>
            </a:r>
          </a:p>
        </p:txBody>
      </p:sp>
      <p:sp>
        <p:nvSpPr>
          <p:cNvPr name="TextBox 14" id="14"/>
          <p:cNvSpPr txBox="true"/>
          <p:nvPr/>
        </p:nvSpPr>
        <p:spPr>
          <a:xfrm rot="0">
            <a:off x="5929312" y="4991100"/>
            <a:ext cx="4286250" cy="352425"/>
          </a:xfrm>
          <a:prstGeom prst="rect">
            <a:avLst/>
          </a:prstGeom>
        </p:spPr>
        <p:txBody>
          <a:bodyPr anchor="t" rtlCol="false" tIns="0" lIns="0" bIns="0" rIns="0">
            <a:spAutoFit/>
          </a:bodyPr>
          <a:lstStyle/>
          <a:p>
            <a:pPr algn="l">
              <a:lnSpc>
                <a:spcPts val="2025"/>
              </a:lnSpc>
            </a:pPr>
            <a:r>
              <a:rPr lang="en-US" sz="1687">
                <a:solidFill>
                  <a:srgbClr val="2D180B"/>
                </a:solidFill>
                <a:latin typeface="Lato"/>
                <a:ea typeface="Lato"/>
                <a:cs typeface="Lato"/>
                <a:sym typeface="Lato"/>
              </a:rPr>
              <a:t>Ship the first week of simple daily tasks</a:t>
            </a:r>
          </a:p>
        </p:txBody>
      </p:sp>
      <p:grpSp>
        <p:nvGrpSpPr>
          <p:cNvPr name="Group 15" id="15"/>
          <p:cNvGrpSpPr/>
          <p:nvPr/>
        </p:nvGrpSpPr>
        <p:grpSpPr>
          <a:xfrm rot="0">
            <a:off x="1428750" y="5915025"/>
            <a:ext cx="457200" cy="457200"/>
            <a:chOff x="0" y="0"/>
            <a:chExt cx="609600" cy="609600"/>
          </a:xfrm>
        </p:grpSpPr>
        <p:sp>
          <p:nvSpPr>
            <p:cNvPr name="Freeform 16" id="16"/>
            <p:cNvSpPr/>
            <p:nvPr/>
          </p:nvSpPr>
          <p:spPr>
            <a:xfrm flipH="false" flipV="false" rot="0">
              <a:off x="0" y="0"/>
              <a:ext cx="609600" cy="609600"/>
            </a:xfrm>
            <a:custGeom>
              <a:avLst/>
              <a:gdLst/>
              <a:ahLst/>
              <a:cxnLst/>
              <a:rect r="r" b="b" t="t" l="l"/>
              <a:pathLst>
                <a:path h="609600" w="609600">
                  <a:moveTo>
                    <a:pt x="0" y="304800"/>
                  </a:moveTo>
                  <a:cubicBezTo>
                    <a:pt x="0" y="136525"/>
                    <a:pt x="136525" y="0"/>
                    <a:pt x="304800" y="0"/>
                  </a:cubicBezTo>
                  <a:cubicBezTo>
                    <a:pt x="473075" y="0"/>
                    <a:pt x="609600" y="136525"/>
                    <a:pt x="609600" y="304800"/>
                  </a:cubicBezTo>
                  <a:cubicBezTo>
                    <a:pt x="609600" y="473075"/>
                    <a:pt x="473075" y="609600"/>
                    <a:pt x="304800" y="609600"/>
                  </a:cubicBezTo>
                  <a:cubicBezTo>
                    <a:pt x="136525" y="609600"/>
                    <a:pt x="0" y="473075"/>
                    <a:pt x="0" y="304800"/>
                  </a:cubicBezTo>
                  <a:close/>
                </a:path>
              </a:pathLst>
            </a:custGeom>
            <a:solidFill>
              <a:srgbClr val="FFF6E9"/>
            </a:solidFill>
            <a:ln cap="sq">
              <a:noFill/>
              <a:prstDash val="solid"/>
              <a:miter/>
            </a:ln>
          </p:spPr>
        </p:sp>
        <p:sp>
          <p:nvSpPr>
            <p:cNvPr name="TextBox 17" id="17"/>
            <p:cNvSpPr txBox="true"/>
            <p:nvPr/>
          </p:nvSpPr>
          <p:spPr>
            <a:xfrm>
              <a:off x="0" y="-9525"/>
              <a:ext cx="609600" cy="619125"/>
            </a:xfrm>
            <a:prstGeom prst="rect">
              <a:avLst/>
            </a:prstGeom>
          </p:spPr>
          <p:txBody>
            <a:bodyPr anchor="ctr" rtlCol="false" tIns="50800" lIns="50800" bIns="50800" rIns="50800"/>
            <a:lstStyle/>
            <a:p>
              <a:pPr algn="ctr">
                <a:lnSpc>
                  <a:spcPts val="1620"/>
                </a:lnSpc>
              </a:pPr>
              <a:r>
                <a:rPr lang="en-US" sz="1350" b="true">
                  <a:solidFill>
                    <a:srgbClr val="C45300"/>
                  </a:solidFill>
                  <a:latin typeface="Lato Bold"/>
                  <a:ea typeface="Lato Bold"/>
                  <a:cs typeface="Lato Bold"/>
                  <a:sym typeface="Lato Bold"/>
                </a:rPr>
                <a:t>02</a:t>
              </a:r>
            </a:p>
          </p:txBody>
        </p:sp>
      </p:grpSp>
      <p:sp>
        <p:nvSpPr>
          <p:cNvPr name="TextBox 18" id="18"/>
          <p:cNvSpPr txBox="true"/>
          <p:nvPr/>
        </p:nvSpPr>
        <p:spPr>
          <a:xfrm rot="0">
            <a:off x="2143125" y="5929312"/>
            <a:ext cx="3429000" cy="314325"/>
          </a:xfrm>
          <a:prstGeom prst="rect">
            <a:avLst/>
          </a:prstGeom>
        </p:spPr>
        <p:txBody>
          <a:bodyPr anchor="t" rtlCol="false" tIns="0" lIns="0" bIns="0" rIns="0">
            <a:spAutoFit/>
          </a:bodyPr>
          <a:lstStyle/>
          <a:p>
            <a:pPr algn="l">
              <a:lnSpc>
                <a:spcPts val="2474"/>
              </a:lnSpc>
            </a:pPr>
            <a:r>
              <a:rPr lang="en-US" sz="2062" b="true">
                <a:solidFill>
                  <a:srgbClr val="2D180B"/>
                </a:solidFill>
                <a:latin typeface="Lato Bold"/>
                <a:ea typeface="Lato Bold"/>
                <a:cs typeface="Lato Bold"/>
                <a:sym typeface="Lato Bold"/>
              </a:rPr>
              <a:t>Desktop agent pilot</a:t>
            </a:r>
          </a:p>
        </p:txBody>
      </p:sp>
      <p:sp>
        <p:nvSpPr>
          <p:cNvPr name="TextBox 19" id="19"/>
          <p:cNvSpPr txBox="true"/>
          <p:nvPr/>
        </p:nvSpPr>
        <p:spPr>
          <a:xfrm rot="0">
            <a:off x="5929312" y="5943600"/>
            <a:ext cx="4286250" cy="342900"/>
          </a:xfrm>
          <a:prstGeom prst="rect">
            <a:avLst/>
          </a:prstGeom>
        </p:spPr>
        <p:txBody>
          <a:bodyPr anchor="t" rtlCol="false" tIns="0" lIns="0" bIns="0" rIns="0">
            <a:spAutoFit/>
          </a:bodyPr>
          <a:lstStyle/>
          <a:p>
            <a:pPr algn="l">
              <a:lnSpc>
                <a:spcPts val="1976"/>
              </a:lnSpc>
            </a:pPr>
            <a:r>
              <a:rPr lang="en-US" sz="1647">
                <a:solidFill>
                  <a:srgbClr val="2D180B"/>
                </a:solidFill>
                <a:latin typeface="Lato"/>
                <a:ea typeface="Lato"/>
                <a:cs typeface="Lato"/>
                <a:sym typeface="Lato"/>
              </a:rPr>
              <a:t>Guide one real workflow with safe user control</a:t>
            </a:r>
          </a:p>
        </p:txBody>
      </p:sp>
      <p:grpSp>
        <p:nvGrpSpPr>
          <p:cNvPr name="Group 20" id="20"/>
          <p:cNvGrpSpPr/>
          <p:nvPr/>
        </p:nvGrpSpPr>
        <p:grpSpPr>
          <a:xfrm rot="0">
            <a:off x="1428750" y="6858000"/>
            <a:ext cx="457200" cy="457200"/>
            <a:chOff x="0" y="0"/>
            <a:chExt cx="609600" cy="609600"/>
          </a:xfrm>
        </p:grpSpPr>
        <p:sp>
          <p:nvSpPr>
            <p:cNvPr name="Freeform 21" id="21"/>
            <p:cNvSpPr/>
            <p:nvPr/>
          </p:nvSpPr>
          <p:spPr>
            <a:xfrm flipH="false" flipV="false" rot="0">
              <a:off x="0" y="0"/>
              <a:ext cx="609600" cy="609600"/>
            </a:xfrm>
            <a:custGeom>
              <a:avLst/>
              <a:gdLst/>
              <a:ahLst/>
              <a:cxnLst/>
              <a:rect r="r" b="b" t="t" l="l"/>
              <a:pathLst>
                <a:path h="609600" w="609600">
                  <a:moveTo>
                    <a:pt x="0" y="304800"/>
                  </a:moveTo>
                  <a:cubicBezTo>
                    <a:pt x="0" y="136525"/>
                    <a:pt x="136525" y="0"/>
                    <a:pt x="304800" y="0"/>
                  </a:cubicBezTo>
                  <a:cubicBezTo>
                    <a:pt x="473075" y="0"/>
                    <a:pt x="609600" y="136525"/>
                    <a:pt x="609600" y="304800"/>
                  </a:cubicBezTo>
                  <a:cubicBezTo>
                    <a:pt x="609600" y="473075"/>
                    <a:pt x="473075" y="609600"/>
                    <a:pt x="304800" y="609600"/>
                  </a:cubicBezTo>
                  <a:cubicBezTo>
                    <a:pt x="136525" y="609600"/>
                    <a:pt x="0" y="473075"/>
                    <a:pt x="0" y="304800"/>
                  </a:cubicBezTo>
                  <a:close/>
                </a:path>
              </a:pathLst>
            </a:custGeom>
            <a:solidFill>
              <a:srgbClr val="FFF6E9"/>
            </a:solidFill>
            <a:ln cap="sq">
              <a:noFill/>
              <a:prstDash val="solid"/>
              <a:miter/>
            </a:ln>
          </p:spPr>
        </p:sp>
        <p:sp>
          <p:nvSpPr>
            <p:cNvPr name="TextBox 22" id="22"/>
            <p:cNvSpPr txBox="true"/>
            <p:nvPr/>
          </p:nvSpPr>
          <p:spPr>
            <a:xfrm>
              <a:off x="0" y="-9525"/>
              <a:ext cx="609600" cy="619125"/>
            </a:xfrm>
            <a:prstGeom prst="rect">
              <a:avLst/>
            </a:prstGeom>
          </p:spPr>
          <p:txBody>
            <a:bodyPr anchor="ctr" rtlCol="false" tIns="50800" lIns="50800" bIns="50800" rIns="50800"/>
            <a:lstStyle/>
            <a:p>
              <a:pPr algn="ctr">
                <a:lnSpc>
                  <a:spcPts val="1620"/>
                </a:lnSpc>
              </a:pPr>
              <a:r>
                <a:rPr lang="en-US" sz="1350" b="true">
                  <a:solidFill>
                    <a:srgbClr val="C45300"/>
                  </a:solidFill>
                  <a:latin typeface="Lato Bold"/>
                  <a:ea typeface="Lato Bold"/>
                  <a:cs typeface="Lato Bold"/>
                  <a:sym typeface="Lato Bold"/>
                </a:rPr>
                <a:t>03</a:t>
              </a:r>
            </a:p>
          </p:txBody>
        </p:sp>
      </p:grpSp>
      <p:sp>
        <p:nvSpPr>
          <p:cNvPr name="TextBox 23" id="23"/>
          <p:cNvSpPr txBox="true"/>
          <p:nvPr/>
        </p:nvSpPr>
        <p:spPr>
          <a:xfrm rot="0">
            <a:off x="2143125" y="6872288"/>
            <a:ext cx="3429000" cy="314325"/>
          </a:xfrm>
          <a:prstGeom prst="rect">
            <a:avLst/>
          </a:prstGeom>
        </p:spPr>
        <p:txBody>
          <a:bodyPr anchor="t" rtlCol="false" tIns="0" lIns="0" bIns="0" rIns="0">
            <a:spAutoFit/>
          </a:bodyPr>
          <a:lstStyle/>
          <a:p>
            <a:pPr algn="l">
              <a:lnSpc>
                <a:spcPts val="2474"/>
              </a:lnSpc>
            </a:pPr>
            <a:r>
              <a:rPr lang="en-US" sz="2062" b="true">
                <a:solidFill>
                  <a:srgbClr val="2D180B"/>
                </a:solidFill>
                <a:latin typeface="Lato Bold"/>
                <a:ea typeface="Lato Bold"/>
                <a:cs typeface="Lato Bold"/>
                <a:sym typeface="Lato Bold"/>
              </a:rPr>
              <a:t>Partner pilots</a:t>
            </a:r>
          </a:p>
        </p:txBody>
      </p:sp>
      <p:sp>
        <p:nvSpPr>
          <p:cNvPr name="TextBox 24" id="24"/>
          <p:cNvSpPr txBox="true"/>
          <p:nvPr/>
        </p:nvSpPr>
        <p:spPr>
          <a:xfrm rot="0">
            <a:off x="5929312" y="6877050"/>
            <a:ext cx="4286250" cy="523875"/>
          </a:xfrm>
          <a:prstGeom prst="rect">
            <a:avLst/>
          </a:prstGeom>
        </p:spPr>
        <p:txBody>
          <a:bodyPr anchor="t" rtlCol="false" tIns="0" lIns="0" bIns="0" rIns="0">
            <a:spAutoFit/>
          </a:bodyPr>
          <a:lstStyle/>
          <a:p>
            <a:pPr algn="l">
              <a:lnSpc>
                <a:spcPts val="2025"/>
              </a:lnSpc>
            </a:pPr>
            <a:r>
              <a:rPr lang="en-US" sz="1687">
                <a:solidFill>
                  <a:srgbClr val="2D180B"/>
                </a:solidFill>
                <a:latin typeface="Lato"/>
                <a:ea typeface="Lato"/>
                <a:cs typeface="Lato"/>
                <a:sym typeface="Lato"/>
              </a:rPr>
              <a:t>Test a creator course and an institutional path</a:t>
            </a:r>
          </a:p>
        </p:txBody>
      </p:sp>
      <p:sp>
        <p:nvSpPr>
          <p:cNvPr name="TextBox 25" id="25"/>
          <p:cNvSpPr txBox="true"/>
          <p:nvPr/>
        </p:nvSpPr>
        <p:spPr>
          <a:xfrm rot="0">
            <a:off x="1000125" y="8929688"/>
            <a:ext cx="11430000" cy="514350"/>
          </a:xfrm>
          <a:prstGeom prst="rect">
            <a:avLst/>
          </a:prstGeom>
        </p:spPr>
        <p:txBody>
          <a:bodyPr anchor="t" rtlCol="false" tIns="0" lIns="0" bIns="0" rIns="0">
            <a:spAutoFit/>
          </a:bodyPr>
          <a:lstStyle/>
          <a:p>
            <a:pPr algn="l">
              <a:lnSpc>
                <a:spcPts val="3779"/>
              </a:lnSpc>
            </a:pPr>
            <a:r>
              <a:rPr lang="en-US" sz="3150" b="true">
                <a:solidFill>
                  <a:srgbClr val="2D180B"/>
                </a:solidFill>
                <a:latin typeface="Lato Bold"/>
                <a:ea typeface="Lato Bold"/>
                <a:cs typeface="Lato Bold"/>
                <a:sym typeface="Lato Bold"/>
              </a:rPr>
              <a:t>Bataa gives every learner a next step.</a:t>
            </a:r>
          </a:p>
        </p:txBody>
      </p:sp>
      <p:sp>
        <p:nvSpPr>
          <p:cNvPr name="TextBox 26" id="26"/>
          <p:cNvSpPr txBox="true"/>
          <p:nvPr/>
        </p:nvSpPr>
        <p:spPr>
          <a:xfrm rot="0">
            <a:off x="914400" y="9744075"/>
            <a:ext cx="13144500" cy="257175"/>
          </a:xfrm>
          <a:prstGeom prst="rect">
            <a:avLst/>
          </a:prstGeom>
        </p:spPr>
        <p:txBody>
          <a:bodyPr anchor="t" rtlCol="false" tIns="0" lIns="0" bIns="0" rIns="0">
            <a:spAutoFit/>
          </a:bodyPr>
          <a:lstStyle/>
          <a:p>
            <a:pPr algn="l">
              <a:lnSpc>
                <a:spcPts val="1485"/>
              </a:lnSpc>
            </a:pPr>
            <a:r>
              <a:rPr lang="en-US" sz="1237">
                <a:solidFill>
                  <a:srgbClr val="C9A98C"/>
                </a:solidFill>
                <a:latin typeface="Lato"/>
                <a:ea typeface="Lato"/>
                <a:cs typeface="Lato"/>
                <a:sym typeface="Lato"/>
              </a:rPr>
              <a:t>Close with a specific pilot ask · replace with contact details before presenting</a:t>
            </a:r>
          </a:p>
        </p:txBody>
      </p:sp>
      <p:grpSp>
        <p:nvGrpSpPr>
          <p:cNvPr name="Group 27" id="27"/>
          <p:cNvGrpSpPr/>
          <p:nvPr/>
        </p:nvGrpSpPr>
        <p:grpSpPr>
          <a:xfrm rot="0">
            <a:off x="13390094" y="4862409"/>
            <a:ext cx="2656670" cy="2656670"/>
            <a:chOff x="0" y="0"/>
            <a:chExt cx="990600" cy="990600"/>
          </a:xfrm>
        </p:grpSpPr>
        <p:sp>
          <p:nvSpPr>
            <p:cNvPr name="Freeform 28" id="28"/>
            <p:cNvSpPr/>
            <p:nvPr/>
          </p:nvSpPr>
          <p:spPr>
            <a:xfrm flipH="false" flipV="false" rot="0">
              <a:off x="0" y="0"/>
              <a:ext cx="990600" cy="990600"/>
            </a:xfrm>
            <a:custGeom>
              <a:avLst/>
              <a:gdLst/>
              <a:ahLst/>
              <a:cxnLst/>
              <a:rect r="r" b="b" t="t" l="l"/>
              <a:pathLst>
                <a:path h="990600" w="990600">
                  <a:moveTo>
                    <a:pt x="0" y="495300"/>
                  </a:moveTo>
                  <a:cubicBezTo>
                    <a:pt x="0" y="221742"/>
                    <a:pt x="221742" y="0"/>
                    <a:pt x="495300" y="0"/>
                  </a:cubicBezTo>
                  <a:cubicBezTo>
                    <a:pt x="768858" y="0"/>
                    <a:pt x="990600" y="221742"/>
                    <a:pt x="990600" y="495300"/>
                  </a:cubicBezTo>
                  <a:cubicBezTo>
                    <a:pt x="990600" y="768858"/>
                    <a:pt x="768858" y="990600"/>
                    <a:pt x="495300" y="990600"/>
                  </a:cubicBezTo>
                  <a:cubicBezTo>
                    <a:pt x="221742" y="990600"/>
                    <a:pt x="0" y="768858"/>
                    <a:pt x="0" y="495300"/>
                  </a:cubicBezTo>
                  <a:close/>
                </a:path>
              </a:pathLst>
            </a:custGeom>
            <a:solidFill>
              <a:srgbClr val="2D180B"/>
            </a:solidFill>
            <a:ln cap="sq">
              <a:noFill/>
              <a:prstDash val="solid"/>
              <a:miter/>
            </a:ln>
          </p:spPr>
        </p:sp>
        <p:sp>
          <p:nvSpPr>
            <p:cNvPr name="TextBox 29" id="29"/>
            <p:cNvSpPr txBox="true"/>
            <p:nvPr/>
          </p:nvSpPr>
          <p:spPr>
            <a:xfrm>
              <a:off x="0" y="-9525"/>
              <a:ext cx="990600" cy="1000125"/>
            </a:xfrm>
            <a:prstGeom prst="rect">
              <a:avLst/>
            </a:prstGeom>
          </p:spPr>
          <p:txBody>
            <a:bodyPr anchor="ctr" rtlCol="false" tIns="50800" lIns="50800" bIns="50800" rIns="50800"/>
            <a:lstStyle/>
            <a:p>
              <a:pPr algn="ctr">
                <a:lnSpc>
                  <a:spcPts val="3375"/>
                </a:lnSpc>
              </a:pPr>
              <a:r>
                <a:rPr lang="en-US" b="true" sz="2812">
                  <a:solidFill>
                    <a:srgbClr val="2D180B"/>
                  </a:solidFill>
                  <a:latin typeface="Lato Bold"/>
                  <a:ea typeface="Lato Bold"/>
                  <a:cs typeface="Lato Bold"/>
                  <a:sym typeface="Lato Bold"/>
                </a:rPr>
                <a:t>→</a:t>
              </a:r>
            </a:p>
          </p:txBody>
        </p:sp>
      </p:grpSp>
      <p:sp>
        <p:nvSpPr>
          <p:cNvPr name="TextBox 30" id="30"/>
          <p:cNvSpPr txBox="true"/>
          <p:nvPr/>
        </p:nvSpPr>
        <p:spPr>
          <a:xfrm rot="0">
            <a:off x="13634423" y="4785851"/>
            <a:ext cx="2168014" cy="2529349"/>
          </a:xfrm>
          <a:prstGeom prst="rect">
            <a:avLst/>
          </a:prstGeom>
        </p:spPr>
        <p:txBody>
          <a:bodyPr anchor="t" rtlCol="false" tIns="0" lIns="0" bIns="0" rIns="0">
            <a:spAutoFit/>
          </a:bodyPr>
          <a:lstStyle/>
          <a:p>
            <a:pPr algn="ctr">
              <a:lnSpc>
                <a:spcPts val="20485"/>
              </a:lnSpc>
              <a:spcBef>
                <a:spcPct val="0"/>
              </a:spcBef>
            </a:pPr>
            <a:r>
              <a:rPr lang="en-US" b="true" sz="17070">
                <a:solidFill>
                  <a:srgbClr val="FFFFFF"/>
                </a:solidFill>
                <a:latin typeface="Lato Bold"/>
                <a:ea typeface="Lato Bold"/>
                <a:cs typeface="Lato Bold"/>
                <a:sym typeface="Lato Bold"/>
              </a:rPr>
              <a:t>→</a:t>
            </a:r>
          </a:p>
        </p:txBody>
      </p:sp>
      <p:sp>
        <p:nvSpPr>
          <p:cNvPr name="TextBox 31" id="31"/>
          <p:cNvSpPr txBox="true"/>
          <p:nvPr/>
        </p:nvSpPr>
        <p:spPr>
          <a:xfrm rot="0">
            <a:off x="16859250" y="442912"/>
            <a:ext cx="514350" cy="238125"/>
          </a:xfrm>
          <a:prstGeom prst="rect">
            <a:avLst/>
          </a:prstGeom>
        </p:spPr>
        <p:txBody>
          <a:bodyPr anchor="t" rtlCol="false" tIns="0" lIns="0" bIns="0" rIns="0">
            <a:spAutoFit/>
          </a:bodyPr>
          <a:lstStyle/>
          <a:p>
            <a:pPr algn="r">
              <a:lnSpc>
                <a:spcPts val="1889"/>
              </a:lnSpc>
            </a:pPr>
            <a:r>
              <a:rPr lang="en-US" sz="1575" b="true">
                <a:solidFill>
                  <a:srgbClr val="2D180B"/>
                </a:solidFill>
                <a:latin typeface="Lato Bold"/>
                <a:ea typeface="Lato Bold"/>
                <a:cs typeface="Lato Bold"/>
                <a:sym typeface="Lato Bold"/>
              </a:rPr>
              <a:t>14</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1B100B"/>
        </a:solidFill>
      </p:bgPr>
    </p:bg>
    <p:spTree>
      <p:nvGrpSpPr>
        <p:cNvPr id="1" name=""/>
        <p:cNvGrpSpPr/>
        <p:nvPr/>
      </p:nvGrpSpPr>
      <p:grpSpPr>
        <a:xfrm>
          <a:off x="0" y="0"/>
          <a:ext cx="0" cy="0"/>
          <a:chOff x="0" y="0"/>
          <a:chExt cx="0" cy="0"/>
        </a:xfrm>
      </p:grpSpPr>
      <p:sp>
        <p:nvSpPr>
          <p:cNvPr name="TextBox 2" id="2"/>
          <p:cNvSpPr txBox="true"/>
          <p:nvPr/>
        </p:nvSpPr>
        <p:spPr>
          <a:xfrm rot="0">
            <a:off x="914400" y="380524"/>
            <a:ext cx="1857375" cy="466725"/>
          </a:xfrm>
          <a:prstGeom prst="rect">
            <a:avLst/>
          </a:prstGeom>
        </p:spPr>
        <p:txBody>
          <a:bodyPr anchor="t" rtlCol="false" tIns="0" lIns="0" bIns="0" rIns="0">
            <a:spAutoFit/>
          </a:bodyPr>
          <a:lstStyle/>
          <a:p>
            <a:pPr algn="l">
              <a:lnSpc>
                <a:spcPts val="3104"/>
              </a:lnSpc>
            </a:pPr>
            <a:r>
              <a:rPr lang="en-US" sz="2586" b="true">
                <a:solidFill>
                  <a:srgbClr val="FF8500"/>
                </a:solidFill>
                <a:latin typeface="Lato Bold"/>
                <a:ea typeface="Lato Bold"/>
                <a:cs typeface="Lato Bold"/>
                <a:sym typeface="Lato Bold"/>
              </a:rPr>
              <a:t>bataa</a:t>
            </a:r>
          </a:p>
        </p:txBody>
      </p:sp>
      <p:sp>
        <p:nvSpPr>
          <p:cNvPr name="TextBox 3" id="3"/>
          <p:cNvSpPr txBox="true"/>
          <p:nvPr/>
        </p:nvSpPr>
        <p:spPr>
          <a:xfrm rot="0">
            <a:off x="3171825" y="451961"/>
            <a:ext cx="7143750" cy="352425"/>
          </a:xfrm>
          <a:prstGeom prst="rect">
            <a:avLst/>
          </a:prstGeom>
        </p:spPr>
        <p:txBody>
          <a:bodyPr anchor="t" rtlCol="false" tIns="0" lIns="0" bIns="0" rIns="0">
            <a:spAutoFit/>
          </a:bodyPr>
          <a:lstStyle/>
          <a:p>
            <a:pPr algn="l">
              <a:lnSpc>
                <a:spcPts val="1620"/>
              </a:lnSpc>
            </a:pPr>
            <a:r>
              <a:rPr lang="en-US" sz="1350" b="true">
                <a:solidFill>
                  <a:srgbClr val="D7BDA9"/>
                </a:solidFill>
                <a:latin typeface="Lato Bold"/>
                <a:ea typeface="Lato Bold"/>
                <a:cs typeface="Lato Bold"/>
                <a:sym typeface="Lato Bold"/>
              </a:rPr>
              <a:t>JUDGES WALKTHROUGH &amp; Q&amp;A</a:t>
            </a:r>
          </a:p>
        </p:txBody>
      </p:sp>
      <p:sp>
        <p:nvSpPr>
          <p:cNvPr name="TextBox 4" id="4"/>
          <p:cNvSpPr txBox="true"/>
          <p:nvPr/>
        </p:nvSpPr>
        <p:spPr>
          <a:xfrm rot="0">
            <a:off x="16430625" y="442912"/>
            <a:ext cx="942975" cy="476250"/>
          </a:xfrm>
          <a:prstGeom prst="rect">
            <a:avLst/>
          </a:prstGeom>
        </p:spPr>
        <p:txBody>
          <a:bodyPr anchor="t" rtlCol="false" tIns="0" lIns="0" bIns="0" rIns="0">
            <a:spAutoFit/>
          </a:bodyPr>
          <a:lstStyle/>
          <a:p>
            <a:pPr algn="r">
              <a:lnSpc>
                <a:spcPts val="1889"/>
              </a:lnSpc>
            </a:pPr>
            <a:r>
              <a:rPr lang="en-US" sz="1575" b="true">
                <a:solidFill>
                  <a:srgbClr val="FFF6E9"/>
                </a:solidFill>
                <a:latin typeface="Lato Bold"/>
                <a:ea typeface="Lato Bold"/>
                <a:cs typeface="Lato Bold"/>
                <a:sym typeface="Lato Bold"/>
              </a:rPr>
              <a:t>15</a:t>
            </a:r>
          </a:p>
          <a:p>
            <a:pPr algn="r">
              <a:lnSpc>
                <a:spcPts val="1889"/>
              </a:lnSpc>
            </a:pPr>
          </a:p>
        </p:txBody>
      </p:sp>
      <p:grpSp>
        <p:nvGrpSpPr>
          <p:cNvPr name="Group 5" id="5"/>
          <p:cNvGrpSpPr/>
          <p:nvPr/>
        </p:nvGrpSpPr>
        <p:grpSpPr>
          <a:xfrm rot="0">
            <a:off x="914400" y="985838"/>
            <a:ext cx="16459200" cy="14288"/>
            <a:chOff x="0" y="0"/>
            <a:chExt cx="21945600" cy="19050"/>
          </a:xfrm>
        </p:grpSpPr>
        <p:sp>
          <p:nvSpPr>
            <p:cNvPr name="Freeform 6" id="6"/>
            <p:cNvSpPr/>
            <p:nvPr/>
          </p:nvSpPr>
          <p:spPr>
            <a:xfrm flipH="false" flipV="false" rot="0">
              <a:off x="0" y="0"/>
              <a:ext cx="21945600" cy="19050"/>
            </a:xfrm>
            <a:custGeom>
              <a:avLst/>
              <a:gdLst/>
              <a:ahLst/>
              <a:cxnLst/>
              <a:rect r="r" b="b" t="t" l="l"/>
              <a:pathLst>
                <a:path h="19050" w="21945600">
                  <a:moveTo>
                    <a:pt x="0" y="0"/>
                  </a:moveTo>
                  <a:lnTo>
                    <a:pt x="21945600" y="0"/>
                  </a:lnTo>
                  <a:lnTo>
                    <a:pt x="21945600" y="19050"/>
                  </a:lnTo>
                  <a:lnTo>
                    <a:pt x="0" y="19050"/>
                  </a:lnTo>
                  <a:close/>
                </a:path>
              </a:pathLst>
            </a:custGeom>
            <a:solidFill>
              <a:srgbClr val="5D3B27"/>
            </a:solidFill>
          </p:spPr>
        </p:sp>
      </p:grpSp>
      <p:grpSp>
        <p:nvGrpSpPr>
          <p:cNvPr name="Group 7" id="7"/>
          <p:cNvGrpSpPr/>
          <p:nvPr/>
        </p:nvGrpSpPr>
        <p:grpSpPr>
          <a:xfrm rot="0">
            <a:off x="971550" y="1600200"/>
            <a:ext cx="3714750" cy="457200"/>
            <a:chOff x="0" y="0"/>
            <a:chExt cx="4953000" cy="609600"/>
          </a:xfrm>
        </p:grpSpPr>
        <p:sp>
          <p:nvSpPr>
            <p:cNvPr name="Freeform 8" id="8"/>
            <p:cNvSpPr/>
            <p:nvPr/>
          </p:nvSpPr>
          <p:spPr>
            <a:xfrm flipH="false" flipV="false" rot="0">
              <a:off x="0" y="0"/>
              <a:ext cx="4953000" cy="609600"/>
            </a:xfrm>
            <a:custGeom>
              <a:avLst/>
              <a:gdLst/>
              <a:ahLst/>
              <a:cxnLst/>
              <a:rect r="r" b="b" t="t" l="l"/>
              <a:pathLst>
                <a:path h="609600" w="4953000">
                  <a:moveTo>
                    <a:pt x="0" y="101600"/>
                  </a:moveTo>
                  <a:cubicBezTo>
                    <a:pt x="0" y="45466"/>
                    <a:pt x="45466" y="0"/>
                    <a:pt x="101600" y="0"/>
                  </a:cubicBezTo>
                  <a:lnTo>
                    <a:pt x="4851400" y="0"/>
                  </a:lnTo>
                  <a:cubicBezTo>
                    <a:pt x="4907534" y="0"/>
                    <a:pt x="4953000" y="45466"/>
                    <a:pt x="4953000" y="101600"/>
                  </a:cubicBezTo>
                  <a:lnTo>
                    <a:pt x="4953000" y="508000"/>
                  </a:lnTo>
                  <a:cubicBezTo>
                    <a:pt x="4953000" y="564134"/>
                    <a:pt x="4907534" y="609600"/>
                    <a:pt x="4851400" y="609600"/>
                  </a:cubicBezTo>
                  <a:lnTo>
                    <a:pt x="101600" y="609600"/>
                  </a:lnTo>
                  <a:cubicBezTo>
                    <a:pt x="45466" y="609600"/>
                    <a:pt x="0" y="564134"/>
                    <a:pt x="0" y="508000"/>
                  </a:cubicBezTo>
                  <a:close/>
                </a:path>
              </a:pathLst>
            </a:custGeom>
            <a:solidFill>
              <a:srgbClr val="FF8500"/>
            </a:solidFill>
          </p:spPr>
        </p:sp>
        <p:sp>
          <p:nvSpPr>
            <p:cNvPr name="TextBox 9" id="9"/>
            <p:cNvSpPr txBox="true"/>
            <p:nvPr/>
          </p:nvSpPr>
          <p:spPr>
            <a:xfrm>
              <a:off x="0" y="-19050"/>
              <a:ext cx="4953000" cy="628650"/>
            </a:xfrm>
            <a:prstGeom prst="rect">
              <a:avLst/>
            </a:prstGeom>
          </p:spPr>
          <p:txBody>
            <a:bodyPr anchor="ctr" rtlCol="false" tIns="50800" lIns="50800" bIns="50800" rIns="50800"/>
            <a:lstStyle/>
            <a:p>
              <a:pPr algn="ctr">
                <a:lnSpc>
                  <a:spcPts val="1439"/>
                </a:lnSpc>
              </a:pPr>
              <a:r>
                <a:rPr lang="en-US" sz="1200" b="true">
                  <a:solidFill>
                    <a:srgbClr val="FFFFFF"/>
                  </a:solidFill>
                  <a:latin typeface="Calibri (MS) Bold"/>
                  <a:ea typeface="Calibri (MS) Bold"/>
                  <a:cs typeface="Calibri (MS) Bold"/>
                  <a:sym typeface="Calibri (MS) Bold"/>
                </a:rPr>
                <a:t>▶  VIDEO DEMO &amp; FAQ</a:t>
              </a:r>
            </a:p>
          </p:txBody>
        </p:sp>
      </p:grpSp>
      <p:sp>
        <p:nvSpPr>
          <p:cNvPr name="TextBox 10" id="10"/>
          <p:cNvSpPr txBox="true"/>
          <p:nvPr/>
        </p:nvSpPr>
        <p:spPr>
          <a:xfrm rot="0">
            <a:off x="971550" y="2209800"/>
            <a:ext cx="7457936" cy="1320165"/>
          </a:xfrm>
          <a:prstGeom prst="rect">
            <a:avLst/>
          </a:prstGeom>
        </p:spPr>
        <p:txBody>
          <a:bodyPr anchor="t" rtlCol="false" tIns="0" lIns="0" bIns="0" rIns="0">
            <a:spAutoFit/>
          </a:bodyPr>
          <a:lstStyle/>
          <a:p>
            <a:pPr algn="l">
              <a:lnSpc>
                <a:spcPts val="5279"/>
              </a:lnSpc>
            </a:pPr>
            <a:r>
              <a:rPr lang="en-US" sz="3999" b="true">
                <a:solidFill>
                  <a:srgbClr val="FFF6E9"/>
                </a:solidFill>
                <a:latin typeface="Lato Bold"/>
                <a:ea typeface="Lato Bold"/>
                <a:cs typeface="Lato Bold"/>
                <a:sym typeface="Lato Bold"/>
              </a:rPr>
              <a:t>See Bataa in action —</a:t>
            </a:r>
          </a:p>
          <a:p>
            <a:pPr algn="l">
              <a:lnSpc>
                <a:spcPts val="5279"/>
              </a:lnSpc>
            </a:pPr>
            <a:r>
              <a:rPr lang="en-US" sz="3999" b="true">
                <a:solidFill>
                  <a:srgbClr val="FFF6E9"/>
                </a:solidFill>
                <a:latin typeface="Lato Bold"/>
                <a:ea typeface="Lato Bold"/>
                <a:cs typeface="Lato Bold"/>
                <a:sym typeface="Lato Bold"/>
              </a:rPr>
              <a:t>all questions answered fast.</a:t>
            </a:r>
          </a:p>
        </p:txBody>
      </p:sp>
      <p:sp>
        <p:nvSpPr>
          <p:cNvPr name="TextBox 11" id="11"/>
          <p:cNvSpPr txBox="true"/>
          <p:nvPr/>
        </p:nvSpPr>
        <p:spPr>
          <a:xfrm rot="0">
            <a:off x="1007269" y="3574256"/>
            <a:ext cx="8215312" cy="976313"/>
          </a:xfrm>
          <a:prstGeom prst="rect">
            <a:avLst/>
          </a:prstGeom>
        </p:spPr>
        <p:txBody>
          <a:bodyPr anchor="t" rtlCol="false" tIns="0" lIns="0" bIns="0" rIns="0">
            <a:spAutoFit/>
          </a:bodyPr>
          <a:lstStyle/>
          <a:p>
            <a:pPr algn="l">
              <a:lnSpc>
                <a:spcPts val="2303"/>
              </a:lnSpc>
            </a:pPr>
            <a:r>
              <a:rPr lang="en-US" sz="1599">
                <a:solidFill>
                  <a:srgbClr val="E3CDBB"/>
                </a:solidFill>
                <a:latin typeface="Lato"/>
                <a:ea typeface="Lato"/>
                <a:cs typeface="Lato"/>
                <a:sym typeface="Lato"/>
              </a:rPr>
              <a:t>We recorded an official video walkthrough demonstrating the live product experience and directly answering every competition judge question in minutes.</a:t>
            </a:r>
          </a:p>
        </p:txBody>
      </p:sp>
      <p:grpSp>
        <p:nvGrpSpPr>
          <p:cNvPr name="Group 12" id="12"/>
          <p:cNvGrpSpPr/>
          <p:nvPr/>
        </p:nvGrpSpPr>
        <p:grpSpPr>
          <a:xfrm rot="0">
            <a:off x="914400" y="4693444"/>
            <a:ext cx="8358188" cy="4148524"/>
            <a:chOff x="0" y="0"/>
            <a:chExt cx="11144250" cy="5531366"/>
          </a:xfrm>
        </p:grpSpPr>
        <p:sp>
          <p:nvSpPr>
            <p:cNvPr name="Freeform 13" id="13">
              <a:hlinkClick r:id="rId2" tooltip="https://youtu.be/4Lz5fNhs49g"/>
            </p:cNvPr>
            <p:cNvSpPr/>
            <p:nvPr/>
          </p:nvSpPr>
          <p:spPr>
            <a:xfrm flipH="false" flipV="false" rot="0">
              <a:off x="0" y="0"/>
              <a:ext cx="11144250" cy="5531365"/>
            </a:xfrm>
            <a:custGeom>
              <a:avLst/>
              <a:gdLst/>
              <a:ahLst/>
              <a:cxnLst/>
              <a:rect r="r" b="b" t="t" l="l"/>
              <a:pathLst>
                <a:path h="5531365" w="11144250">
                  <a:moveTo>
                    <a:pt x="0" y="921894"/>
                  </a:moveTo>
                  <a:cubicBezTo>
                    <a:pt x="0" y="412829"/>
                    <a:pt x="349758" y="0"/>
                    <a:pt x="781050" y="0"/>
                  </a:cubicBezTo>
                  <a:lnTo>
                    <a:pt x="10363200" y="0"/>
                  </a:lnTo>
                  <a:cubicBezTo>
                    <a:pt x="10794619" y="0"/>
                    <a:pt x="11144250" y="412829"/>
                    <a:pt x="11144250" y="921894"/>
                  </a:cubicBezTo>
                  <a:lnTo>
                    <a:pt x="11144250" y="4609471"/>
                  </a:lnTo>
                  <a:cubicBezTo>
                    <a:pt x="11144250" y="5118687"/>
                    <a:pt x="10794492" y="5531365"/>
                    <a:pt x="10363200" y="5531365"/>
                  </a:cubicBezTo>
                  <a:lnTo>
                    <a:pt x="781050" y="5531365"/>
                  </a:lnTo>
                  <a:cubicBezTo>
                    <a:pt x="349758" y="5531365"/>
                    <a:pt x="0" y="5118537"/>
                    <a:pt x="0" y="4609471"/>
                  </a:cubicBezTo>
                  <a:close/>
                </a:path>
              </a:pathLst>
            </a:custGeom>
            <a:solidFill>
              <a:srgbClr val="FF8500"/>
            </a:solidFill>
          </p:spPr>
        </p:sp>
      </p:grpSp>
      <p:grpSp>
        <p:nvGrpSpPr>
          <p:cNvPr name="Group 14" id="14"/>
          <p:cNvGrpSpPr/>
          <p:nvPr/>
        </p:nvGrpSpPr>
        <p:grpSpPr>
          <a:xfrm rot="0">
            <a:off x="1314450" y="4979194"/>
            <a:ext cx="2786062" cy="371475"/>
            <a:chOff x="0" y="0"/>
            <a:chExt cx="3714750" cy="495300"/>
          </a:xfrm>
        </p:grpSpPr>
        <p:sp>
          <p:nvSpPr>
            <p:cNvPr name="Freeform 15" id="15">
              <a:hlinkClick r:id="rId3" tooltip="https://youtu.be/4Lz5fNhs49g"/>
            </p:cNvPr>
            <p:cNvSpPr/>
            <p:nvPr/>
          </p:nvSpPr>
          <p:spPr>
            <a:xfrm flipH="false" flipV="false" rot="0">
              <a:off x="0" y="0"/>
              <a:ext cx="3714750" cy="495300"/>
            </a:xfrm>
            <a:custGeom>
              <a:avLst/>
              <a:gdLst/>
              <a:ahLst/>
              <a:cxnLst/>
              <a:rect r="r" b="b" t="t" l="l"/>
              <a:pathLst>
                <a:path h="495300" w="3714750">
                  <a:moveTo>
                    <a:pt x="0" y="82550"/>
                  </a:moveTo>
                  <a:cubicBezTo>
                    <a:pt x="0" y="36957"/>
                    <a:pt x="36957" y="0"/>
                    <a:pt x="82550" y="0"/>
                  </a:cubicBezTo>
                  <a:lnTo>
                    <a:pt x="3632200" y="0"/>
                  </a:lnTo>
                  <a:cubicBezTo>
                    <a:pt x="3677793" y="0"/>
                    <a:pt x="3714750" y="36957"/>
                    <a:pt x="3714750" y="82550"/>
                  </a:cubicBezTo>
                  <a:lnTo>
                    <a:pt x="3714750" y="412750"/>
                  </a:lnTo>
                  <a:cubicBezTo>
                    <a:pt x="3714750" y="458343"/>
                    <a:pt x="3677793" y="495300"/>
                    <a:pt x="3632200" y="495300"/>
                  </a:cubicBezTo>
                  <a:lnTo>
                    <a:pt x="82550" y="495300"/>
                  </a:lnTo>
                  <a:cubicBezTo>
                    <a:pt x="36957" y="495300"/>
                    <a:pt x="0" y="458343"/>
                    <a:pt x="0" y="412750"/>
                  </a:cubicBezTo>
                  <a:close/>
                </a:path>
              </a:pathLst>
            </a:custGeom>
            <a:solidFill>
              <a:srgbClr val="2D180B"/>
            </a:solidFill>
          </p:spPr>
        </p:sp>
        <p:sp>
          <p:nvSpPr>
            <p:cNvPr name="TextBox 16" id="16"/>
            <p:cNvSpPr txBox="true"/>
            <p:nvPr/>
          </p:nvSpPr>
          <p:spPr>
            <a:xfrm>
              <a:off x="0" y="-19050"/>
              <a:ext cx="3714750" cy="514350"/>
            </a:xfrm>
            <a:prstGeom prst="rect">
              <a:avLst/>
            </a:prstGeom>
          </p:spPr>
          <p:txBody>
            <a:bodyPr anchor="ctr" rtlCol="false" tIns="50800" lIns="50800" bIns="50800" rIns="50800"/>
            <a:lstStyle/>
            <a:p>
              <a:pPr algn="ctr">
                <a:lnSpc>
                  <a:spcPts val="1199"/>
                </a:lnSpc>
              </a:pPr>
              <a:r>
                <a:rPr lang="en-US" sz="999" b="true">
                  <a:solidFill>
                    <a:srgbClr val="FFF6E9"/>
                  </a:solidFill>
                  <a:latin typeface="Calibri (MS) Bold"/>
                  <a:ea typeface="Calibri (MS) Bold"/>
                  <a:cs typeface="Calibri (MS) Bold"/>
                  <a:sym typeface="Calibri (MS) Bold"/>
                </a:rPr>
                <a:t>▶  YOUTUBE WALKTHROUGH</a:t>
              </a:r>
            </a:p>
          </p:txBody>
        </p:sp>
      </p:grpSp>
      <p:sp>
        <p:nvSpPr>
          <p:cNvPr name="TextBox 17" id="17"/>
          <p:cNvSpPr txBox="true"/>
          <p:nvPr/>
        </p:nvSpPr>
        <p:spPr>
          <a:xfrm rot="0">
            <a:off x="1314450" y="5769769"/>
            <a:ext cx="5369915" cy="489987"/>
          </a:xfrm>
          <a:prstGeom prst="rect">
            <a:avLst/>
          </a:prstGeom>
        </p:spPr>
        <p:txBody>
          <a:bodyPr anchor="t" rtlCol="false" tIns="0" lIns="0" bIns="0" rIns="0">
            <a:spAutoFit/>
          </a:bodyPr>
          <a:lstStyle/>
          <a:p>
            <a:pPr algn="l">
              <a:lnSpc>
                <a:spcPts val="3851"/>
              </a:lnSpc>
            </a:pPr>
            <a:r>
              <a:rPr lang="en-US" sz="3209" b="true">
                <a:solidFill>
                  <a:srgbClr val="2D180B"/>
                </a:solidFill>
                <a:latin typeface="Lato Bold"/>
                <a:ea typeface="Lato Bold"/>
                <a:cs typeface="Lato Bold"/>
                <a:sym typeface="Lato Bold"/>
              </a:rPr>
              <a:t>youtu.be/4Lz5fNhs49g</a:t>
            </a:r>
          </a:p>
        </p:txBody>
      </p:sp>
      <p:sp>
        <p:nvSpPr>
          <p:cNvPr name="TextBox 18" id="18"/>
          <p:cNvSpPr txBox="true"/>
          <p:nvPr/>
        </p:nvSpPr>
        <p:spPr>
          <a:xfrm rot="0">
            <a:off x="1028700" y="6293413"/>
            <a:ext cx="11311330" cy="2133227"/>
          </a:xfrm>
          <a:prstGeom prst="rect">
            <a:avLst/>
          </a:prstGeom>
        </p:spPr>
        <p:txBody>
          <a:bodyPr anchor="t" rtlCol="false" tIns="0" lIns="0" bIns="0" rIns="0">
            <a:spAutoFit/>
          </a:bodyPr>
          <a:lstStyle/>
          <a:p>
            <a:pPr algn="l" marL="594528" indent="-297264" lvl="1">
              <a:lnSpc>
                <a:spcPts val="4229"/>
              </a:lnSpc>
              <a:buFont typeface="Arial"/>
              <a:buChar char="•"/>
            </a:pPr>
            <a:r>
              <a:rPr lang="en-US" sz="2753">
                <a:solidFill>
                  <a:srgbClr val="2D180B"/>
                </a:solidFill>
                <a:latin typeface="Calibri (MS)"/>
                <a:ea typeface="Calibri (MS)"/>
                <a:cs typeface="Calibri (MS)"/>
                <a:sym typeface="Calibri (MS)"/>
              </a:rPr>
              <a:t>Fast-paced: direct answers in minutes</a:t>
            </a:r>
          </a:p>
          <a:p>
            <a:pPr algn="l" marL="594528" indent="-297264" lvl="1">
              <a:lnSpc>
                <a:spcPts val="4229"/>
              </a:lnSpc>
              <a:buFont typeface="Arial"/>
              <a:buChar char="•"/>
            </a:pPr>
            <a:r>
              <a:rPr lang="en-US" sz="2753">
                <a:solidFill>
                  <a:srgbClr val="2D180B"/>
                </a:solidFill>
                <a:latin typeface="Calibri (MS)"/>
                <a:ea typeface="Calibri (MS)"/>
                <a:cs typeface="Calibri (MS)"/>
                <a:sym typeface="Calibri (MS)"/>
              </a:rPr>
              <a:t>Live mobile web dev practice in action</a:t>
            </a:r>
          </a:p>
          <a:p>
            <a:pPr algn="l" marL="594528" indent="-297264" lvl="1">
              <a:lnSpc>
                <a:spcPts val="4229"/>
              </a:lnSpc>
              <a:buFont typeface="Arial"/>
              <a:buChar char="•"/>
            </a:pPr>
            <a:r>
              <a:rPr lang="en-US" sz="2753">
                <a:solidFill>
                  <a:srgbClr val="2D180B"/>
                </a:solidFill>
                <a:latin typeface="Calibri (MS)"/>
                <a:ea typeface="Calibri (MS)"/>
                <a:cs typeface="Calibri (MS)"/>
                <a:sym typeface="Calibri (MS)"/>
              </a:rPr>
              <a:t>Contextual desktop AI tutor demonstrated</a:t>
            </a:r>
          </a:p>
          <a:p>
            <a:pPr algn="l" marL="594528" indent="-297264" lvl="1">
              <a:lnSpc>
                <a:spcPts val="4229"/>
              </a:lnSpc>
              <a:buFont typeface="Arial"/>
              <a:buChar char="•"/>
            </a:pPr>
            <a:r>
              <a:rPr lang="en-US" sz="2753">
                <a:solidFill>
                  <a:srgbClr val="2D180B"/>
                </a:solidFill>
                <a:latin typeface="Calibri (MS)"/>
                <a:ea typeface="Calibri (MS)"/>
                <a:cs typeface="Calibri (MS)"/>
                <a:sym typeface="Calibri (MS)"/>
              </a:rPr>
              <a:t>Direct answers to judges' evaluation criteria</a:t>
            </a:r>
          </a:p>
        </p:txBody>
      </p:sp>
      <p:grpSp>
        <p:nvGrpSpPr>
          <p:cNvPr name="Group 19" id="19"/>
          <p:cNvGrpSpPr/>
          <p:nvPr/>
        </p:nvGrpSpPr>
        <p:grpSpPr>
          <a:xfrm rot="0">
            <a:off x="11603894" y="1957342"/>
            <a:ext cx="5468856" cy="6786653"/>
            <a:chOff x="0" y="0"/>
            <a:chExt cx="3162300" cy="3924300"/>
          </a:xfrm>
        </p:grpSpPr>
        <p:sp>
          <p:nvSpPr>
            <p:cNvPr name="Freeform 20" id="20">
              <a:hlinkClick r:id="rId4" tooltip="https://youtu.be/4Lz5fNhs49g"/>
            </p:cNvPr>
            <p:cNvSpPr/>
            <p:nvPr/>
          </p:nvSpPr>
          <p:spPr>
            <a:xfrm flipH="false" flipV="false" rot="0">
              <a:off x="0" y="0"/>
              <a:ext cx="3162300" cy="3924300"/>
            </a:xfrm>
            <a:custGeom>
              <a:avLst/>
              <a:gdLst/>
              <a:ahLst/>
              <a:cxnLst/>
              <a:rect r="r" b="b" t="t" l="l"/>
              <a:pathLst>
                <a:path h="3924300" w="3162300">
                  <a:moveTo>
                    <a:pt x="0" y="527050"/>
                  </a:moveTo>
                  <a:cubicBezTo>
                    <a:pt x="0" y="235966"/>
                    <a:pt x="235966" y="0"/>
                    <a:pt x="527050" y="0"/>
                  </a:cubicBezTo>
                  <a:lnTo>
                    <a:pt x="2635250" y="0"/>
                  </a:lnTo>
                  <a:cubicBezTo>
                    <a:pt x="2926334" y="0"/>
                    <a:pt x="3162300" y="235966"/>
                    <a:pt x="3162300" y="527050"/>
                  </a:cubicBezTo>
                  <a:lnTo>
                    <a:pt x="3162300" y="3397250"/>
                  </a:lnTo>
                  <a:cubicBezTo>
                    <a:pt x="3162300" y="3688334"/>
                    <a:pt x="2926334" y="3924300"/>
                    <a:pt x="2635250" y="3924300"/>
                  </a:cubicBezTo>
                  <a:lnTo>
                    <a:pt x="527050" y="3924300"/>
                  </a:lnTo>
                  <a:cubicBezTo>
                    <a:pt x="235966" y="3924300"/>
                    <a:pt x="0" y="3688334"/>
                    <a:pt x="0" y="3397250"/>
                  </a:cubicBezTo>
                  <a:close/>
                </a:path>
              </a:pathLst>
            </a:custGeom>
            <a:solidFill>
              <a:srgbClr val="FFFFFF"/>
            </a:solidFill>
          </p:spPr>
        </p:sp>
      </p:grpSp>
      <p:grpSp>
        <p:nvGrpSpPr>
          <p:cNvPr name="Group 21" id="21"/>
          <p:cNvGrpSpPr/>
          <p:nvPr/>
        </p:nvGrpSpPr>
        <p:grpSpPr>
          <a:xfrm rot="0">
            <a:off x="12038232" y="2393353"/>
            <a:ext cx="4600181" cy="4600181"/>
            <a:chOff x="0" y="0"/>
            <a:chExt cx="2590800" cy="2590800"/>
          </a:xfrm>
        </p:grpSpPr>
        <p:sp>
          <p:nvSpPr>
            <p:cNvPr name="Freeform 22" id="22" descr="bataa_youtube_qr.png">
              <a:hlinkClick r:id="rId5" tooltip="https://youtu.be/4Lz5fNhs49g"/>
            </p:cNvPr>
            <p:cNvSpPr/>
            <p:nvPr/>
          </p:nvSpPr>
          <p:spPr>
            <a:xfrm flipH="false" flipV="false" rot="0">
              <a:off x="0" y="0"/>
              <a:ext cx="2590800" cy="2590800"/>
            </a:xfrm>
            <a:custGeom>
              <a:avLst/>
              <a:gdLst/>
              <a:ahLst/>
              <a:cxnLst/>
              <a:rect r="r" b="b" t="t" l="l"/>
              <a:pathLst>
                <a:path h="2590800" w="2590800">
                  <a:moveTo>
                    <a:pt x="0" y="0"/>
                  </a:moveTo>
                  <a:lnTo>
                    <a:pt x="2590800" y="0"/>
                  </a:lnTo>
                  <a:lnTo>
                    <a:pt x="2590800" y="2590800"/>
                  </a:lnTo>
                  <a:lnTo>
                    <a:pt x="0" y="2590800"/>
                  </a:lnTo>
                  <a:lnTo>
                    <a:pt x="0" y="0"/>
                  </a:lnTo>
                  <a:close/>
                </a:path>
              </a:pathLst>
            </a:custGeom>
            <a:blipFill>
              <a:blip r:embed="rId6"/>
              <a:stretch>
                <a:fillRect l="0" t="0" r="0" b="0"/>
              </a:stretch>
            </a:blipFill>
          </p:spPr>
        </p:sp>
      </p:grpSp>
      <p:sp>
        <p:nvSpPr>
          <p:cNvPr name="TextBox 23" id="23"/>
          <p:cNvSpPr txBox="true"/>
          <p:nvPr/>
        </p:nvSpPr>
        <p:spPr>
          <a:xfrm rot="0">
            <a:off x="12198081" y="7060209"/>
            <a:ext cx="4280484" cy="1246217"/>
          </a:xfrm>
          <a:prstGeom prst="rect">
            <a:avLst/>
          </a:prstGeom>
        </p:spPr>
        <p:txBody>
          <a:bodyPr anchor="t" rtlCol="false" tIns="0" lIns="0" bIns="0" rIns="0">
            <a:spAutoFit/>
          </a:bodyPr>
          <a:lstStyle/>
          <a:p>
            <a:pPr algn="ctr">
              <a:lnSpc>
                <a:spcPts val="2389"/>
              </a:lnSpc>
            </a:pPr>
            <a:r>
              <a:rPr lang="en-US" sz="1990" b="true">
                <a:solidFill>
                  <a:srgbClr val="2D180B"/>
                </a:solidFill>
                <a:latin typeface="Lato Bold"/>
                <a:ea typeface="Lato Bold"/>
                <a:cs typeface="Lato Bold"/>
                <a:sym typeface="Lato Bold"/>
              </a:rPr>
              <a:t>SCAN OR CLICK</a:t>
            </a:r>
          </a:p>
          <a:p>
            <a:pPr algn="ctr">
              <a:lnSpc>
                <a:spcPts val="2161"/>
              </a:lnSpc>
            </a:pPr>
            <a:r>
              <a:rPr lang="en-US" sz="1801">
                <a:solidFill>
                  <a:srgbClr val="6F4525"/>
                </a:solidFill>
                <a:latin typeface="Lato"/>
                <a:ea typeface="Lato"/>
                <a:cs typeface="Lato"/>
                <a:sym typeface="Lato"/>
              </a:rPr>
              <a:t>Watch video instantly</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1B100B"/>
        </a:solidFill>
      </p:bgPr>
    </p:bg>
    <p:spTree>
      <p:nvGrpSpPr>
        <p:cNvPr id="1" name=""/>
        <p:cNvGrpSpPr/>
        <p:nvPr/>
      </p:nvGrpSpPr>
      <p:grpSpPr>
        <a:xfrm>
          <a:off x="0" y="0"/>
          <a:ext cx="0" cy="0"/>
          <a:chOff x="0" y="0"/>
          <a:chExt cx="0" cy="0"/>
        </a:xfrm>
      </p:grpSpPr>
      <p:sp>
        <p:nvSpPr>
          <p:cNvPr name="TextBox 2" id="2"/>
          <p:cNvSpPr txBox="true"/>
          <p:nvPr/>
        </p:nvSpPr>
        <p:spPr>
          <a:xfrm rot="0">
            <a:off x="914400" y="390525"/>
            <a:ext cx="1857375" cy="466725"/>
          </a:xfrm>
          <a:prstGeom prst="rect">
            <a:avLst/>
          </a:prstGeom>
        </p:spPr>
        <p:txBody>
          <a:bodyPr anchor="t" rtlCol="false" tIns="0" lIns="0" bIns="0" rIns="0">
            <a:spAutoFit/>
          </a:bodyPr>
          <a:lstStyle/>
          <a:p>
            <a:pPr algn="l">
              <a:lnSpc>
                <a:spcPts val="3104"/>
              </a:lnSpc>
            </a:pPr>
            <a:r>
              <a:rPr lang="en-US" sz="2587" b="true">
                <a:solidFill>
                  <a:srgbClr val="FF8500"/>
                </a:solidFill>
                <a:latin typeface="Lato Bold"/>
                <a:ea typeface="Lato Bold"/>
                <a:cs typeface="Lato Bold"/>
                <a:sym typeface="Lato Bold"/>
              </a:rPr>
              <a:t>bataa</a:t>
            </a:r>
          </a:p>
        </p:txBody>
      </p:sp>
      <p:sp>
        <p:nvSpPr>
          <p:cNvPr name="TextBox 3" id="3"/>
          <p:cNvSpPr txBox="true"/>
          <p:nvPr/>
        </p:nvSpPr>
        <p:spPr>
          <a:xfrm rot="0">
            <a:off x="3171825" y="461963"/>
            <a:ext cx="6000750" cy="323850"/>
          </a:xfrm>
          <a:prstGeom prst="rect">
            <a:avLst/>
          </a:prstGeom>
        </p:spPr>
        <p:txBody>
          <a:bodyPr anchor="t" rtlCol="false" tIns="0" lIns="0" bIns="0" rIns="0">
            <a:spAutoFit/>
          </a:bodyPr>
          <a:lstStyle/>
          <a:p>
            <a:pPr algn="l">
              <a:lnSpc>
                <a:spcPts val="1620"/>
              </a:lnSpc>
            </a:pPr>
            <a:r>
              <a:rPr lang="en-US" sz="1350" b="true">
                <a:solidFill>
                  <a:srgbClr val="D7BDA9"/>
                </a:solidFill>
                <a:latin typeface="Lato Bold"/>
                <a:ea typeface="Lato Bold"/>
                <a:cs typeface="Lato Bold"/>
                <a:sym typeface="Lato Bold"/>
              </a:rPr>
              <a:t>STAY CONNECTED</a:t>
            </a:r>
          </a:p>
        </p:txBody>
      </p:sp>
      <p:sp>
        <p:nvSpPr>
          <p:cNvPr name="TextBox 4" id="4"/>
          <p:cNvSpPr txBox="true"/>
          <p:nvPr/>
        </p:nvSpPr>
        <p:spPr>
          <a:xfrm rot="0">
            <a:off x="16859250" y="442912"/>
            <a:ext cx="514350" cy="476250"/>
          </a:xfrm>
          <a:prstGeom prst="rect">
            <a:avLst/>
          </a:prstGeom>
        </p:spPr>
        <p:txBody>
          <a:bodyPr anchor="t" rtlCol="false" tIns="0" lIns="0" bIns="0" rIns="0">
            <a:spAutoFit/>
          </a:bodyPr>
          <a:lstStyle/>
          <a:p>
            <a:pPr algn="r">
              <a:lnSpc>
                <a:spcPts val="1889"/>
              </a:lnSpc>
            </a:pPr>
            <a:r>
              <a:rPr lang="en-US" sz="1575">
                <a:solidFill>
                  <a:srgbClr val="FFF6E9"/>
                </a:solidFill>
                <a:latin typeface="Lato"/>
                <a:ea typeface="Lato"/>
                <a:cs typeface="Lato"/>
                <a:sym typeface="Lato"/>
              </a:rPr>
              <a:t>16</a:t>
            </a:r>
          </a:p>
          <a:p>
            <a:pPr algn="r">
              <a:lnSpc>
                <a:spcPts val="1889"/>
              </a:lnSpc>
            </a:pPr>
          </a:p>
        </p:txBody>
      </p:sp>
      <p:sp>
        <p:nvSpPr>
          <p:cNvPr name="AutoShape 5" id="5"/>
          <p:cNvSpPr/>
          <p:nvPr/>
        </p:nvSpPr>
        <p:spPr>
          <a:xfrm rot="3000">
            <a:off x="907256" y="981075"/>
            <a:ext cx="16473497" cy="0"/>
          </a:xfrm>
          <a:prstGeom prst="line">
            <a:avLst/>
          </a:prstGeom>
          <a:ln cap="rnd" w="9525">
            <a:solidFill>
              <a:srgbClr val="5D3B27"/>
            </a:solidFill>
            <a:prstDash val="solid"/>
            <a:headEnd type="none" len="sm" w="sm"/>
            <a:tailEnd type="none" len="sm" w="sm"/>
          </a:ln>
        </p:spPr>
      </p:sp>
      <p:grpSp>
        <p:nvGrpSpPr>
          <p:cNvPr name="Group 6" id="6"/>
          <p:cNvGrpSpPr/>
          <p:nvPr/>
        </p:nvGrpSpPr>
        <p:grpSpPr>
          <a:xfrm rot="0">
            <a:off x="971550" y="1685925"/>
            <a:ext cx="2171700" cy="428625"/>
            <a:chOff x="0" y="0"/>
            <a:chExt cx="2895600" cy="571500"/>
          </a:xfrm>
        </p:grpSpPr>
        <p:sp>
          <p:nvSpPr>
            <p:cNvPr name="Freeform 7" id="7"/>
            <p:cNvSpPr/>
            <p:nvPr/>
          </p:nvSpPr>
          <p:spPr>
            <a:xfrm flipH="false" flipV="false" rot="0">
              <a:off x="0" y="0"/>
              <a:ext cx="2895600" cy="571500"/>
            </a:xfrm>
            <a:custGeom>
              <a:avLst/>
              <a:gdLst/>
              <a:ahLst/>
              <a:cxnLst/>
              <a:rect r="r" b="b" t="t" l="l"/>
              <a:pathLst>
                <a:path h="571500" w="2895600">
                  <a:moveTo>
                    <a:pt x="0" y="285750"/>
                  </a:moveTo>
                  <a:cubicBezTo>
                    <a:pt x="0" y="127889"/>
                    <a:pt x="127889" y="0"/>
                    <a:pt x="285750" y="0"/>
                  </a:cubicBezTo>
                  <a:lnTo>
                    <a:pt x="2609850" y="0"/>
                  </a:lnTo>
                  <a:cubicBezTo>
                    <a:pt x="2767711" y="0"/>
                    <a:pt x="2895600" y="127889"/>
                    <a:pt x="2895600" y="285750"/>
                  </a:cubicBezTo>
                  <a:cubicBezTo>
                    <a:pt x="2895600" y="443611"/>
                    <a:pt x="2767711" y="571500"/>
                    <a:pt x="2609850" y="571500"/>
                  </a:cubicBezTo>
                  <a:lnTo>
                    <a:pt x="285750" y="571500"/>
                  </a:lnTo>
                  <a:cubicBezTo>
                    <a:pt x="127889" y="571500"/>
                    <a:pt x="0" y="443611"/>
                    <a:pt x="0" y="285750"/>
                  </a:cubicBezTo>
                  <a:close/>
                </a:path>
              </a:pathLst>
            </a:custGeom>
            <a:solidFill>
              <a:srgbClr val="FF8500"/>
            </a:solidFill>
            <a:ln cap="sq">
              <a:noFill/>
              <a:prstDash val="solid"/>
              <a:miter/>
            </a:ln>
          </p:spPr>
        </p:sp>
        <p:sp>
          <p:nvSpPr>
            <p:cNvPr name="TextBox 8" id="8"/>
            <p:cNvSpPr txBox="true"/>
            <p:nvPr/>
          </p:nvSpPr>
          <p:spPr>
            <a:xfrm>
              <a:off x="0" y="0"/>
              <a:ext cx="2895600" cy="571500"/>
            </a:xfrm>
            <a:prstGeom prst="rect">
              <a:avLst/>
            </a:prstGeom>
          </p:spPr>
          <p:txBody>
            <a:bodyPr anchor="ctr" rtlCol="false" tIns="50800" lIns="50800" bIns="50800" rIns="50800"/>
            <a:lstStyle/>
            <a:p>
              <a:pPr algn="ctr">
                <a:lnSpc>
                  <a:spcPts val="1723"/>
                </a:lnSpc>
              </a:pPr>
              <a:r>
                <a:rPr lang="en-US" sz="1436" b="true">
                  <a:solidFill>
                    <a:srgbClr val="FFFFFF"/>
                  </a:solidFill>
                  <a:latin typeface="Lato Bold"/>
                  <a:ea typeface="Lato Bold"/>
                  <a:cs typeface="Lato Bold"/>
                  <a:sym typeface="Lato Bold"/>
                </a:rPr>
                <a:t>FOLLOW THE BUILD</a:t>
              </a:r>
            </a:p>
          </p:txBody>
        </p:sp>
      </p:grpSp>
      <p:sp>
        <p:nvSpPr>
          <p:cNvPr name="TextBox 9" id="9"/>
          <p:cNvSpPr txBox="true"/>
          <p:nvPr/>
        </p:nvSpPr>
        <p:spPr>
          <a:xfrm rot="0">
            <a:off x="971550" y="2457450"/>
            <a:ext cx="8715375" cy="1743075"/>
          </a:xfrm>
          <a:prstGeom prst="rect">
            <a:avLst/>
          </a:prstGeom>
        </p:spPr>
        <p:txBody>
          <a:bodyPr anchor="t" rtlCol="false" tIns="0" lIns="0" bIns="0" rIns="0">
            <a:spAutoFit/>
          </a:bodyPr>
          <a:lstStyle/>
          <a:p>
            <a:pPr algn="l">
              <a:lnSpc>
                <a:spcPts val="6862"/>
              </a:lnSpc>
            </a:pPr>
            <a:r>
              <a:rPr lang="en-US" sz="5718" b="true">
                <a:solidFill>
                  <a:srgbClr val="FFF6E9"/>
                </a:solidFill>
                <a:latin typeface="Lato Bold"/>
                <a:ea typeface="Lato Bold"/>
                <a:cs typeface="Lato Bold"/>
                <a:sym typeface="Lato Bold"/>
              </a:rPr>
              <a:t>Keep building</a:t>
            </a:r>
          </a:p>
          <a:p>
            <a:pPr algn="l">
              <a:lnSpc>
                <a:spcPts val="6862"/>
              </a:lnSpc>
            </a:pPr>
            <a:r>
              <a:rPr lang="en-US" sz="5718" b="true">
                <a:solidFill>
                  <a:srgbClr val="FFF6E9"/>
                </a:solidFill>
                <a:latin typeface="Lato Bold"/>
                <a:ea typeface="Lato Bold"/>
                <a:cs typeface="Lato Bold"/>
                <a:sym typeface="Lato Bold"/>
              </a:rPr>
              <a:t>with Bataa</a:t>
            </a:r>
          </a:p>
        </p:txBody>
      </p:sp>
      <p:sp>
        <p:nvSpPr>
          <p:cNvPr name="TextBox 10" id="10"/>
          <p:cNvSpPr txBox="true"/>
          <p:nvPr/>
        </p:nvSpPr>
        <p:spPr>
          <a:xfrm rot="0">
            <a:off x="1000125" y="4457700"/>
            <a:ext cx="7929562" cy="828675"/>
          </a:xfrm>
          <a:prstGeom prst="rect">
            <a:avLst/>
          </a:prstGeom>
        </p:spPr>
        <p:txBody>
          <a:bodyPr anchor="t" rtlCol="false" tIns="0" lIns="0" bIns="0" rIns="0">
            <a:spAutoFit/>
          </a:bodyPr>
          <a:lstStyle/>
          <a:p>
            <a:pPr algn="l">
              <a:lnSpc>
                <a:spcPts val="2835"/>
              </a:lnSpc>
            </a:pPr>
            <a:r>
              <a:rPr lang="en-US" sz="2362">
                <a:solidFill>
                  <a:srgbClr val="E3CDBB"/>
                </a:solidFill>
                <a:latin typeface="Lato"/>
                <a:ea typeface="Lato"/>
                <a:cs typeface="Lato"/>
                <a:sym typeface="Lato"/>
              </a:rPr>
              <a:t>Follow product updates, new lessons, and the next Bataa launch.</a:t>
            </a:r>
          </a:p>
        </p:txBody>
      </p:sp>
      <p:grpSp>
        <p:nvGrpSpPr>
          <p:cNvPr name="Group 11" id="11"/>
          <p:cNvGrpSpPr/>
          <p:nvPr/>
        </p:nvGrpSpPr>
        <p:grpSpPr>
          <a:xfrm rot="0">
            <a:off x="964406" y="5993606"/>
            <a:ext cx="8443912" cy="2128838"/>
            <a:chOff x="0" y="0"/>
            <a:chExt cx="11258550" cy="2838450"/>
          </a:xfrm>
        </p:grpSpPr>
        <p:sp>
          <p:nvSpPr>
            <p:cNvPr name="Freeform 12" id="12"/>
            <p:cNvSpPr/>
            <p:nvPr/>
          </p:nvSpPr>
          <p:spPr>
            <a:xfrm flipH="false" flipV="false" rot="0">
              <a:off x="0" y="0"/>
              <a:ext cx="11258550" cy="2838450"/>
            </a:xfrm>
            <a:custGeom>
              <a:avLst/>
              <a:gdLst/>
              <a:ahLst/>
              <a:cxnLst/>
              <a:rect r="r" b="b" t="t" l="l"/>
              <a:pathLst>
                <a:path h="2838450" w="11258550">
                  <a:moveTo>
                    <a:pt x="0" y="460248"/>
                  </a:moveTo>
                  <a:cubicBezTo>
                    <a:pt x="0" y="206121"/>
                    <a:pt x="206121" y="0"/>
                    <a:pt x="460248" y="0"/>
                  </a:cubicBezTo>
                  <a:lnTo>
                    <a:pt x="10798302" y="0"/>
                  </a:lnTo>
                  <a:cubicBezTo>
                    <a:pt x="11052556" y="0"/>
                    <a:pt x="11258550" y="206121"/>
                    <a:pt x="11258550" y="460248"/>
                  </a:cubicBezTo>
                  <a:lnTo>
                    <a:pt x="11258550" y="2378202"/>
                  </a:lnTo>
                  <a:cubicBezTo>
                    <a:pt x="11258550" y="2632456"/>
                    <a:pt x="11052429" y="2838450"/>
                    <a:pt x="10798302" y="2838450"/>
                  </a:cubicBezTo>
                  <a:lnTo>
                    <a:pt x="460248" y="2838450"/>
                  </a:lnTo>
                  <a:cubicBezTo>
                    <a:pt x="206121" y="2838450"/>
                    <a:pt x="0" y="2632329"/>
                    <a:pt x="0" y="2378202"/>
                  </a:cubicBezTo>
                  <a:close/>
                </a:path>
              </a:pathLst>
            </a:custGeom>
            <a:solidFill>
              <a:srgbClr val="FF8500"/>
            </a:solidFill>
            <a:ln w="14288" cap="sq">
              <a:solidFill>
                <a:srgbClr val="FF8500"/>
              </a:solidFill>
              <a:prstDash val="solid"/>
              <a:miter/>
            </a:ln>
          </p:spPr>
        </p:sp>
      </p:grpSp>
      <p:sp>
        <p:nvSpPr>
          <p:cNvPr name="TextBox 13" id="13"/>
          <p:cNvSpPr txBox="true"/>
          <p:nvPr/>
        </p:nvSpPr>
        <p:spPr>
          <a:xfrm rot="0">
            <a:off x="1428750" y="6419850"/>
            <a:ext cx="1600200" cy="295275"/>
          </a:xfrm>
          <a:prstGeom prst="rect">
            <a:avLst/>
          </a:prstGeom>
        </p:spPr>
        <p:txBody>
          <a:bodyPr anchor="t" rtlCol="false" tIns="0" lIns="0" bIns="0" rIns="0">
            <a:spAutoFit/>
          </a:bodyPr>
          <a:lstStyle/>
          <a:p>
            <a:pPr algn="l">
              <a:lnSpc>
                <a:spcPts val="1620"/>
              </a:lnSpc>
            </a:pPr>
            <a:r>
              <a:rPr lang="en-US" sz="1350" b="true">
                <a:solidFill>
                  <a:srgbClr val="2D180B"/>
                </a:solidFill>
                <a:latin typeface="Lato Bold"/>
                <a:ea typeface="Lato Bold"/>
                <a:cs typeface="Lato Bold"/>
                <a:sym typeface="Lato Bold"/>
              </a:rPr>
              <a:t>START HERE</a:t>
            </a:r>
          </a:p>
        </p:txBody>
      </p:sp>
      <p:sp>
        <p:nvSpPr>
          <p:cNvPr name="TextBox 14" id="14"/>
          <p:cNvSpPr txBox="true"/>
          <p:nvPr/>
        </p:nvSpPr>
        <p:spPr>
          <a:xfrm rot="0">
            <a:off x="1428750" y="6905625"/>
            <a:ext cx="6000750" cy="809625"/>
          </a:xfrm>
          <a:prstGeom prst="rect">
            <a:avLst/>
          </a:prstGeom>
        </p:spPr>
        <p:txBody>
          <a:bodyPr anchor="t" rtlCol="false" tIns="0" lIns="0" bIns="0" rIns="0">
            <a:spAutoFit/>
          </a:bodyPr>
          <a:lstStyle/>
          <a:p>
            <a:pPr algn="l">
              <a:lnSpc>
                <a:spcPts val="5805"/>
              </a:lnSpc>
            </a:pPr>
            <a:r>
              <a:rPr lang="en-US" sz="4837" b="true">
                <a:solidFill>
                  <a:srgbClr val="2D180B"/>
                </a:solidFill>
                <a:latin typeface="Lato Bold"/>
                <a:ea typeface="Lato Bold"/>
                <a:cs typeface="Lato Bold"/>
                <a:sym typeface="Lato Bold"/>
              </a:rPr>
              <a:t>bataa.app</a:t>
            </a:r>
          </a:p>
        </p:txBody>
      </p:sp>
      <p:grpSp>
        <p:nvGrpSpPr>
          <p:cNvPr name="Group 15" id="15"/>
          <p:cNvGrpSpPr/>
          <p:nvPr/>
        </p:nvGrpSpPr>
        <p:grpSpPr>
          <a:xfrm rot="0">
            <a:off x="8143875" y="6686550"/>
            <a:ext cx="742950" cy="742950"/>
            <a:chOff x="0" y="0"/>
            <a:chExt cx="990600" cy="990600"/>
          </a:xfrm>
        </p:grpSpPr>
        <p:sp>
          <p:nvSpPr>
            <p:cNvPr name="Freeform 16" id="16"/>
            <p:cNvSpPr/>
            <p:nvPr/>
          </p:nvSpPr>
          <p:spPr>
            <a:xfrm flipH="false" flipV="false" rot="0">
              <a:off x="0" y="0"/>
              <a:ext cx="990600" cy="990600"/>
            </a:xfrm>
            <a:custGeom>
              <a:avLst/>
              <a:gdLst/>
              <a:ahLst/>
              <a:cxnLst/>
              <a:rect r="r" b="b" t="t" l="l"/>
              <a:pathLst>
                <a:path h="990600" w="990600">
                  <a:moveTo>
                    <a:pt x="0" y="495300"/>
                  </a:moveTo>
                  <a:cubicBezTo>
                    <a:pt x="0" y="221742"/>
                    <a:pt x="221742" y="0"/>
                    <a:pt x="495300" y="0"/>
                  </a:cubicBezTo>
                  <a:cubicBezTo>
                    <a:pt x="768858" y="0"/>
                    <a:pt x="990600" y="221742"/>
                    <a:pt x="990600" y="495300"/>
                  </a:cubicBezTo>
                  <a:cubicBezTo>
                    <a:pt x="990600" y="768858"/>
                    <a:pt x="768858" y="990600"/>
                    <a:pt x="495300" y="990600"/>
                  </a:cubicBezTo>
                  <a:cubicBezTo>
                    <a:pt x="221742" y="990600"/>
                    <a:pt x="0" y="768858"/>
                    <a:pt x="0" y="495300"/>
                  </a:cubicBezTo>
                  <a:close/>
                </a:path>
              </a:pathLst>
            </a:custGeom>
            <a:solidFill>
              <a:srgbClr val="FFF6E9"/>
            </a:solidFill>
            <a:ln cap="sq">
              <a:noFill/>
              <a:prstDash val="solid"/>
              <a:miter/>
            </a:ln>
          </p:spPr>
        </p:sp>
        <p:sp>
          <p:nvSpPr>
            <p:cNvPr name="TextBox 17" id="17"/>
            <p:cNvSpPr txBox="true"/>
            <p:nvPr/>
          </p:nvSpPr>
          <p:spPr>
            <a:xfrm>
              <a:off x="0" y="-9525"/>
              <a:ext cx="990600" cy="1000125"/>
            </a:xfrm>
            <a:prstGeom prst="rect">
              <a:avLst/>
            </a:prstGeom>
          </p:spPr>
          <p:txBody>
            <a:bodyPr anchor="ctr" rtlCol="false" tIns="50800" lIns="50800" bIns="50800" rIns="50800"/>
            <a:lstStyle/>
            <a:p>
              <a:pPr algn="ctr">
                <a:lnSpc>
                  <a:spcPts val="3375"/>
                </a:lnSpc>
              </a:pPr>
              <a:r>
                <a:rPr lang="en-US" sz="2812" b="true">
                  <a:solidFill>
                    <a:srgbClr val="C45300"/>
                  </a:solidFill>
                  <a:latin typeface="Lato Bold"/>
                  <a:ea typeface="Lato Bold"/>
                  <a:cs typeface="Lato Bold"/>
                  <a:sym typeface="Lato Bold"/>
                </a:rPr>
                <a:t>→</a:t>
              </a:r>
            </a:p>
          </p:txBody>
        </p:sp>
      </p:grpSp>
      <p:grpSp>
        <p:nvGrpSpPr>
          <p:cNvPr name="Group 18" id="18"/>
          <p:cNvGrpSpPr/>
          <p:nvPr/>
        </p:nvGrpSpPr>
        <p:grpSpPr>
          <a:xfrm rot="0">
            <a:off x="10679906" y="1678781"/>
            <a:ext cx="6700838" cy="6443662"/>
            <a:chOff x="0" y="0"/>
            <a:chExt cx="8934450" cy="8591550"/>
          </a:xfrm>
        </p:grpSpPr>
        <p:sp>
          <p:nvSpPr>
            <p:cNvPr name="Freeform 19" id="19"/>
            <p:cNvSpPr/>
            <p:nvPr/>
          </p:nvSpPr>
          <p:spPr>
            <a:xfrm flipH="false" flipV="false" rot="0">
              <a:off x="0" y="0"/>
              <a:ext cx="8934450" cy="8591550"/>
            </a:xfrm>
            <a:custGeom>
              <a:avLst/>
              <a:gdLst/>
              <a:ahLst/>
              <a:cxnLst/>
              <a:rect r="r" b="b" t="t" l="l"/>
              <a:pathLst>
                <a:path h="8591550" w="8934450">
                  <a:moveTo>
                    <a:pt x="0" y="458216"/>
                  </a:moveTo>
                  <a:cubicBezTo>
                    <a:pt x="0" y="205105"/>
                    <a:pt x="205105" y="0"/>
                    <a:pt x="458216" y="0"/>
                  </a:cubicBezTo>
                  <a:lnTo>
                    <a:pt x="8476234" y="0"/>
                  </a:lnTo>
                  <a:cubicBezTo>
                    <a:pt x="8729345" y="0"/>
                    <a:pt x="8934450" y="205105"/>
                    <a:pt x="8934450" y="458216"/>
                  </a:cubicBezTo>
                  <a:lnTo>
                    <a:pt x="8934450" y="8133334"/>
                  </a:lnTo>
                  <a:cubicBezTo>
                    <a:pt x="8934450" y="8386445"/>
                    <a:pt x="8729345" y="8591550"/>
                    <a:pt x="8476234" y="8591550"/>
                  </a:cubicBezTo>
                  <a:lnTo>
                    <a:pt x="458216" y="8591550"/>
                  </a:lnTo>
                  <a:cubicBezTo>
                    <a:pt x="205105" y="8591550"/>
                    <a:pt x="0" y="8386445"/>
                    <a:pt x="0" y="8133334"/>
                  </a:cubicBezTo>
                  <a:close/>
                </a:path>
              </a:pathLst>
            </a:custGeom>
            <a:solidFill>
              <a:srgbClr val="2B1910"/>
            </a:solidFill>
            <a:ln w="14288" cap="sq">
              <a:solidFill>
                <a:srgbClr val="5D3B27"/>
              </a:solidFill>
              <a:prstDash val="solid"/>
              <a:miter/>
            </a:ln>
          </p:spPr>
        </p:sp>
      </p:grpSp>
      <p:sp>
        <p:nvSpPr>
          <p:cNvPr name="TextBox 20" id="20"/>
          <p:cNvSpPr txBox="true"/>
          <p:nvPr/>
        </p:nvSpPr>
        <p:spPr>
          <a:xfrm rot="0">
            <a:off x="11258550" y="2233613"/>
            <a:ext cx="5143500" cy="466725"/>
          </a:xfrm>
          <a:prstGeom prst="rect">
            <a:avLst/>
          </a:prstGeom>
        </p:spPr>
        <p:txBody>
          <a:bodyPr anchor="t" rtlCol="false" tIns="0" lIns="0" bIns="0" rIns="0">
            <a:spAutoFit/>
          </a:bodyPr>
          <a:lstStyle/>
          <a:p>
            <a:pPr algn="l">
              <a:lnSpc>
                <a:spcPts val="3375"/>
              </a:lnSpc>
            </a:pPr>
            <a:r>
              <a:rPr lang="en-US" sz="2812" b="true">
                <a:solidFill>
                  <a:srgbClr val="FFF6E9"/>
                </a:solidFill>
                <a:latin typeface="Lato Bold"/>
                <a:ea typeface="Lato Bold"/>
                <a:cs typeface="Lato Bold"/>
                <a:sym typeface="Lato Bold"/>
              </a:rPr>
              <a:t>Follow us on social</a:t>
            </a:r>
          </a:p>
        </p:txBody>
      </p:sp>
      <p:sp>
        <p:nvSpPr>
          <p:cNvPr name="TextBox 21" id="21"/>
          <p:cNvSpPr txBox="true"/>
          <p:nvPr/>
        </p:nvSpPr>
        <p:spPr>
          <a:xfrm rot="0">
            <a:off x="11258550" y="2757488"/>
            <a:ext cx="4286250" cy="300038"/>
          </a:xfrm>
          <a:prstGeom prst="rect">
            <a:avLst/>
          </a:prstGeom>
        </p:spPr>
        <p:txBody>
          <a:bodyPr anchor="t" rtlCol="false" tIns="0" lIns="0" bIns="0" rIns="0">
            <a:spAutoFit/>
          </a:bodyPr>
          <a:lstStyle/>
          <a:p>
            <a:pPr algn="l">
              <a:lnSpc>
                <a:spcPts val="1889"/>
              </a:lnSpc>
            </a:pPr>
            <a:r>
              <a:rPr lang="en-US" sz="1575">
                <a:solidFill>
                  <a:srgbClr val="C9A98C"/>
                </a:solidFill>
                <a:latin typeface="Lato"/>
                <a:ea typeface="Lato"/>
                <a:cs typeface="Lato"/>
                <a:sym typeface="Lato"/>
              </a:rPr>
              <a:t>Find Bataa on every platform</a:t>
            </a:r>
          </a:p>
        </p:txBody>
      </p:sp>
      <p:grpSp>
        <p:nvGrpSpPr>
          <p:cNvPr name="Group 22" id="22"/>
          <p:cNvGrpSpPr/>
          <p:nvPr/>
        </p:nvGrpSpPr>
        <p:grpSpPr>
          <a:xfrm rot="0">
            <a:off x="11251406" y="3307556"/>
            <a:ext cx="5557838" cy="871538"/>
            <a:chOff x="0" y="0"/>
            <a:chExt cx="7410450" cy="1162050"/>
          </a:xfrm>
        </p:grpSpPr>
        <p:sp>
          <p:nvSpPr>
            <p:cNvPr name="Freeform 23" id="23"/>
            <p:cNvSpPr/>
            <p:nvPr/>
          </p:nvSpPr>
          <p:spPr>
            <a:xfrm flipH="false" flipV="false" rot="0">
              <a:off x="0" y="0"/>
              <a:ext cx="7410450" cy="1162050"/>
            </a:xfrm>
            <a:custGeom>
              <a:avLst/>
              <a:gdLst/>
              <a:ahLst/>
              <a:cxnLst/>
              <a:rect r="r" b="b" t="t" l="l"/>
              <a:pathLst>
                <a:path h="1162050" w="7410450">
                  <a:moveTo>
                    <a:pt x="0" y="232410"/>
                  </a:moveTo>
                  <a:cubicBezTo>
                    <a:pt x="0" y="104013"/>
                    <a:pt x="104013" y="0"/>
                    <a:pt x="232410" y="0"/>
                  </a:cubicBezTo>
                  <a:lnTo>
                    <a:pt x="7178040" y="0"/>
                  </a:lnTo>
                  <a:cubicBezTo>
                    <a:pt x="7306437" y="0"/>
                    <a:pt x="7410450" y="104013"/>
                    <a:pt x="7410450" y="232410"/>
                  </a:cubicBezTo>
                  <a:lnTo>
                    <a:pt x="7410450" y="929640"/>
                  </a:lnTo>
                  <a:cubicBezTo>
                    <a:pt x="7410450" y="1058037"/>
                    <a:pt x="7306437" y="1162050"/>
                    <a:pt x="7178040" y="1162050"/>
                  </a:cubicBezTo>
                  <a:lnTo>
                    <a:pt x="232410" y="1162050"/>
                  </a:lnTo>
                  <a:cubicBezTo>
                    <a:pt x="104013" y="1162050"/>
                    <a:pt x="0" y="1058037"/>
                    <a:pt x="0" y="929640"/>
                  </a:cubicBezTo>
                  <a:close/>
                </a:path>
              </a:pathLst>
            </a:custGeom>
            <a:solidFill>
              <a:srgbClr val="351F14"/>
            </a:solidFill>
            <a:ln w="14288" cap="sq">
              <a:solidFill>
                <a:srgbClr val="5D3B27"/>
              </a:solidFill>
              <a:prstDash val="solid"/>
              <a:miter/>
            </a:ln>
          </p:spPr>
        </p:sp>
      </p:grpSp>
      <p:grpSp>
        <p:nvGrpSpPr>
          <p:cNvPr name="Group 24" id="24"/>
          <p:cNvGrpSpPr/>
          <p:nvPr/>
        </p:nvGrpSpPr>
        <p:grpSpPr>
          <a:xfrm rot="0">
            <a:off x="11515725" y="3457575"/>
            <a:ext cx="571500" cy="571500"/>
            <a:chOff x="0" y="0"/>
            <a:chExt cx="762000" cy="762000"/>
          </a:xfrm>
        </p:grpSpPr>
        <p:sp>
          <p:nvSpPr>
            <p:cNvPr name="Freeform 25" id="25"/>
            <p:cNvSpPr/>
            <p:nvPr/>
          </p:nvSpPr>
          <p:spPr>
            <a:xfrm flipH="false" flipV="false" rot="0">
              <a:off x="0" y="0"/>
              <a:ext cx="762000" cy="762000"/>
            </a:xfrm>
            <a:custGeom>
              <a:avLst/>
              <a:gdLst/>
              <a:ahLst/>
              <a:cxnLst/>
              <a:rect r="r" b="b" t="t" l="l"/>
              <a:pathLst>
                <a:path h="762000" w="762000">
                  <a:moveTo>
                    <a:pt x="0" y="381000"/>
                  </a:moveTo>
                  <a:cubicBezTo>
                    <a:pt x="0" y="170561"/>
                    <a:pt x="170561" y="0"/>
                    <a:pt x="381000" y="0"/>
                  </a:cubicBezTo>
                  <a:cubicBezTo>
                    <a:pt x="591439" y="0"/>
                    <a:pt x="762000" y="170561"/>
                    <a:pt x="762000" y="381000"/>
                  </a:cubicBezTo>
                  <a:cubicBezTo>
                    <a:pt x="762000" y="591439"/>
                    <a:pt x="591439" y="762000"/>
                    <a:pt x="381000" y="762000"/>
                  </a:cubicBezTo>
                  <a:cubicBezTo>
                    <a:pt x="170561" y="762000"/>
                    <a:pt x="0" y="591439"/>
                    <a:pt x="0" y="381000"/>
                  </a:cubicBezTo>
                  <a:close/>
                </a:path>
              </a:pathLst>
            </a:custGeom>
            <a:solidFill>
              <a:srgbClr val="FFF6E9"/>
            </a:solidFill>
            <a:ln cap="sq">
              <a:noFill/>
              <a:prstDash val="solid"/>
              <a:miter/>
            </a:ln>
          </p:spPr>
        </p:sp>
      </p:grpSp>
      <p:grpSp>
        <p:nvGrpSpPr>
          <p:cNvPr name="Group 26" id="26"/>
          <p:cNvGrpSpPr/>
          <p:nvPr/>
        </p:nvGrpSpPr>
        <p:grpSpPr>
          <a:xfrm rot="0">
            <a:off x="11658600" y="3600450"/>
            <a:ext cx="285750" cy="285750"/>
            <a:chOff x="0" y="0"/>
            <a:chExt cx="381000" cy="381000"/>
          </a:xfrm>
        </p:grpSpPr>
        <p:sp>
          <p:nvSpPr>
            <p:cNvPr name="Freeform 27" id="27"/>
            <p:cNvSpPr/>
            <p:nvPr/>
          </p:nvSpPr>
          <p:spPr>
            <a:xfrm flipH="false" flipV="false" rot="0">
              <a:off x="0" y="0"/>
              <a:ext cx="381000" cy="381000"/>
            </a:xfrm>
            <a:custGeom>
              <a:avLst/>
              <a:gdLst/>
              <a:ahLst/>
              <a:cxnLst/>
              <a:rect r="r" b="b" t="t" l="l"/>
              <a:pathLst>
                <a:path h="381000" w="381000">
                  <a:moveTo>
                    <a:pt x="0" y="0"/>
                  </a:moveTo>
                  <a:lnTo>
                    <a:pt x="381000" y="0"/>
                  </a:lnTo>
                  <a:lnTo>
                    <a:pt x="381000" y="381000"/>
                  </a:lnTo>
                  <a:lnTo>
                    <a:pt x="0" y="381000"/>
                  </a:lnTo>
                  <a:lnTo>
                    <a:pt x="0" y="0"/>
                  </a:lnTo>
                  <a:close/>
                </a:path>
              </a:pathLst>
            </a:custGeom>
            <a:blipFill>
              <a:blip r:embed="rId3"/>
              <a:stretch>
                <a:fillRect l="0" t="0" r="0" b="0"/>
              </a:stretch>
            </a:blipFill>
          </p:spPr>
        </p:sp>
      </p:grpSp>
      <p:sp>
        <p:nvSpPr>
          <p:cNvPr name="TextBox 28" id="28"/>
          <p:cNvSpPr txBox="true"/>
          <p:nvPr/>
        </p:nvSpPr>
        <p:spPr>
          <a:xfrm rot="0">
            <a:off x="12372975" y="3457575"/>
            <a:ext cx="2571750" cy="257175"/>
          </a:xfrm>
          <a:prstGeom prst="rect">
            <a:avLst/>
          </a:prstGeom>
        </p:spPr>
        <p:txBody>
          <a:bodyPr anchor="t" rtlCol="false" tIns="0" lIns="0" bIns="0" rIns="0">
            <a:spAutoFit/>
          </a:bodyPr>
          <a:lstStyle/>
          <a:p>
            <a:pPr algn="l">
              <a:lnSpc>
                <a:spcPts val="1485"/>
              </a:lnSpc>
            </a:pPr>
            <a:r>
              <a:rPr lang="en-US" sz="1237" b="true">
                <a:solidFill>
                  <a:srgbClr val="FFD5A3"/>
                </a:solidFill>
                <a:latin typeface="Lato Bold"/>
                <a:ea typeface="Lato Bold"/>
                <a:cs typeface="Lato Bold"/>
                <a:sym typeface="Lato Bold"/>
              </a:rPr>
              <a:t>TIKTOK</a:t>
            </a:r>
          </a:p>
        </p:txBody>
      </p:sp>
      <p:sp>
        <p:nvSpPr>
          <p:cNvPr name="TextBox 29" id="29"/>
          <p:cNvSpPr txBox="true"/>
          <p:nvPr/>
        </p:nvSpPr>
        <p:spPr>
          <a:xfrm rot="0">
            <a:off x="12372975" y="3719513"/>
            <a:ext cx="3143250" cy="338137"/>
          </a:xfrm>
          <a:prstGeom prst="rect">
            <a:avLst/>
          </a:prstGeom>
        </p:spPr>
        <p:txBody>
          <a:bodyPr anchor="t" rtlCol="false" tIns="0" lIns="0" bIns="0" rIns="0">
            <a:spAutoFit/>
          </a:bodyPr>
          <a:lstStyle/>
          <a:p>
            <a:pPr algn="l">
              <a:lnSpc>
                <a:spcPts val="2430"/>
              </a:lnSpc>
            </a:pPr>
            <a:r>
              <a:rPr lang="en-US" sz="2025" b="true">
                <a:solidFill>
                  <a:srgbClr val="FFF6E9"/>
                </a:solidFill>
                <a:latin typeface="Lato Bold"/>
                <a:ea typeface="Lato Bold"/>
                <a:cs typeface="Lato Bold"/>
                <a:sym typeface="Lato Bold"/>
              </a:rPr>
              <a:t>Bataa</a:t>
            </a:r>
          </a:p>
        </p:txBody>
      </p:sp>
      <p:grpSp>
        <p:nvGrpSpPr>
          <p:cNvPr name="Group 30" id="30"/>
          <p:cNvGrpSpPr/>
          <p:nvPr/>
        </p:nvGrpSpPr>
        <p:grpSpPr>
          <a:xfrm rot="0">
            <a:off x="11251406" y="4393406"/>
            <a:ext cx="5557838" cy="871538"/>
            <a:chOff x="0" y="0"/>
            <a:chExt cx="7410450" cy="1162050"/>
          </a:xfrm>
        </p:grpSpPr>
        <p:sp>
          <p:nvSpPr>
            <p:cNvPr name="Freeform 31" id="31"/>
            <p:cNvSpPr/>
            <p:nvPr/>
          </p:nvSpPr>
          <p:spPr>
            <a:xfrm flipH="false" flipV="false" rot="0">
              <a:off x="0" y="0"/>
              <a:ext cx="7410450" cy="1162050"/>
            </a:xfrm>
            <a:custGeom>
              <a:avLst/>
              <a:gdLst/>
              <a:ahLst/>
              <a:cxnLst/>
              <a:rect r="r" b="b" t="t" l="l"/>
              <a:pathLst>
                <a:path h="1162050" w="7410450">
                  <a:moveTo>
                    <a:pt x="0" y="232410"/>
                  </a:moveTo>
                  <a:cubicBezTo>
                    <a:pt x="0" y="104013"/>
                    <a:pt x="104013" y="0"/>
                    <a:pt x="232410" y="0"/>
                  </a:cubicBezTo>
                  <a:lnTo>
                    <a:pt x="7178040" y="0"/>
                  </a:lnTo>
                  <a:cubicBezTo>
                    <a:pt x="7306437" y="0"/>
                    <a:pt x="7410450" y="104013"/>
                    <a:pt x="7410450" y="232410"/>
                  </a:cubicBezTo>
                  <a:lnTo>
                    <a:pt x="7410450" y="929640"/>
                  </a:lnTo>
                  <a:cubicBezTo>
                    <a:pt x="7410450" y="1058037"/>
                    <a:pt x="7306437" y="1162050"/>
                    <a:pt x="7178040" y="1162050"/>
                  </a:cubicBezTo>
                  <a:lnTo>
                    <a:pt x="232410" y="1162050"/>
                  </a:lnTo>
                  <a:cubicBezTo>
                    <a:pt x="104013" y="1162050"/>
                    <a:pt x="0" y="1058037"/>
                    <a:pt x="0" y="929640"/>
                  </a:cubicBezTo>
                  <a:close/>
                </a:path>
              </a:pathLst>
            </a:custGeom>
            <a:solidFill>
              <a:srgbClr val="351F14"/>
            </a:solidFill>
            <a:ln w="14288" cap="sq">
              <a:solidFill>
                <a:srgbClr val="5D3B27"/>
              </a:solidFill>
              <a:prstDash val="solid"/>
              <a:miter/>
            </a:ln>
          </p:spPr>
        </p:sp>
      </p:grpSp>
      <p:grpSp>
        <p:nvGrpSpPr>
          <p:cNvPr name="Group 32" id="32"/>
          <p:cNvGrpSpPr/>
          <p:nvPr/>
        </p:nvGrpSpPr>
        <p:grpSpPr>
          <a:xfrm rot="0">
            <a:off x="11515725" y="4543425"/>
            <a:ext cx="571500" cy="571500"/>
            <a:chOff x="0" y="0"/>
            <a:chExt cx="762000" cy="762000"/>
          </a:xfrm>
        </p:grpSpPr>
        <p:sp>
          <p:nvSpPr>
            <p:cNvPr name="Freeform 33" id="33"/>
            <p:cNvSpPr/>
            <p:nvPr/>
          </p:nvSpPr>
          <p:spPr>
            <a:xfrm flipH="false" flipV="false" rot="0">
              <a:off x="0" y="0"/>
              <a:ext cx="762000" cy="762000"/>
            </a:xfrm>
            <a:custGeom>
              <a:avLst/>
              <a:gdLst/>
              <a:ahLst/>
              <a:cxnLst/>
              <a:rect r="r" b="b" t="t" l="l"/>
              <a:pathLst>
                <a:path h="762000" w="762000">
                  <a:moveTo>
                    <a:pt x="0" y="381000"/>
                  </a:moveTo>
                  <a:cubicBezTo>
                    <a:pt x="0" y="170561"/>
                    <a:pt x="170561" y="0"/>
                    <a:pt x="381000" y="0"/>
                  </a:cubicBezTo>
                  <a:cubicBezTo>
                    <a:pt x="591439" y="0"/>
                    <a:pt x="762000" y="170561"/>
                    <a:pt x="762000" y="381000"/>
                  </a:cubicBezTo>
                  <a:cubicBezTo>
                    <a:pt x="762000" y="591439"/>
                    <a:pt x="591439" y="762000"/>
                    <a:pt x="381000" y="762000"/>
                  </a:cubicBezTo>
                  <a:cubicBezTo>
                    <a:pt x="170561" y="762000"/>
                    <a:pt x="0" y="591439"/>
                    <a:pt x="0" y="381000"/>
                  </a:cubicBezTo>
                  <a:close/>
                </a:path>
              </a:pathLst>
            </a:custGeom>
            <a:solidFill>
              <a:srgbClr val="FFF6E9"/>
            </a:solidFill>
            <a:ln cap="sq">
              <a:noFill/>
              <a:prstDash val="solid"/>
              <a:miter/>
            </a:ln>
          </p:spPr>
        </p:sp>
      </p:grpSp>
      <p:grpSp>
        <p:nvGrpSpPr>
          <p:cNvPr name="Group 34" id="34"/>
          <p:cNvGrpSpPr/>
          <p:nvPr/>
        </p:nvGrpSpPr>
        <p:grpSpPr>
          <a:xfrm rot="0">
            <a:off x="11658600" y="4686300"/>
            <a:ext cx="285750" cy="285750"/>
            <a:chOff x="0" y="0"/>
            <a:chExt cx="381000" cy="381000"/>
          </a:xfrm>
        </p:grpSpPr>
        <p:sp>
          <p:nvSpPr>
            <p:cNvPr name="Freeform 35" id="35"/>
            <p:cNvSpPr/>
            <p:nvPr/>
          </p:nvSpPr>
          <p:spPr>
            <a:xfrm flipH="false" flipV="false" rot="0">
              <a:off x="0" y="0"/>
              <a:ext cx="381000" cy="381000"/>
            </a:xfrm>
            <a:custGeom>
              <a:avLst/>
              <a:gdLst/>
              <a:ahLst/>
              <a:cxnLst/>
              <a:rect r="r" b="b" t="t" l="l"/>
              <a:pathLst>
                <a:path h="381000" w="381000">
                  <a:moveTo>
                    <a:pt x="0" y="0"/>
                  </a:moveTo>
                  <a:lnTo>
                    <a:pt x="381000" y="0"/>
                  </a:lnTo>
                  <a:lnTo>
                    <a:pt x="381000" y="381000"/>
                  </a:lnTo>
                  <a:lnTo>
                    <a:pt x="0" y="381000"/>
                  </a:lnTo>
                  <a:lnTo>
                    <a:pt x="0" y="0"/>
                  </a:lnTo>
                  <a:close/>
                </a:path>
              </a:pathLst>
            </a:custGeom>
            <a:blipFill>
              <a:blip r:embed="rId4"/>
              <a:stretch>
                <a:fillRect l="0" t="0" r="0" b="0"/>
              </a:stretch>
            </a:blipFill>
          </p:spPr>
        </p:sp>
      </p:grpSp>
      <p:sp>
        <p:nvSpPr>
          <p:cNvPr name="TextBox 36" id="36"/>
          <p:cNvSpPr txBox="true"/>
          <p:nvPr/>
        </p:nvSpPr>
        <p:spPr>
          <a:xfrm rot="0">
            <a:off x="12372975" y="4543425"/>
            <a:ext cx="2571750" cy="257175"/>
          </a:xfrm>
          <a:prstGeom prst="rect">
            <a:avLst/>
          </a:prstGeom>
        </p:spPr>
        <p:txBody>
          <a:bodyPr anchor="t" rtlCol="false" tIns="0" lIns="0" bIns="0" rIns="0">
            <a:spAutoFit/>
          </a:bodyPr>
          <a:lstStyle/>
          <a:p>
            <a:pPr algn="l">
              <a:lnSpc>
                <a:spcPts val="1485"/>
              </a:lnSpc>
            </a:pPr>
            <a:r>
              <a:rPr lang="en-US" sz="1237" b="true">
                <a:solidFill>
                  <a:srgbClr val="FFD5A3"/>
                </a:solidFill>
                <a:latin typeface="Lato Bold"/>
                <a:ea typeface="Lato Bold"/>
                <a:cs typeface="Lato Bold"/>
                <a:sym typeface="Lato Bold"/>
              </a:rPr>
              <a:t>INSTAGRAM</a:t>
            </a:r>
          </a:p>
        </p:txBody>
      </p:sp>
      <p:sp>
        <p:nvSpPr>
          <p:cNvPr name="TextBox 37" id="37"/>
          <p:cNvSpPr txBox="true"/>
          <p:nvPr/>
        </p:nvSpPr>
        <p:spPr>
          <a:xfrm rot="0">
            <a:off x="12372975" y="4805363"/>
            <a:ext cx="3143250" cy="338137"/>
          </a:xfrm>
          <a:prstGeom prst="rect">
            <a:avLst/>
          </a:prstGeom>
        </p:spPr>
        <p:txBody>
          <a:bodyPr anchor="t" rtlCol="false" tIns="0" lIns="0" bIns="0" rIns="0">
            <a:spAutoFit/>
          </a:bodyPr>
          <a:lstStyle/>
          <a:p>
            <a:pPr algn="l">
              <a:lnSpc>
                <a:spcPts val="2430"/>
              </a:lnSpc>
            </a:pPr>
            <a:r>
              <a:rPr lang="en-US" sz="2025" b="true">
                <a:solidFill>
                  <a:srgbClr val="FFF6E9"/>
                </a:solidFill>
                <a:latin typeface="Lato Bold"/>
                <a:ea typeface="Lato Bold"/>
                <a:cs typeface="Lato Bold"/>
                <a:sym typeface="Lato Bold"/>
              </a:rPr>
              <a:t>Bataa</a:t>
            </a:r>
          </a:p>
        </p:txBody>
      </p:sp>
      <p:grpSp>
        <p:nvGrpSpPr>
          <p:cNvPr name="Group 38" id="38"/>
          <p:cNvGrpSpPr/>
          <p:nvPr/>
        </p:nvGrpSpPr>
        <p:grpSpPr>
          <a:xfrm rot="0">
            <a:off x="11251406" y="5479256"/>
            <a:ext cx="5557838" cy="871538"/>
            <a:chOff x="0" y="0"/>
            <a:chExt cx="7410450" cy="1162050"/>
          </a:xfrm>
        </p:grpSpPr>
        <p:sp>
          <p:nvSpPr>
            <p:cNvPr name="Freeform 39" id="39"/>
            <p:cNvSpPr/>
            <p:nvPr/>
          </p:nvSpPr>
          <p:spPr>
            <a:xfrm flipH="false" flipV="false" rot="0">
              <a:off x="0" y="0"/>
              <a:ext cx="7410450" cy="1162050"/>
            </a:xfrm>
            <a:custGeom>
              <a:avLst/>
              <a:gdLst/>
              <a:ahLst/>
              <a:cxnLst/>
              <a:rect r="r" b="b" t="t" l="l"/>
              <a:pathLst>
                <a:path h="1162050" w="7410450">
                  <a:moveTo>
                    <a:pt x="0" y="232410"/>
                  </a:moveTo>
                  <a:cubicBezTo>
                    <a:pt x="0" y="104013"/>
                    <a:pt x="104013" y="0"/>
                    <a:pt x="232410" y="0"/>
                  </a:cubicBezTo>
                  <a:lnTo>
                    <a:pt x="7178040" y="0"/>
                  </a:lnTo>
                  <a:cubicBezTo>
                    <a:pt x="7306437" y="0"/>
                    <a:pt x="7410450" y="104013"/>
                    <a:pt x="7410450" y="232410"/>
                  </a:cubicBezTo>
                  <a:lnTo>
                    <a:pt x="7410450" y="929640"/>
                  </a:lnTo>
                  <a:cubicBezTo>
                    <a:pt x="7410450" y="1058037"/>
                    <a:pt x="7306437" y="1162050"/>
                    <a:pt x="7178040" y="1162050"/>
                  </a:cubicBezTo>
                  <a:lnTo>
                    <a:pt x="232410" y="1162050"/>
                  </a:lnTo>
                  <a:cubicBezTo>
                    <a:pt x="104013" y="1162050"/>
                    <a:pt x="0" y="1058037"/>
                    <a:pt x="0" y="929640"/>
                  </a:cubicBezTo>
                  <a:close/>
                </a:path>
              </a:pathLst>
            </a:custGeom>
            <a:solidFill>
              <a:srgbClr val="351F14"/>
            </a:solidFill>
            <a:ln w="14288" cap="sq">
              <a:solidFill>
                <a:srgbClr val="5D3B27"/>
              </a:solidFill>
              <a:prstDash val="solid"/>
              <a:miter/>
            </a:ln>
          </p:spPr>
        </p:sp>
      </p:grpSp>
      <p:grpSp>
        <p:nvGrpSpPr>
          <p:cNvPr name="Group 40" id="40"/>
          <p:cNvGrpSpPr/>
          <p:nvPr/>
        </p:nvGrpSpPr>
        <p:grpSpPr>
          <a:xfrm rot="0">
            <a:off x="11515725" y="5629275"/>
            <a:ext cx="571500" cy="571500"/>
            <a:chOff x="0" y="0"/>
            <a:chExt cx="762000" cy="762000"/>
          </a:xfrm>
        </p:grpSpPr>
        <p:sp>
          <p:nvSpPr>
            <p:cNvPr name="Freeform 41" id="41"/>
            <p:cNvSpPr/>
            <p:nvPr/>
          </p:nvSpPr>
          <p:spPr>
            <a:xfrm flipH="false" flipV="false" rot="0">
              <a:off x="0" y="0"/>
              <a:ext cx="762000" cy="762000"/>
            </a:xfrm>
            <a:custGeom>
              <a:avLst/>
              <a:gdLst/>
              <a:ahLst/>
              <a:cxnLst/>
              <a:rect r="r" b="b" t="t" l="l"/>
              <a:pathLst>
                <a:path h="762000" w="762000">
                  <a:moveTo>
                    <a:pt x="0" y="381000"/>
                  </a:moveTo>
                  <a:cubicBezTo>
                    <a:pt x="0" y="170561"/>
                    <a:pt x="170561" y="0"/>
                    <a:pt x="381000" y="0"/>
                  </a:cubicBezTo>
                  <a:cubicBezTo>
                    <a:pt x="591439" y="0"/>
                    <a:pt x="762000" y="170561"/>
                    <a:pt x="762000" y="381000"/>
                  </a:cubicBezTo>
                  <a:cubicBezTo>
                    <a:pt x="762000" y="591439"/>
                    <a:pt x="591439" y="762000"/>
                    <a:pt x="381000" y="762000"/>
                  </a:cubicBezTo>
                  <a:cubicBezTo>
                    <a:pt x="170561" y="762000"/>
                    <a:pt x="0" y="591439"/>
                    <a:pt x="0" y="381000"/>
                  </a:cubicBezTo>
                  <a:close/>
                </a:path>
              </a:pathLst>
            </a:custGeom>
            <a:solidFill>
              <a:srgbClr val="FFF6E9"/>
            </a:solidFill>
            <a:ln cap="sq">
              <a:noFill/>
              <a:prstDash val="solid"/>
              <a:miter/>
            </a:ln>
          </p:spPr>
        </p:sp>
      </p:grpSp>
      <p:grpSp>
        <p:nvGrpSpPr>
          <p:cNvPr name="Group 42" id="42"/>
          <p:cNvGrpSpPr/>
          <p:nvPr/>
        </p:nvGrpSpPr>
        <p:grpSpPr>
          <a:xfrm rot="0">
            <a:off x="11658600" y="5772150"/>
            <a:ext cx="285750" cy="285750"/>
            <a:chOff x="0" y="0"/>
            <a:chExt cx="381000" cy="381000"/>
          </a:xfrm>
        </p:grpSpPr>
        <p:sp>
          <p:nvSpPr>
            <p:cNvPr name="Freeform 43" id="43"/>
            <p:cNvSpPr/>
            <p:nvPr/>
          </p:nvSpPr>
          <p:spPr>
            <a:xfrm flipH="false" flipV="false" rot="0">
              <a:off x="0" y="0"/>
              <a:ext cx="381000" cy="381000"/>
            </a:xfrm>
            <a:custGeom>
              <a:avLst/>
              <a:gdLst/>
              <a:ahLst/>
              <a:cxnLst/>
              <a:rect r="r" b="b" t="t" l="l"/>
              <a:pathLst>
                <a:path h="381000" w="381000">
                  <a:moveTo>
                    <a:pt x="0" y="0"/>
                  </a:moveTo>
                  <a:lnTo>
                    <a:pt x="381000" y="0"/>
                  </a:lnTo>
                  <a:lnTo>
                    <a:pt x="381000" y="381000"/>
                  </a:lnTo>
                  <a:lnTo>
                    <a:pt x="0" y="381000"/>
                  </a:lnTo>
                  <a:lnTo>
                    <a:pt x="0" y="0"/>
                  </a:lnTo>
                  <a:close/>
                </a:path>
              </a:pathLst>
            </a:custGeom>
            <a:blipFill>
              <a:blip r:embed="rId5"/>
              <a:stretch>
                <a:fillRect l="0" t="0" r="0" b="0"/>
              </a:stretch>
            </a:blipFill>
          </p:spPr>
        </p:sp>
      </p:grpSp>
      <p:sp>
        <p:nvSpPr>
          <p:cNvPr name="TextBox 44" id="44"/>
          <p:cNvSpPr txBox="true"/>
          <p:nvPr/>
        </p:nvSpPr>
        <p:spPr>
          <a:xfrm rot="0">
            <a:off x="12372975" y="5629275"/>
            <a:ext cx="2571750" cy="257175"/>
          </a:xfrm>
          <a:prstGeom prst="rect">
            <a:avLst/>
          </a:prstGeom>
        </p:spPr>
        <p:txBody>
          <a:bodyPr anchor="t" rtlCol="false" tIns="0" lIns="0" bIns="0" rIns="0">
            <a:spAutoFit/>
          </a:bodyPr>
          <a:lstStyle/>
          <a:p>
            <a:pPr algn="l">
              <a:lnSpc>
                <a:spcPts val="1485"/>
              </a:lnSpc>
            </a:pPr>
            <a:r>
              <a:rPr lang="en-US" sz="1237" b="true">
                <a:solidFill>
                  <a:srgbClr val="FFD5A3"/>
                </a:solidFill>
                <a:latin typeface="Lato Bold"/>
                <a:ea typeface="Lato Bold"/>
                <a:cs typeface="Lato Bold"/>
                <a:sym typeface="Lato Bold"/>
              </a:rPr>
              <a:t>FACEBOOK</a:t>
            </a:r>
          </a:p>
        </p:txBody>
      </p:sp>
      <p:sp>
        <p:nvSpPr>
          <p:cNvPr name="TextBox 45" id="45"/>
          <p:cNvSpPr txBox="true"/>
          <p:nvPr/>
        </p:nvSpPr>
        <p:spPr>
          <a:xfrm rot="0">
            <a:off x="12372975" y="5891213"/>
            <a:ext cx="3143250" cy="338137"/>
          </a:xfrm>
          <a:prstGeom prst="rect">
            <a:avLst/>
          </a:prstGeom>
        </p:spPr>
        <p:txBody>
          <a:bodyPr anchor="t" rtlCol="false" tIns="0" lIns="0" bIns="0" rIns="0">
            <a:spAutoFit/>
          </a:bodyPr>
          <a:lstStyle/>
          <a:p>
            <a:pPr algn="l">
              <a:lnSpc>
                <a:spcPts val="2430"/>
              </a:lnSpc>
            </a:pPr>
            <a:r>
              <a:rPr lang="en-US" sz="2025" b="true">
                <a:solidFill>
                  <a:srgbClr val="FFF6E9"/>
                </a:solidFill>
                <a:latin typeface="Lato Bold"/>
                <a:ea typeface="Lato Bold"/>
                <a:cs typeface="Lato Bold"/>
                <a:sym typeface="Lato Bold"/>
              </a:rPr>
              <a:t>Bataa</a:t>
            </a:r>
          </a:p>
        </p:txBody>
      </p:sp>
      <p:grpSp>
        <p:nvGrpSpPr>
          <p:cNvPr name="Group 46" id="46"/>
          <p:cNvGrpSpPr/>
          <p:nvPr/>
        </p:nvGrpSpPr>
        <p:grpSpPr>
          <a:xfrm rot="0">
            <a:off x="11251406" y="6565106"/>
            <a:ext cx="5557838" cy="871538"/>
            <a:chOff x="0" y="0"/>
            <a:chExt cx="7410450" cy="1162050"/>
          </a:xfrm>
        </p:grpSpPr>
        <p:sp>
          <p:nvSpPr>
            <p:cNvPr name="Freeform 47" id="47"/>
            <p:cNvSpPr/>
            <p:nvPr/>
          </p:nvSpPr>
          <p:spPr>
            <a:xfrm flipH="false" flipV="false" rot="0">
              <a:off x="0" y="0"/>
              <a:ext cx="7410450" cy="1162050"/>
            </a:xfrm>
            <a:custGeom>
              <a:avLst/>
              <a:gdLst/>
              <a:ahLst/>
              <a:cxnLst/>
              <a:rect r="r" b="b" t="t" l="l"/>
              <a:pathLst>
                <a:path h="1162050" w="7410450">
                  <a:moveTo>
                    <a:pt x="0" y="232410"/>
                  </a:moveTo>
                  <a:cubicBezTo>
                    <a:pt x="0" y="104013"/>
                    <a:pt x="104013" y="0"/>
                    <a:pt x="232410" y="0"/>
                  </a:cubicBezTo>
                  <a:lnTo>
                    <a:pt x="7178040" y="0"/>
                  </a:lnTo>
                  <a:cubicBezTo>
                    <a:pt x="7306437" y="0"/>
                    <a:pt x="7410450" y="104013"/>
                    <a:pt x="7410450" y="232410"/>
                  </a:cubicBezTo>
                  <a:lnTo>
                    <a:pt x="7410450" y="929640"/>
                  </a:lnTo>
                  <a:cubicBezTo>
                    <a:pt x="7410450" y="1058037"/>
                    <a:pt x="7306437" y="1162050"/>
                    <a:pt x="7178040" y="1162050"/>
                  </a:cubicBezTo>
                  <a:lnTo>
                    <a:pt x="232410" y="1162050"/>
                  </a:lnTo>
                  <a:cubicBezTo>
                    <a:pt x="104013" y="1162050"/>
                    <a:pt x="0" y="1058037"/>
                    <a:pt x="0" y="929640"/>
                  </a:cubicBezTo>
                  <a:close/>
                </a:path>
              </a:pathLst>
            </a:custGeom>
            <a:solidFill>
              <a:srgbClr val="351F14"/>
            </a:solidFill>
            <a:ln w="14288" cap="sq">
              <a:solidFill>
                <a:srgbClr val="5D3B27"/>
              </a:solidFill>
              <a:prstDash val="solid"/>
              <a:miter/>
            </a:ln>
          </p:spPr>
        </p:sp>
      </p:grpSp>
      <p:grpSp>
        <p:nvGrpSpPr>
          <p:cNvPr name="Group 48" id="48"/>
          <p:cNvGrpSpPr/>
          <p:nvPr/>
        </p:nvGrpSpPr>
        <p:grpSpPr>
          <a:xfrm rot="0">
            <a:off x="11515725" y="6715125"/>
            <a:ext cx="571500" cy="571500"/>
            <a:chOff x="0" y="0"/>
            <a:chExt cx="762000" cy="762000"/>
          </a:xfrm>
        </p:grpSpPr>
        <p:sp>
          <p:nvSpPr>
            <p:cNvPr name="Freeform 49" id="49"/>
            <p:cNvSpPr/>
            <p:nvPr/>
          </p:nvSpPr>
          <p:spPr>
            <a:xfrm flipH="false" flipV="false" rot="0">
              <a:off x="0" y="0"/>
              <a:ext cx="762000" cy="762000"/>
            </a:xfrm>
            <a:custGeom>
              <a:avLst/>
              <a:gdLst/>
              <a:ahLst/>
              <a:cxnLst/>
              <a:rect r="r" b="b" t="t" l="l"/>
              <a:pathLst>
                <a:path h="762000" w="762000">
                  <a:moveTo>
                    <a:pt x="0" y="381000"/>
                  </a:moveTo>
                  <a:cubicBezTo>
                    <a:pt x="0" y="170561"/>
                    <a:pt x="170561" y="0"/>
                    <a:pt x="381000" y="0"/>
                  </a:cubicBezTo>
                  <a:cubicBezTo>
                    <a:pt x="591439" y="0"/>
                    <a:pt x="762000" y="170561"/>
                    <a:pt x="762000" y="381000"/>
                  </a:cubicBezTo>
                  <a:cubicBezTo>
                    <a:pt x="762000" y="591439"/>
                    <a:pt x="591439" y="762000"/>
                    <a:pt x="381000" y="762000"/>
                  </a:cubicBezTo>
                  <a:cubicBezTo>
                    <a:pt x="170561" y="762000"/>
                    <a:pt x="0" y="591439"/>
                    <a:pt x="0" y="381000"/>
                  </a:cubicBezTo>
                  <a:close/>
                </a:path>
              </a:pathLst>
            </a:custGeom>
            <a:solidFill>
              <a:srgbClr val="FFF6E9"/>
            </a:solidFill>
            <a:ln cap="sq">
              <a:noFill/>
              <a:prstDash val="solid"/>
              <a:miter/>
            </a:ln>
          </p:spPr>
        </p:sp>
      </p:grpSp>
      <p:grpSp>
        <p:nvGrpSpPr>
          <p:cNvPr name="Group 50" id="50"/>
          <p:cNvGrpSpPr/>
          <p:nvPr/>
        </p:nvGrpSpPr>
        <p:grpSpPr>
          <a:xfrm rot="0">
            <a:off x="11658600" y="6858000"/>
            <a:ext cx="285750" cy="285750"/>
            <a:chOff x="0" y="0"/>
            <a:chExt cx="381000" cy="381000"/>
          </a:xfrm>
        </p:grpSpPr>
        <p:sp>
          <p:nvSpPr>
            <p:cNvPr name="Freeform 51" id="51"/>
            <p:cNvSpPr/>
            <p:nvPr/>
          </p:nvSpPr>
          <p:spPr>
            <a:xfrm flipH="false" flipV="false" rot="0">
              <a:off x="0" y="0"/>
              <a:ext cx="381000" cy="381000"/>
            </a:xfrm>
            <a:custGeom>
              <a:avLst/>
              <a:gdLst/>
              <a:ahLst/>
              <a:cxnLst/>
              <a:rect r="r" b="b" t="t" l="l"/>
              <a:pathLst>
                <a:path h="381000" w="381000">
                  <a:moveTo>
                    <a:pt x="0" y="0"/>
                  </a:moveTo>
                  <a:lnTo>
                    <a:pt x="381000" y="0"/>
                  </a:lnTo>
                  <a:lnTo>
                    <a:pt x="381000" y="381000"/>
                  </a:lnTo>
                  <a:lnTo>
                    <a:pt x="0" y="381000"/>
                  </a:lnTo>
                  <a:lnTo>
                    <a:pt x="0" y="0"/>
                  </a:lnTo>
                  <a:close/>
                </a:path>
              </a:pathLst>
            </a:custGeom>
            <a:blipFill>
              <a:blip r:embed="rId6"/>
              <a:stretch>
                <a:fillRect l="0" t="0" r="0" b="0"/>
              </a:stretch>
            </a:blipFill>
          </p:spPr>
        </p:sp>
      </p:grpSp>
      <p:sp>
        <p:nvSpPr>
          <p:cNvPr name="TextBox 52" id="52"/>
          <p:cNvSpPr txBox="true"/>
          <p:nvPr/>
        </p:nvSpPr>
        <p:spPr>
          <a:xfrm rot="0">
            <a:off x="12372975" y="6715125"/>
            <a:ext cx="2571750" cy="257175"/>
          </a:xfrm>
          <a:prstGeom prst="rect">
            <a:avLst/>
          </a:prstGeom>
        </p:spPr>
        <p:txBody>
          <a:bodyPr anchor="t" rtlCol="false" tIns="0" lIns="0" bIns="0" rIns="0">
            <a:spAutoFit/>
          </a:bodyPr>
          <a:lstStyle/>
          <a:p>
            <a:pPr algn="l">
              <a:lnSpc>
                <a:spcPts val="1485"/>
              </a:lnSpc>
            </a:pPr>
            <a:r>
              <a:rPr lang="en-US" sz="1237" b="true">
                <a:solidFill>
                  <a:srgbClr val="FFD5A3"/>
                </a:solidFill>
                <a:latin typeface="Lato Bold"/>
                <a:ea typeface="Lato Bold"/>
                <a:cs typeface="Lato Bold"/>
                <a:sym typeface="Lato Bold"/>
              </a:rPr>
              <a:t>LINKEDIN</a:t>
            </a:r>
          </a:p>
        </p:txBody>
      </p:sp>
      <p:sp>
        <p:nvSpPr>
          <p:cNvPr name="TextBox 53" id="53"/>
          <p:cNvSpPr txBox="true"/>
          <p:nvPr/>
        </p:nvSpPr>
        <p:spPr>
          <a:xfrm rot="0">
            <a:off x="12372975" y="6977063"/>
            <a:ext cx="3143250" cy="338137"/>
          </a:xfrm>
          <a:prstGeom prst="rect">
            <a:avLst/>
          </a:prstGeom>
        </p:spPr>
        <p:txBody>
          <a:bodyPr anchor="t" rtlCol="false" tIns="0" lIns="0" bIns="0" rIns="0">
            <a:spAutoFit/>
          </a:bodyPr>
          <a:lstStyle/>
          <a:p>
            <a:pPr algn="l">
              <a:lnSpc>
                <a:spcPts val="2430"/>
              </a:lnSpc>
            </a:pPr>
            <a:r>
              <a:rPr lang="en-US" sz="2025" b="true">
                <a:solidFill>
                  <a:srgbClr val="FFF6E9"/>
                </a:solidFill>
                <a:latin typeface="Lato Bold"/>
                <a:ea typeface="Lato Bold"/>
                <a:cs typeface="Lato Bold"/>
                <a:sym typeface="Lato Bold"/>
              </a:rPr>
              <a:t>Bataa</a:t>
            </a:r>
          </a:p>
        </p:txBody>
      </p:sp>
      <p:sp>
        <p:nvSpPr>
          <p:cNvPr name="TextBox 54" id="54"/>
          <p:cNvSpPr txBox="true"/>
          <p:nvPr/>
        </p:nvSpPr>
        <p:spPr>
          <a:xfrm rot="0">
            <a:off x="914400" y="9744075"/>
            <a:ext cx="13144500" cy="257175"/>
          </a:xfrm>
          <a:prstGeom prst="rect">
            <a:avLst/>
          </a:prstGeom>
        </p:spPr>
        <p:txBody>
          <a:bodyPr anchor="t" rtlCol="false" tIns="0" lIns="0" bIns="0" rIns="0">
            <a:spAutoFit/>
          </a:bodyPr>
          <a:lstStyle/>
          <a:p>
            <a:pPr algn="l">
              <a:lnSpc>
                <a:spcPts val="1485"/>
              </a:lnSpc>
            </a:pPr>
            <a:r>
              <a:rPr lang="en-US" sz="1237">
                <a:solidFill>
                  <a:srgbClr val="C9A98C"/>
                </a:solidFill>
                <a:latin typeface="Lato"/>
                <a:ea typeface="Lato"/>
                <a:cs typeface="Lato"/>
                <a:sym typeface="Lato"/>
              </a:rPr>
              <a:t>Social channels · verify live profile handles before publishing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DAHVrJxWoMQ</dc:identifier>
  <dcterms:modified xsi:type="dcterms:W3CDTF">2011-08-01T06:04:30Z</dcterms:modified>
  <cp:revision>1</cp:revision>
  <dc:title>bataa-pitch-deck-v2.pptx</dc:title>
</cp:coreProperties>
</file>